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5"/>
  </p:notesMasterIdLst>
  <p:sldIdLst>
    <p:sldId id="256" r:id="rId3"/>
    <p:sldId id="371" r:id="rId4"/>
    <p:sldId id="369" r:id="rId6"/>
    <p:sldId id="367" r:id="rId7"/>
    <p:sldId id="368" r:id="rId8"/>
    <p:sldId id="388" r:id="rId9"/>
    <p:sldId id="373" r:id="rId10"/>
    <p:sldId id="378" r:id="rId11"/>
    <p:sldId id="374" r:id="rId12"/>
    <p:sldId id="384" r:id="rId13"/>
    <p:sldId id="385" r:id="rId14"/>
    <p:sldId id="386" r:id="rId15"/>
    <p:sldId id="387" r:id="rId16"/>
    <p:sldId id="379" r:id="rId17"/>
    <p:sldId id="380" r:id="rId18"/>
    <p:sldId id="381" r:id="rId19"/>
    <p:sldId id="382" r:id="rId20"/>
    <p:sldId id="370" r:id="rId21"/>
    <p:sldId id="346" r:id="rId22"/>
    <p:sldId id="377" r:id="rId23"/>
  </p:sldIdLst>
  <p:sldSz cx="12192000" cy="6858000"/>
  <p:notesSz cx="6858000" cy="9144000"/>
  <p:embeddedFontLst>
    <p:embeddedFont>
      <p:font typeface="微软雅黑" pitchFamily="34" charset="-122"/>
      <p:regular r:id="rId27"/>
    </p:embeddedFont>
    <p:embeddedFont>
      <p:font typeface="等线" charset="0"/>
      <p:regular r:id="rId28"/>
    </p:embeddedFont>
  </p:embeddedFontLst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课题组介绍" id="{71940C98-1D32-472D-A2AB-0C38DC433412}">
          <p14:sldIdLst>
            <p14:sldId id="256"/>
            <p14:sldId id="371"/>
            <p14:sldId id="369"/>
            <p14:sldId id="367"/>
            <p14:sldId id="368"/>
            <p14:sldId id="388"/>
            <p14:sldId id="373"/>
            <p14:sldId id="378"/>
            <p14:sldId id="374"/>
            <p14:sldId id="384"/>
            <p14:sldId id="385"/>
            <p14:sldId id="386"/>
            <p14:sldId id="387"/>
            <p14:sldId id="379"/>
            <p14:sldId id="380"/>
            <p14:sldId id="381"/>
            <p14:sldId id="382"/>
            <p14:sldId id="370"/>
            <p14:sldId id="346"/>
            <p14:sldId id="3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B7"/>
    <a:srgbClr val="8B0012"/>
    <a:srgbClr val="BFBFBF"/>
    <a:srgbClr val="FFFFFF"/>
    <a:srgbClr val="767171"/>
    <a:srgbClr val="385724"/>
    <a:srgbClr val="1F4E79"/>
    <a:srgbClr val="8A1F41"/>
    <a:srgbClr val="E6212A"/>
    <a:srgbClr val="4ACA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B7E32E-12F9-479A-A7D7-5D8221EC04A4}" styleName="表样式 1">
    <a:wholeTbl>
      <a:tcTxStyle>
        <a:fontRef idx="none">
          <a:schemeClr val="tx1"/>
        </a:fontRef>
      </a:tcTxStyle>
      <a:tcStyle>
        <a:tcBdr/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CBCBCB">
              <a:alpha val="25000"/>
            </a:srgbClr>
          </a:solidFill>
        </a:fill>
      </a:tcStyle>
    </a:band2H>
    <a:band1V>
      <a:tcStyle>
        <a:tcBdr/>
        <a:fill>
          <a:solidFill>
            <a:srgbClr val="CBCBCB">
              <a:alpha val="25000"/>
            </a:srgbClr>
          </a:solidFill>
        </a:fill>
      </a:tcStyle>
    </a:band1V>
    <a:lastCol>
      <a:tcTxStyle b="on">
        <a:fontRef idx="none">
          <a:schemeClr val="accent1"/>
        </a:fontRef>
      </a:tcTxStyle>
      <a:tcStyle>
        <a:tcBdr/>
        <a:fill>
          <a:solidFill>
            <a:srgbClr val="CBCBCB">
              <a:alpha val="40000"/>
            </a:srgbClr>
          </a:solidFill>
        </a:fill>
      </a:tcStyle>
    </a:lastCol>
    <a:firstCol>
      <a:tcTxStyle b="on">
        <a:fontRef idx="none">
          <a:schemeClr val="accent1"/>
        </a:fontRef>
      </a:tcTxStyle>
      <a:tcStyle>
        <a:tcBdr/>
        <a:fill>
          <a:solidFill>
            <a:srgbClr val="CBCBCB">
              <a:alpha val="40000"/>
            </a:srgb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26" autoAdjust="0"/>
    <p:restoredTop sz="94658"/>
  </p:normalViewPr>
  <p:slideViewPr>
    <p:cSldViewPr snapToGrid="0" showGuides="1">
      <p:cViewPr>
        <p:scale>
          <a:sx n="108" d="100"/>
          <a:sy n="108" d="100"/>
        </p:scale>
        <p:origin x="200" y="88"/>
      </p:cViewPr>
      <p:guideLst>
        <p:guide orient="horz" pos="166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89.xml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16601-C416-4692-B5D7-BFEC92D9B5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5DE0D-E504-42F3-A81B-DF77FB5AF62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5DE0D-E504-42F3-A81B-DF77FB5AF6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在能量调度场景中，存在几个突出问题：</a:t>
            </a:r>
            <a:br>
              <a:rPr lang="zh-CN" altLang="en-US"/>
            </a:br>
            <a:r>
              <a:rPr lang="zh-CN" altLang="en-US"/>
              <a:t>第一，调度逻辑不透明。</a:t>
            </a:r>
            <a:endParaRPr lang="zh-CN" altLang="en-US"/>
          </a:p>
          <a:p>
            <a:r>
              <a:rPr lang="zh-CN" altLang="en-US"/>
              <a:t>能源市场的规则非常复杂，调度策略和算法逻辑也比较专业，经常是</a:t>
            </a:r>
            <a:r>
              <a:rPr lang="en-US" altLang="zh-CN"/>
              <a:t>“</a:t>
            </a:r>
            <a:r>
              <a:rPr lang="zh-CN" altLang="en-US"/>
              <a:t>算得对，但看不懂</a:t>
            </a:r>
            <a:r>
              <a:rPr lang="en-US" altLang="zh-CN"/>
              <a:t>”</a:t>
            </a:r>
            <a:r>
              <a:rPr lang="zh-CN" altLang="en-US"/>
              <a:t>。很多用户只看到一个结论，却不知道系统是怎么做决定的。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第二，缺少解释数据。</a:t>
            </a:r>
            <a:endParaRPr lang="zh-CN" altLang="en-US"/>
          </a:p>
          <a:p>
            <a:r>
              <a:rPr lang="zh-CN" altLang="en-US"/>
              <a:t>我们没有现成的、专门的可解释性数据集。如果完全靠人工标注，成本高、周期长，而且很难长期维护。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第三，传统求解器不会解释。</a:t>
            </a:r>
            <a:endParaRPr lang="zh-CN" altLang="en-US"/>
          </a:p>
          <a:p>
            <a:r>
              <a:rPr lang="zh-CN" altLang="en-US"/>
              <a:t>它能给出最优调度方案，但问它</a:t>
            </a:r>
            <a:r>
              <a:rPr lang="en-US" altLang="zh-CN"/>
              <a:t>“</a:t>
            </a:r>
            <a:r>
              <a:rPr lang="zh-CN" altLang="en-US"/>
              <a:t>为什么这么调</a:t>
            </a:r>
            <a:r>
              <a:rPr lang="en-US" altLang="zh-CN"/>
              <a:t>”——</a:t>
            </a:r>
            <a:r>
              <a:rPr lang="zh-CN" altLang="en-US"/>
              <a:t>给不出答案。对业务用户来说，这种</a:t>
            </a:r>
            <a:r>
              <a:rPr lang="en-US" altLang="zh-CN"/>
              <a:t>“</a:t>
            </a:r>
            <a:r>
              <a:rPr lang="zh-CN" altLang="en-US"/>
              <a:t>黑箱</a:t>
            </a:r>
            <a:r>
              <a:rPr lang="en-US" altLang="zh-CN"/>
              <a:t>”</a:t>
            </a:r>
            <a:r>
              <a:rPr lang="zh-CN" altLang="en-US"/>
              <a:t>方式缺乏说服力。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第四，用户水平差别大。</a:t>
            </a:r>
            <a:endParaRPr lang="zh-CN" altLang="en-US"/>
          </a:p>
          <a:p>
            <a:r>
              <a:rPr lang="zh-CN" altLang="en-US"/>
              <a:t>系统运维人员、调度员、普通用户，对能源业务的理解程度不一样，用同一套解释方式几乎不可能同时满足所有人。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基于这些问题，我们希望让模型不仅能</a:t>
            </a:r>
            <a:r>
              <a:rPr lang="en-US" altLang="zh-CN"/>
              <a:t>“</a:t>
            </a:r>
            <a:r>
              <a:rPr lang="zh-CN" altLang="en-US"/>
              <a:t>算得好</a:t>
            </a:r>
            <a:r>
              <a:rPr lang="en-US" altLang="zh-CN"/>
              <a:t>”</a:t>
            </a:r>
            <a:r>
              <a:rPr lang="zh-CN" altLang="en-US"/>
              <a:t>，还要能</a:t>
            </a:r>
            <a:r>
              <a:rPr lang="en-US" altLang="zh-CN"/>
              <a:t>“</a:t>
            </a:r>
            <a:r>
              <a:rPr lang="zh-CN" altLang="en-US"/>
              <a:t>讲明白</a:t>
            </a:r>
            <a:r>
              <a:rPr lang="en-US" altLang="zh-CN"/>
              <a:t>”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我们针对调度场景中的典型异常类型，设计了脚本化规则与自动检测机制。自动识别并踢出异常数据</a:t>
            </a:r>
            <a:endParaRPr lang="zh-CN" altLang="en-US"/>
          </a:p>
          <a:p>
            <a:r>
              <a:rPr lang="zh-CN" altLang="en-US"/>
              <a:t>为了提取时序信息并适配后续大模型，通过简单的数据派生和结构化设计。</a:t>
            </a:r>
            <a:endParaRPr lang="zh-CN" altLang="en-US"/>
          </a:p>
          <a:p>
            <a:r>
              <a:rPr lang="en-US" altLang="zh-CN"/>
              <a:t>Embedding -&gt; LLM </a:t>
            </a:r>
            <a:r>
              <a:rPr lang="zh-CN" altLang="en-US"/>
              <a:t>需要一个内部映射，这点通过</a:t>
            </a:r>
            <a:r>
              <a:rPr lang="en-US" altLang="zh-CN"/>
              <a:t>API</a:t>
            </a:r>
            <a:r>
              <a:rPr lang="zh-CN" altLang="en-US"/>
              <a:t>无法</a:t>
            </a:r>
            <a:r>
              <a:rPr lang="zh-CN" altLang="en-US"/>
              <a:t>完成</a:t>
            </a:r>
            <a:endParaRPr lang="zh-CN" altLang="en-US"/>
          </a:p>
          <a:p>
            <a:r>
              <a:rPr lang="en-US" altLang="zh-CN"/>
              <a:t>API</a:t>
            </a:r>
            <a:r>
              <a:rPr lang="zh-CN" altLang="en-US"/>
              <a:t>妥协</a:t>
            </a:r>
            <a:r>
              <a:rPr lang="zh-CN" altLang="en-US"/>
              <a:t>方法：再套一层聚类，归类成比如</a:t>
            </a:r>
            <a:r>
              <a:rPr lang="en-US" altLang="zh-CN"/>
              <a:t>100</a:t>
            </a:r>
            <a:r>
              <a:rPr lang="zh-CN" altLang="en-US"/>
              <a:t>种模式，每种模式有一个简单的</a:t>
            </a:r>
            <a:r>
              <a:rPr lang="zh-CN" altLang="en-US"/>
              <a:t>描述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本方案核心目标是：</a:t>
            </a:r>
            <a:endParaRPr lang="zh-CN" altLang="en-US"/>
          </a:p>
          <a:p>
            <a:r>
              <a:rPr lang="zh-CN" altLang="en-US"/>
              <a:t>让大模型能够生成可执行、且准确的能量调度规则。这里的规则指的是根据特征判断数据情况的映射关系，如涨了跌了，买了卖了等</a:t>
            </a:r>
            <a:endParaRPr lang="zh-CN" altLang="en-US"/>
          </a:p>
          <a:p>
            <a:r>
              <a:rPr lang="zh-CN" altLang="en-US"/>
              <a:t>因此，我们构建了规则生成</a:t>
            </a:r>
            <a:r>
              <a:rPr lang="en-US" altLang="zh-CN"/>
              <a:t>—</a:t>
            </a:r>
            <a:r>
              <a:rPr lang="zh-CN" altLang="en-US"/>
              <a:t>判别</a:t>
            </a:r>
            <a:r>
              <a:rPr lang="en-US" altLang="zh-CN"/>
              <a:t>—</a:t>
            </a:r>
            <a:r>
              <a:rPr lang="zh-CN" altLang="en-US"/>
              <a:t>回流训练的闭环框架，使模型持续自进化，逐步具备稳定的调控策略输出能力。</a:t>
            </a:r>
            <a:br>
              <a:rPr lang="zh-CN" altLang="en-US"/>
            </a:br>
            <a:r>
              <a:rPr lang="zh-CN" altLang="en-US"/>
              <a:t>首先，大模型基于调度知识与运行数据，生成结构化调度策略。为了确保大模型生成的调度规则正确、有效。我们设计了一个轻量判别模型（</a:t>
            </a:r>
            <a:r>
              <a:rPr lang="en-US" altLang="zh-CN"/>
              <a:t>SLM</a:t>
            </a:r>
            <a:r>
              <a:rPr lang="zh-CN" altLang="en-US"/>
              <a:t>），用来筛选大模型生成的规则，作为</a:t>
            </a:r>
            <a:r>
              <a:rPr lang="en-US" altLang="zh-CN"/>
              <a:t>“</a:t>
            </a:r>
            <a:r>
              <a:rPr lang="zh-CN" altLang="en-US"/>
              <a:t>模型裁判官</a:t>
            </a:r>
            <a:r>
              <a:rPr lang="en-US" altLang="zh-CN"/>
              <a:t>”</a:t>
            </a:r>
            <a:r>
              <a:rPr lang="zh-CN" altLang="en-US"/>
              <a:t>，确保规则可靠</a:t>
            </a:r>
            <a:endParaRPr lang="zh-CN" altLang="en-US"/>
          </a:p>
          <a:p>
            <a:r>
              <a:rPr lang="zh-CN" altLang="en-US"/>
              <a:t>最后，我们将判别结果作为学习信号，进行闭环优化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本方案核心目标是：</a:t>
            </a:r>
            <a:endParaRPr lang="zh-CN" altLang="en-US"/>
          </a:p>
          <a:p>
            <a:r>
              <a:rPr lang="zh-CN" altLang="en-US"/>
              <a:t>让大模型能够生成可执行、且准确的能量调度规则。这里的规则指的是根据特征判断数据情况的映射关系，如涨了跌了，买了卖了等</a:t>
            </a:r>
            <a:endParaRPr lang="zh-CN" altLang="en-US"/>
          </a:p>
          <a:p>
            <a:r>
              <a:rPr lang="zh-CN" altLang="en-US"/>
              <a:t>因此，我们构建了规则生成</a:t>
            </a:r>
            <a:r>
              <a:rPr lang="en-US" altLang="zh-CN"/>
              <a:t>—</a:t>
            </a:r>
            <a:r>
              <a:rPr lang="zh-CN" altLang="en-US"/>
              <a:t>判别</a:t>
            </a:r>
            <a:r>
              <a:rPr lang="en-US" altLang="zh-CN"/>
              <a:t>—</a:t>
            </a:r>
            <a:r>
              <a:rPr lang="zh-CN" altLang="en-US"/>
              <a:t>回流训练的闭环框架，使模型持续自进化，逐步具备稳定的调控策略输出能力。</a:t>
            </a:r>
            <a:br>
              <a:rPr lang="zh-CN" altLang="en-US"/>
            </a:br>
            <a:r>
              <a:rPr lang="zh-CN" altLang="en-US"/>
              <a:t>首先，大模型基于调度知识与运行数据，生成结构化调度策略。为了确保大模型生成的调度规则正确、有效。我们设计了一个轻量判别模型（</a:t>
            </a:r>
            <a:r>
              <a:rPr lang="en-US" altLang="zh-CN"/>
              <a:t>SLM</a:t>
            </a:r>
            <a:r>
              <a:rPr lang="zh-CN" altLang="en-US"/>
              <a:t>），用来筛选大模型生成的规则，作为</a:t>
            </a:r>
            <a:r>
              <a:rPr lang="en-US" altLang="zh-CN"/>
              <a:t>“</a:t>
            </a:r>
            <a:r>
              <a:rPr lang="zh-CN" altLang="en-US"/>
              <a:t>模型裁判官</a:t>
            </a:r>
            <a:r>
              <a:rPr lang="en-US" altLang="zh-CN"/>
              <a:t>”</a:t>
            </a:r>
            <a:r>
              <a:rPr lang="zh-CN" altLang="en-US"/>
              <a:t>，确保规则可靠</a:t>
            </a:r>
            <a:endParaRPr lang="zh-CN" altLang="en-US"/>
          </a:p>
          <a:p>
            <a:r>
              <a:rPr lang="zh-CN" altLang="en-US"/>
              <a:t>最后，我们将判别结果作为学习信号，进行闭环优化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本方案核心目标是：</a:t>
            </a:r>
            <a:endParaRPr lang="zh-CN" altLang="en-US"/>
          </a:p>
          <a:p>
            <a:r>
              <a:rPr lang="zh-CN" altLang="en-US"/>
              <a:t>让大模型能够生成可执行、且准确的能量调度规则。这里的规则指的是根据特征判断数据情况的映射关系，如涨了跌了，买了卖了等</a:t>
            </a:r>
            <a:endParaRPr lang="zh-CN" altLang="en-US"/>
          </a:p>
          <a:p>
            <a:r>
              <a:rPr lang="zh-CN" altLang="en-US"/>
              <a:t>因此，我们构建了规则生成</a:t>
            </a:r>
            <a:r>
              <a:rPr lang="en-US" altLang="zh-CN"/>
              <a:t>—</a:t>
            </a:r>
            <a:r>
              <a:rPr lang="zh-CN" altLang="en-US"/>
              <a:t>判别</a:t>
            </a:r>
            <a:r>
              <a:rPr lang="en-US" altLang="zh-CN"/>
              <a:t>—</a:t>
            </a:r>
            <a:r>
              <a:rPr lang="zh-CN" altLang="en-US"/>
              <a:t>回流训练的闭环框架，使模型持续自进化，逐步具备稳定的调控策略输出能力。</a:t>
            </a:r>
            <a:br>
              <a:rPr lang="zh-CN" altLang="en-US"/>
            </a:br>
            <a:r>
              <a:rPr lang="zh-CN" altLang="en-US"/>
              <a:t>首先，大模型基于调度知识与运行数据，生成结构化调度策略。为了确保大模型生成的调度规则正确、有效。我们设计了一个轻量判别模型（</a:t>
            </a:r>
            <a:r>
              <a:rPr lang="en-US" altLang="zh-CN"/>
              <a:t>SLM</a:t>
            </a:r>
            <a:r>
              <a:rPr lang="zh-CN" altLang="en-US"/>
              <a:t>），用来筛选大模型生成的规则，作为</a:t>
            </a:r>
            <a:r>
              <a:rPr lang="en-US" altLang="zh-CN"/>
              <a:t>“</a:t>
            </a:r>
            <a:r>
              <a:rPr lang="zh-CN" altLang="en-US"/>
              <a:t>模型裁判官</a:t>
            </a:r>
            <a:r>
              <a:rPr lang="en-US" altLang="zh-CN"/>
              <a:t>”</a:t>
            </a:r>
            <a:r>
              <a:rPr lang="zh-CN" altLang="en-US"/>
              <a:t>，确保规则可靠</a:t>
            </a:r>
            <a:endParaRPr lang="zh-CN" altLang="en-US"/>
          </a:p>
          <a:p>
            <a:r>
              <a:rPr lang="zh-CN" altLang="en-US"/>
              <a:t>最后，我们将判别结果作为学习信号，进行闭环优化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本方案核心目标是：</a:t>
            </a:r>
            <a:endParaRPr lang="zh-CN" altLang="en-US"/>
          </a:p>
          <a:p>
            <a:r>
              <a:rPr lang="zh-CN" altLang="en-US"/>
              <a:t>让大模型能够生成可执行、且准确的能量调度规则。这里的规则指的是根据特征判断数据情况的映射关系，如涨了跌了，买了卖了等</a:t>
            </a:r>
            <a:endParaRPr lang="zh-CN" altLang="en-US"/>
          </a:p>
          <a:p>
            <a:r>
              <a:rPr lang="zh-CN" altLang="en-US"/>
              <a:t>因此，我们构建了规则生成</a:t>
            </a:r>
            <a:r>
              <a:rPr lang="en-US" altLang="zh-CN"/>
              <a:t>—</a:t>
            </a:r>
            <a:r>
              <a:rPr lang="zh-CN" altLang="en-US"/>
              <a:t>判别</a:t>
            </a:r>
            <a:r>
              <a:rPr lang="en-US" altLang="zh-CN"/>
              <a:t>—</a:t>
            </a:r>
            <a:r>
              <a:rPr lang="zh-CN" altLang="en-US"/>
              <a:t>回流训练的闭环框架，使模型持续自进化，逐步具备稳定的调控策略输出能力。</a:t>
            </a:r>
            <a:br>
              <a:rPr lang="zh-CN" altLang="en-US"/>
            </a:br>
            <a:r>
              <a:rPr lang="zh-CN" altLang="en-US"/>
              <a:t>首先，大模型基于调度知识与运行数据，生成结构化调度策略。为了确保大模型生成的调度规则正确、有效。我们设计了一个轻量判别模型（</a:t>
            </a:r>
            <a:r>
              <a:rPr lang="en-US" altLang="zh-CN"/>
              <a:t>SLM</a:t>
            </a:r>
            <a:r>
              <a:rPr lang="zh-CN" altLang="en-US"/>
              <a:t>），用来筛选大模型生成的规则，作为</a:t>
            </a:r>
            <a:r>
              <a:rPr lang="en-US" altLang="zh-CN"/>
              <a:t>“</a:t>
            </a:r>
            <a:r>
              <a:rPr lang="zh-CN" altLang="en-US"/>
              <a:t>模型裁判官</a:t>
            </a:r>
            <a:r>
              <a:rPr lang="en-US" altLang="zh-CN"/>
              <a:t>”</a:t>
            </a:r>
            <a:r>
              <a:rPr lang="zh-CN" altLang="en-US"/>
              <a:t>，确保规则可靠</a:t>
            </a:r>
            <a:endParaRPr lang="zh-CN" altLang="en-US"/>
          </a:p>
          <a:p>
            <a:r>
              <a:rPr lang="zh-CN" altLang="en-US"/>
              <a:t>最后，我们将判别结果作为学习信号，进行闭环优化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本方案核心目标是：</a:t>
            </a:r>
            <a:endParaRPr lang="zh-CN" altLang="en-US"/>
          </a:p>
          <a:p>
            <a:r>
              <a:rPr lang="zh-CN" altLang="en-US"/>
              <a:t>让大模型能够生成可执行、且准确的能量调度规则。这里的规则指的是根据特征判断数据情况的映射关系，如涨了跌了，买了卖了等</a:t>
            </a:r>
            <a:endParaRPr lang="zh-CN" altLang="en-US"/>
          </a:p>
          <a:p>
            <a:r>
              <a:rPr lang="zh-CN" altLang="en-US"/>
              <a:t>因此，我们构建了规则生成</a:t>
            </a:r>
            <a:r>
              <a:rPr lang="en-US" altLang="zh-CN"/>
              <a:t>—</a:t>
            </a:r>
            <a:r>
              <a:rPr lang="zh-CN" altLang="en-US"/>
              <a:t>判别</a:t>
            </a:r>
            <a:r>
              <a:rPr lang="en-US" altLang="zh-CN"/>
              <a:t>—</a:t>
            </a:r>
            <a:r>
              <a:rPr lang="zh-CN" altLang="en-US"/>
              <a:t>回流训练的闭环框架，使模型持续自进化，逐步具备稳定的调控策略输出能力。</a:t>
            </a:r>
            <a:br>
              <a:rPr lang="zh-CN" altLang="en-US"/>
            </a:br>
            <a:r>
              <a:rPr lang="zh-CN" altLang="en-US"/>
              <a:t>首先，大模型基于调度知识与运行数据，生成结构化调度策略。为了确保大模型生成的调度规则正确、有效。我们设计了一个轻量判别模型（</a:t>
            </a:r>
            <a:r>
              <a:rPr lang="en-US" altLang="zh-CN"/>
              <a:t>SLM</a:t>
            </a:r>
            <a:r>
              <a:rPr lang="zh-CN" altLang="en-US"/>
              <a:t>），用来筛选大模型生成的规则，作为</a:t>
            </a:r>
            <a:r>
              <a:rPr lang="en-US" altLang="zh-CN"/>
              <a:t>“</a:t>
            </a:r>
            <a:r>
              <a:rPr lang="zh-CN" altLang="en-US"/>
              <a:t>模型裁判官</a:t>
            </a:r>
            <a:r>
              <a:rPr lang="en-US" altLang="zh-CN"/>
              <a:t>”</a:t>
            </a:r>
            <a:r>
              <a:rPr lang="zh-CN" altLang="en-US"/>
              <a:t>，确保规则可靠</a:t>
            </a:r>
            <a:endParaRPr lang="zh-CN" altLang="en-US"/>
          </a:p>
          <a:p>
            <a:r>
              <a:rPr lang="zh-CN" altLang="en-US"/>
              <a:t>最后，我们将判别结果作为学习信号，进行闭环优化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C6D3-133E-4A51-8F1C-F484242B8F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10173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387"/>
          <a:stretch>
            <a:fillRect/>
          </a:stretch>
        </p:blipFill>
        <p:spPr>
          <a:xfrm>
            <a:off x="11138708" y="57289"/>
            <a:ext cx="938129" cy="897377"/>
          </a:xfrm>
          <a:prstGeom prst="rect">
            <a:avLst/>
          </a:prstGeom>
        </p:spPr>
      </p:pic>
      <p:grpSp>
        <p:nvGrpSpPr>
          <p:cNvPr id="32" name="图形 282"/>
          <p:cNvGrpSpPr/>
          <p:nvPr userDrawn="1"/>
        </p:nvGrpSpPr>
        <p:grpSpPr>
          <a:xfrm>
            <a:off x="219224" y="25566"/>
            <a:ext cx="1199673" cy="991807"/>
            <a:chOff x="5514975" y="2847975"/>
            <a:chExt cx="1164812" cy="1164812"/>
          </a:xfrm>
          <a:solidFill>
            <a:schemeClr val="bg1">
              <a:alpha val="15000"/>
            </a:schemeClr>
          </a:solidFill>
        </p:grpSpPr>
        <p:sp>
          <p:nvSpPr>
            <p:cNvPr id="33" name="任意多边形: 形状 32"/>
            <p:cNvSpPr/>
            <p:nvPr/>
          </p:nvSpPr>
          <p:spPr>
            <a:xfrm>
              <a:off x="5750623" y="2852832"/>
              <a:ext cx="571" cy="571"/>
            </a:xfrm>
            <a:custGeom>
              <a:avLst/>
              <a:gdLst>
                <a:gd name="connsiteX0" fmla="*/ 571 w 571"/>
                <a:gd name="connsiteY0" fmla="*/ 286 h 571"/>
                <a:gd name="connsiteX1" fmla="*/ 286 w 571"/>
                <a:gd name="connsiteY1" fmla="*/ 571 h 571"/>
                <a:gd name="connsiteX2" fmla="*/ 0 w 571"/>
                <a:gd name="connsiteY2" fmla="*/ 286 h 571"/>
                <a:gd name="connsiteX3" fmla="*/ 286 w 571"/>
                <a:gd name="connsiteY3" fmla="*/ 0 h 571"/>
                <a:gd name="connsiteX4" fmla="*/ 571 w 571"/>
                <a:gd name="connsiteY4" fmla="*/ 286 h 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" h="571">
                  <a:moveTo>
                    <a:pt x="571" y="286"/>
                  </a:moveTo>
                  <a:cubicBezTo>
                    <a:pt x="571" y="444"/>
                    <a:pt x="444" y="571"/>
                    <a:pt x="286" y="571"/>
                  </a:cubicBezTo>
                  <a:cubicBezTo>
                    <a:pt x="128" y="571"/>
                    <a:pt x="0" y="444"/>
                    <a:pt x="0" y="286"/>
                  </a:cubicBezTo>
                  <a:cubicBezTo>
                    <a:pt x="0" y="128"/>
                    <a:pt x="128" y="0"/>
                    <a:pt x="286" y="0"/>
                  </a:cubicBezTo>
                  <a:cubicBezTo>
                    <a:pt x="444" y="0"/>
                    <a:pt x="571" y="128"/>
                    <a:pt x="571" y="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5864352" y="2851213"/>
              <a:ext cx="3810" cy="3810"/>
            </a:xfrm>
            <a:custGeom>
              <a:avLst/>
              <a:gdLst>
                <a:gd name="connsiteX0" fmla="*/ 1905 w 3810"/>
                <a:gd name="connsiteY0" fmla="*/ 3810 h 3810"/>
                <a:gd name="connsiteX1" fmla="*/ 3810 w 3810"/>
                <a:gd name="connsiteY1" fmla="*/ 1905 h 3810"/>
                <a:gd name="connsiteX2" fmla="*/ 1905 w 3810"/>
                <a:gd name="connsiteY2" fmla="*/ 0 h 3810"/>
                <a:gd name="connsiteX3" fmla="*/ 0 w 3810"/>
                <a:gd name="connsiteY3" fmla="*/ 1905 h 3810"/>
                <a:gd name="connsiteX4" fmla="*/ 1905 w 3810"/>
                <a:gd name="connsiteY4" fmla="*/ 3810 h 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" h="3810">
                  <a:moveTo>
                    <a:pt x="1905" y="3810"/>
                  </a:moveTo>
                  <a:cubicBezTo>
                    <a:pt x="2953" y="3810"/>
                    <a:pt x="3810" y="2953"/>
                    <a:pt x="3810" y="1905"/>
                  </a:cubicBezTo>
                  <a:cubicBezTo>
                    <a:pt x="3810" y="857"/>
                    <a:pt x="2953" y="0"/>
                    <a:pt x="1905" y="0"/>
                  </a:cubicBezTo>
                  <a:cubicBezTo>
                    <a:pt x="857" y="0"/>
                    <a:pt x="0" y="857"/>
                    <a:pt x="0" y="1905"/>
                  </a:cubicBezTo>
                  <a:cubicBezTo>
                    <a:pt x="0" y="2953"/>
                    <a:pt x="857" y="3810"/>
                    <a:pt x="1905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5977509" y="2848927"/>
              <a:ext cx="8381" cy="8286"/>
            </a:xfrm>
            <a:custGeom>
              <a:avLst/>
              <a:gdLst>
                <a:gd name="connsiteX0" fmla="*/ 4191 w 8381"/>
                <a:gd name="connsiteY0" fmla="*/ 8287 h 8286"/>
                <a:gd name="connsiteX1" fmla="*/ 8382 w 8381"/>
                <a:gd name="connsiteY1" fmla="*/ 4096 h 8286"/>
                <a:gd name="connsiteX2" fmla="*/ 4191 w 8381"/>
                <a:gd name="connsiteY2" fmla="*/ 0 h 8286"/>
                <a:gd name="connsiteX3" fmla="*/ 0 w 8381"/>
                <a:gd name="connsiteY3" fmla="*/ 4191 h 8286"/>
                <a:gd name="connsiteX4" fmla="*/ 4191 w 8381"/>
                <a:gd name="connsiteY4" fmla="*/ 8287 h 8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1" h="8286">
                  <a:moveTo>
                    <a:pt x="4191" y="8287"/>
                  </a:moveTo>
                  <a:cubicBezTo>
                    <a:pt x="6477" y="8287"/>
                    <a:pt x="8382" y="6382"/>
                    <a:pt x="8382" y="4096"/>
                  </a:cubicBezTo>
                  <a:cubicBezTo>
                    <a:pt x="8382" y="1810"/>
                    <a:pt x="6477" y="0"/>
                    <a:pt x="4191" y="0"/>
                  </a:cubicBezTo>
                  <a:cubicBezTo>
                    <a:pt x="1905" y="0"/>
                    <a:pt x="0" y="1905"/>
                    <a:pt x="0" y="4191"/>
                  </a:cubicBezTo>
                  <a:cubicBezTo>
                    <a:pt x="0" y="6477"/>
                    <a:pt x="1905" y="8287"/>
                    <a:pt x="4191" y="82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6091904" y="2847975"/>
              <a:ext cx="10286" cy="10287"/>
            </a:xfrm>
            <a:custGeom>
              <a:avLst/>
              <a:gdLst>
                <a:gd name="connsiteX0" fmla="*/ 10287 w 10286"/>
                <a:gd name="connsiteY0" fmla="*/ 5144 h 10287"/>
                <a:gd name="connsiteX1" fmla="*/ 5144 w 10286"/>
                <a:gd name="connsiteY1" fmla="*/ 10287 h 10287"/>
                <a:gd name="connsiteX2" fmla="*/ 0 w 10286"/>
                <a:gd name="connsiteY2" fmla="*/ 5144 h 10287"/>
                <a:gd name="connsiteX3" fmla="*/ 5144 w 10286"/>
                <a:gd name="connsiteY3" fmla="*/ 0 h 10287"/>
                <a:gd name="connsiteX4" fmla="*/ 10287 w 10286"/>
                <a:gd name="connsiteY4" fmla="*/ 5144 h 10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7">
                  <a:moveTo>
                    <a:pt x="10287" y="5144"/>
                  </a:moveTo>
                  <a:cubicBezTo>
                    <a:pt x="10287" y="7984"/>
                    <a:pt x="7984" y="10287"/>
                    <a:pt x="5144" y="10287"/>
                  </a:cubicBezTo>
                  <a:cubicBezTo>
                    <a:pt x="2303" y="10287"/>
                    <a:pt x="0" y="7984"/>
                    <a:pt x="0" y="5144"/>
                  </a:cubicBezTo>
                  <a:cubicBezTo>
                    <a:pt x="0" y="2303"/>
                    <a:pt x="2303" y="0"/>
                    <a:pt x="5144" y="0"/>
                  </a:cubicBezTo>
                  <a:cubicBezTo>
                    <a:pt x="7984" y="0"/>
                    <a:pt x="10287" y="2303"/>
                    <a:pt x="10287" y="5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6208299" y="2848927"/>
              <a:ext cx="8381" cy="8381"/>
            </a:xfrm>
            <a:custGeom>
              <a:avLst/>
              <a:gdLst>
                <a:gd name="connsiteX0" fmla="*/ 8382 w 8381"/>
                <a:gd name="connsiteY0" fmla="*/ 4191 h 8381"/>
                <a:gd name="connsiteX1" fmla="*/ 4191 w 8381"/>
                <a:gd name="connsiteY1" fmla="*/ 8382 h 8381"/>
                <a:gd name="connsiteX2" fmla="*/ 0 w 8381"/>
                <a:gd name="connsiteY2" fmla="*/ 4191 h 8381"/>
                <a:gd name="connsiteX3" fmla="*/ 4191 w 8381"/>
                <a:gd name="connsiteY3" fmla="*/ 0 h 8381"/>
                <a:gd name="connsiteX4" fmla="*/ 8382 w 8381"/>
                <a:gd name="connsiteY4" fmla="*/ 4191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1" h="8381">
                  <a:moveTo>
                    <a:pt x="8382" y="4191"/>
                  </a:moveTo>
                  <a:cubicBezTo>
                    <a:pt x="8382" y="6506"/>
                    <a:pt x="6506" y="8382"/>
                    <a:pt x="4191" y="8382"/>
                  </a:cubicBezTo>
                  <a:cubicBezTo>
                    <a:pt x="1876" y="8382"/>
                    <a:pt x="0" y="6506"/>
                    <a:pt x="0" y="4191"/>
                  </a:cubicBezTo>
                  <a:cubicBezTo>
                    <a:pt x="0" y="1876"/>
                    <a:pt x="1876" y="0"/>
                    <a:pt x="4191" y="0"/>
                  </a:cubicBezTo>
                  <a:cubicBezTo>
                    <a:pt x="6506" y="0"/>
                    <a:pt x="8382" y="1876"/>
                    <a:pt x="8382" y="41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6325552" y="2850832"/>
              <a:ext cx="4572" cy="4476"/>
            </a:xfrm>
            <a:custGeom>
              <a:avLst/>
              <a:gdLst>
                <a:gd name="connsiteX0" fmla="*/ 2286 w 4572"/>
                <a:gd name="connsiteY0" fmla="*/ 4477 h 4476"/>
                <a:gd name="connsiteX1" fmla="*/ 4572 w 4572"/>
                <a:gd name="connsiteY1" fmla="*/ 2191 h 4476"/>
                <a:gd name="connsiteX2" fmla="*/ 2286 w 4572"/>
                <a:gd name="connsiteY2" fmla="*/ 0 h 4476"/>
                <a:gd name="connsiteX3" fmla="*/ 0 w 4572"/>
                <a:gd name="connsiteY3" fmla="*/ 2286 h 4476"/>
                <a:gd name="connsiteX4" fmla="*/ 2286 w 4572"/>
                <a:gd name="connsiteY4" fmla="*/ 4477 h 4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" h="4476">
                  <a:moveTo>
                    <a:pt x="2286" y="4477"/>
                  </a:moveTo>
                  <a:cubicBezTo>
                    <a:pt x="3524" y="4477"/>
                    <a:pt x="4572" y="3429"/>
                    <a:pt x="4572" y="2191"/>
                  </a:cubicBezTo>
                  <a:cubicBezTo>
                    <a:pt x="4572" y="952"/>
                    <a:pt x="3524" y="0"/>
                    <a:pt x="2286" y="0"/>
                  </a:cubicBezTo>
                  <a:cubicBezTo>
                    <a:pt x="1048" y="0"/>
                    <a:pt x="0" y="1048"/>
                    <a:pt x="0" y="2286"/>
                  </a:cubicBezTo>
                  <a:cubicBezTo>
                    <a:pt x="0" y="3524"/>
                    <a:pt x="1048" y="4477"/>
                    <a:pt x="2286" y="44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6442995" y="2852832"/>
              <a:ext cx="571" cy="571"/>
            </a:xfrm>
            <a:custGeom>
              <a:avLst/>
              <a:gdLst>
                <a:gd name="connsiteX0" fmla="*/ 571 w 571"/>
                <a:gd name="connsiteY0" fmla="*/ 286 h 571"/>
                <a:gd name="connsiteX1" fmla="*/ 286 w 571"/>
                <a:gd name="connsiteY1" fmla="*/ 571 h 571"/>
                <a:gd name="connsiteX2" fmla="*/ 0 w 571"/>
                <a:gd name="connsiteY2" fmla="*/ 286 h 571"/>
                <a:gd name="connsiteX3" fmla="*/ 286 w 571"/>
                <a:gd name="connsiteY3" fmla="*/ 0 h 571"/>
                <a:gd name="connsiteX4" fmla="*/ 571 w 571"/>
                <a:gd name="connsiteY4" fmla="*/ 286 h 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" h="571">
                  <a:moveTo>
                    <a:pt x="571" y="286"/>
                  </a:moveTo>
                  <a:cubicBezTo>
                    <a:pt x="571" y="444"/>
                    <a:pt x="444" y="571"/>
                    <a:pt x="286" y="571"/>
                  </a:cubicBezTo>
                  <a:cubicBezTo>
                    <a:pt x="128" y="571"/>
                    <a:pt x="0" y="444"/>
                    <a:pt x="0" y="286"/>
                  </a:cubicBezTo>
                  <a:cubicBezTo>
                    <a:pt x="0" y="128"/>
                    <a:pt x="128" y="0"/>
                    <a:pt x="286" y="0"/>
                  </a:cubicBezTo>
                  <a:cubicBezTo>
                    <a:pt x="444" y="0"/>
                    <a:pt x="571" y="128"/>
                    <a:pt x="571" y="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5634799" y="2967799"/>
              <a:ext cx="1333" cy="1333"/>
            </a:xfrm>
            <a:custGeom>
              <a:avLst/>
              <a:gdLst>
                <a:gd name="connsiteX0" fmla="*/ 667 w 1333"/>
                <a:gd name="connsiteY0" fmla="*/ 1334 h 1333"/>
                <a:gd name="connsiteX1" fmla="*/ 1334 w 1333"/>
                <a:gd name="connsiteY1" fmla="*/ 667 h 1333"/>
                <a:gd name="connsiteX2" fmla="*/ 667 w 1333"/>
                <a:gd name="connsiteY2" fmla="*/ 0 h 1333"/>
                <a:gd name="connsiteX3" fmla="*/ 0 w 1333"/>
                <a:gd name="connsiteY3" fmla="*/ 667 h 1333"/>
                <a:gd name="connsiteX4" fmla="*/ 667 w 1333"/>
                <a:gd name="connsiteY4" fmla="*/ 1334 h 1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" h="1333">
                  <a:moveTo>
                    <a:pt x="667" y="1334"/>
                  </a:moveTo>
                  <a:cubicBezTo>
                    <a:pt x="1048" y="1334"/>
                    <a:pt x="1334" y="1048"/>
                    <a:pt x="1334" y="667"/>
                  </a:cubicBezTo>
                  <a:cubicBezTo>
                    <a:pt x="1334" y="286"/>
                    <a:pt x="1048" y="0"/>
                    <a:pt x="667" y="0"/>
                  </a:cubicBezTo>
                  <a:cubicBezTo>
                    <a:pt x="286" y="0"/>
                    <a:pt x="0" y="286"/>
                    <a:pt x="0" y="667"/>
                  </a:cubicBezTo>
                  <a:cubicBezTo>
                    <a:pt x="0" y="1048"/>
                    <a:pt x="381" y="1334"/>
                    <a:pt x="667" y="1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5745765" y="2963322"/>
              <a:ext cx="10286" cy="10287"/>
            </a:xfrm>
            <a:custGeom>
              <a:avLst/>
              <a:gdLst>
                <a:gd name="connsiteX0" fmla="*/ 10287 w 10286"/>
                <a:gd name="connsiteY0" fmla="*/ 5143 h 10287"/>
                <a:gd name="connsiteX1" fmla="*/ 5143 w 10286"/>
                <a:gd name="connsiteY1" fmla="*/ 10287 h 10287"/>
                <a:gd name="connsiteX2" fmla="*/ 0 w 10286"/>
                <a:gd name="connsiteY2" fmla="*/ 5143 h 10287"/>
                <a:gd name="connsiteX3" fmla="*/ 5143 w 10286"/>
                <a:gd name="connsiteY3" fmla="*/ 0 h 10287"/>
                <a:gd name="connsiteX4" fmla="*/ 10287 w 10286"/>
                <a:gd name="connsiteY4" fmla="*/ 5143 h 10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7">
                  <a:moveTo>
                    <a:pt x="10287" y="5143"/>
                  </a:moveTo>
                  <a:cubicBezTo>
                    <a:pt x="10287" y="7984"/>
                    <a:pt x="7984" y="10287"/>
                    <a:pt x="5143" y="10287"/>
                  </a:cubicBezTo>
                  <a:cubicBezTo>
                    <a:pt x="2303" y="10287"/>
                    <a:pt x="0" y="7984"/>
                    <a:pt x="0" y="5143"/>
                  </a:cubicBezTo>
                  <a:cubicBezTo>
                    <a:pt x="0" y="2303"/>
                    <a:pt x="2303" y="0"/>
                    <a:pt x="5143" y="0"/>
                  </a:cubicBezTo>
                  <a:cubicBezTo>
                    <a:pt x="7984" y="0"/>
                    <a:pt x="10287" y="2303"/>
                    <a:pt x="10287" y="51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5856351" y="2958560"/>
              <a:ext cx="19811" cy="19812"/>
            </a:xfrm>
            <a:custGeom>
              <a:avLst/>
              <a:gdLst>
                <a:gd name="connsiteX0" fmla="*/ 19812 w 19811"/>
                <a:gd name="connsiteY0" fmla="*/ 9906 h 19812"/>
                <a:gd name="connsiteX1" fmla="*/ 9906 w 19811"/>
                <a:gd name="connsiteY1" fmla="*/ 19812 h 19812"/>
                <a:gd name="connsiteX2" fmla="*/ 0 w 19811"/>
                <a:gd name="connsiteY2" fmla="*/ 9906 h 19812"/>
                <a:gd name="connsiteX3" fmla="*/ 9906 w 19811"/>
                <a:gd name="connsiteY3" fmla="*/ 0 h 19812"/>
                <a:gd name="connsiteX4" fmla="*/ 19812 w 19811"/>
                <a:gd name="connsiteY4" fmla="*/ 9906 h 19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11" h="19812">
                  <a:moveTo>
                    <a:pt x="19812" y="9906"/>
                  </a:moveTo>
                  <a:cubicBezTo>
                    <a:pt x="19812" y="15377"/>
                    <a:pt x="15377" y="19812"/>
                    <a:pt x="9906" y="19812"/>
                  </a:cubicBezTo>
                  <a:cubicBezTo>
                    <a:pt x="4435" y="19812"/>
                    <a:pt x="0" y="15377"/>
                    <a:pt x="0" y="9906"/>
                  </a:cubicBezTo>
                  <a:cubicBezTo>
                    <a:pt x="0" y="4435"/>
                    <a:pt x="4435" y="0"/>
                    <a:pt x="9906" y="0"/>
                  </a:cubicBezTo>
                  <a:cubicBezTo>
                    <a:pt x="15377" y="0"/>
                    <a:pt x="19812" y="4435"/>
                    <a:pt x="19812" y="990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5968269" y="2955035"/>
              <a:ext cx="26860" cy="26860"/>
            </a:xfrm>
            <a:custGeom>
              <a:avLst/>
              <a:gdLst>
                <a:gd name="connsiteX0" fmla="*/ 13430 w 26860"/>
                <a:gd name="connsiteY0" fmla="*/ 26861 h 26860"/>
                <a:gd name="connsiteX1" fmla="*/ 26860 w 26860"/>
                <a:gd name="connsiteY1" fmla="*/ 13430 h 26860"/>
                <a:gd name="connsiteX2" fmla="*/ 13430 w 26860"/>
                <a:gd name="connsiteY2" fmla="*/ 0 h 26860"/>
                <a:gd name="connsiteX3" fmla="*/ 0 w 26860"/>
                <a:gd name="connsiteY3" fmla="*/ 13430 h 26860"/>
                <a:gd name="connsiteX4" fmla="*/ 13430 w 26860"/>
                <a:gd name="connsiteY4" fmla="*/ 26861 h 2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0" h="26860">
                  <a:moveTo>
                    <a:pt x="13430" y="26861"/>
                  </a:moveTo>
                  <a:cubicBezTo>
                    <a:pt x="20860" y="26861"/>
                    <a:pt x="26860" y="20860"/>
                    <a:pt x="26860" y="13430"/>
                  </a:cubicBezTo>
                  <a:cubicBezTo>
                    <a:pt x="26860" y="6001"/>
                    <a:pt x="20860" y="0"/>
                    <a:pt x="13430" y="0"/>
                  </a:cubicBezTo>
                  <a:cubicBezTo>
                    <a:pt x="6001" y="0"/>
                    <a:pt x="0" y="6001"/>
                    <a:pt x="0" y="13430"/>
                  </a:cubicBezTo>
                  <a:cubicBezTo>
                    <a:pt x="0" y="20860"/>
                    <a:pt x="6001" y="26861"/>
                    <a:pt x="13430" y="26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6082284" y="2953702"/>
              <a:ext cx="29527" cy="29527"/>
            </a:xfrm>
            <a:custGeom>
              <a:avLst/>
              <a:gdLst>
                <a:gd name="connsiteX0" fmla="*/ 14764 w 29527"/>
                <a:gd name="connsiteY0" fmla="*/ 29527 h 29527"/>
                <a:gd name="connsiteX1" fmla="*/ 29527 w 29527"/>
                <a:gd name="connsiteY1" fmla="*/ 14764 h 29527"/>
                <a:gd name="connsiteX2" fmla="*/ 14764 w 29527"/>
                <a:gd name="connsiteY2" fmla="*/ 0 h 29527"/>
                <a:gd name="connsiteX3" fmla="*/ 0 w 29527"/>
                <a:gd name="connsiteY3" fmla="*/ 14764 h 29527"/>
                <a:gd name="connsiteX4" fmla="*/ 14764 w 29527"/>
                <a:gd name="connsiteY4" fmla="*/ 29527 h 2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27" h="29527">
                  <a:moveTo>
                    <a:pt x="14764" y="29527"/>
                  </a:moveTo>
                  <a:cubicBezTo>
                    <a:pt x="22860" y="29527"/>
                    <a:pt x="29527" y="22955"/>
                    <a:pt x="29527" y="14764"/>
                  </a:cubicBezTo>
                  <a:cubicBezTo>
                    <a:pt x="29527" y="6572"/>
                    <a:pt x="22955" y="0"/>
                    <a:pt x="14764" y="0"/>
                  </a:cubicBezTo>
                  <a:cubicBezTo>
                    <a:pt x="6667" y="0"/>
                    <a:pt x="0" y="6572"/>
                    <a:pt x="0" y="14764"/>
                  </a:cubicBezTo>
                  <a:cubicBezTo>
                    <a:pt x="0" y="22955"/>
                    <a:pt x="6667" y="29527"/>
                    <a:pt x="14764" y="295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6199060" y="2955035"/>
              <a:ext cx="26860" cy="26860"/>
            </a:xfrm>
            <a:custGeom>
              <a:avLst/>
              <a:gdLst>
                <a:gd name="connsiteX0" fmla="*/ 13430 w 26860"/>
                <a:gd name="connsiteY0" fmla="*/ 26861 h 26860"/>
                <a:gd name="connsiteX1" fmla="*/ 26860 w 26860"/>
                <a:gd name="connsiteY1" fmla="*/ 13430 h 26860"/>
                <a:gd name="connsiteX2" fmla="*/ 13430 w 26860"/>
                <a:gd name="connsiteY2" fmla="*/ 0 h 26860"/>
                <a:gd name="connsiteX3" fmla="*/ 0 w 26860"/>
                <a:gd name="connsiteY3" fmla="*/ 13430 h 26860"/>
                <a:gd name="connsiteX4" fmla="*/ 13430 w 26860"/>
                <a:gd name="connsiteY4" fmla="*/ 26861 h 2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0" h="26860">
                  <a:moveTo>
                    <a:pt x="13430" y="26861"/>
                  </a:moveTo>
                  <a:cubicBezTo>
                    <a:pt x="20860" y="26861"/>
                    <a:pt x="26860" y="20860"/>
                    <a:pt x="26860" y="13430"/>
                  </a:cubicBezTo>
                  <a:cubicBezTo>
                    <a:pt x="26860" y="6001"/>
                    <a:pt x="20860" y="0"/>
                    <a:pt x="13430" y="0"/>
                  </a:cubicBezTo>
                  <a:cubicBezTo>
                    <a:pt x="6001" y="0"/>
                    <a:pt x="0" y="6001"/>
                    <a:pt x="0" y="13430"/>
                  </a:cubicBezTo>
                  <a:cubicBezTo>
                    <a:pt x="0" y="20860"/>
                    <a:pt x="6001" y="26861"/>
                    <a:pt x="13430" y="26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6317551" y="2958179"/>
              <a:ext cx="20573" cy="20574"/>
            </a:xfrm>
            <a:custGeom>
              <a:avLst/>
              <a:gdLst>
                <a:gd name="connsiteX0" fmla="*/ 20574 w 20573"/>
                <a:gd name="connsiteY0" fmla="*/ 10287 h 20574"/>
                <a:gd name="connsiteX1" fmla="*/ 10287 w 20573"/>
                <a:gd name="connsiteY1" fmla="*/ 20574 h 20574"/>
                <a:gd name="connsiteX2" fmla="*/ 0 w 20573"/>
                <a:gd name="connsiteY2" fmla="*/ 10287 h 20574"/>
                <a:gd name="connsiteX3" fmla="*/ 10287 w 20573"/>
                <a:gd name="connsiteY3" fmla="*/ 0 h 20574"/>
                <a:gd name="connsiteX4" fmla="*/ 20574 w 20573"/>
                <a:gd name="connsiteY4" fmla="*/ 10287 h 20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3" h="20574">
                  <a:moveTo>
                    <a:pt x="20574" y="10287"/>
                  </a:moveTo>
                  <a:cubicBezTo>
                    <a:pt x="20574" y="15968"/>
                    <a:pt x="15968" y="20574"/>
                    <a:pt x="10287" y="20574"/>
                  </a:cubicBezTo>
                  <a:cubicBezTo>
                    <a:pt x="4606" y="20574"/>
                    <a:pt x="0" y="15968"/>
                    <a:pt x="0" y="10287"/>
                  </a:cubicBezTo>
                  <a:cubicBezTo>
                    <a:pt x="0" y="4606"/>
                    <a:pt x="4606" y="0"/>
                    <a:pt x="10287" y="0"/>
                  </a:cubicBezTo>
                  <a:cubicBezTo>
                    <a:pt x="15968" y="0"/>
                    <a:pt x="20574" y="4606"/>
                    <a:pt x="20574" y="102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6437852" y="2963037"/>
              <a:ext cx="10858" cy="10858"/>
            </a:xfrm>
            <a:custGeom>
              <a:avLst/>
              <a:gdLst>
                <a:gd name="connsiteX0" fmla="*/ 10858 w 10858"/>
                <a:gd name="connsiteY0" fmla="*/ 5429 h 10858"/>
                <a:gd name="connsiteX1" fmla="*/ 5429 w 10858"/>
                <a:gd name="connsiteY1" fmla="*/ 10858 h 10858"/>
                <a:gd name="connsiteX2" fmla="*/ 0 w 10858"/>
                <a:gd name="connsiteY2" fmla="*/ 5429 h 10858"/>
                <a:gd name="connsiteX3" fmla="*/ 5429 w 10858"/>
                <a:gd name="connsiteY3" fmla="*/ 0 h 10858"/>
                <a:gd name="connsiteX4" fmla="*/ 10858 w 10858"/>
                <a:gd name="connsiteY4" fmla="*/ 5429 h 10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58" h="10858">
                  <a:moveTo>
                    <a:pt x="10858" y="5429"/>
                  </a:moveTo>
                  <a:cubicBezTo>
                    <a:pt x="10858" y="8428"/>
                    <a:pt x="8428" y="10858"/>
                    <a:pt x="5429" y="10858"/>
                  </a:cubicBezTo>
                  <a:cubicBezTo>
                    <a:pt x="2431" y="10858"/>
                    <a:pt x="0" y="8428"/>
                    <a:pt x="0" y="5429"/>
                  </a:cubicBezTo>
                  <a:cubicBezTo>
                    <a:pt x="0" y="2431"/>
                    <a:pt x="2431" y="0"/>
                    <a:pt x="5429" y="0"/>
                  </a:cubicBezTo>
                  <a:cubicBezTo>
                    <a:pt x="8428" y="0"/>
                    <a:pt x="10858" y="2431"/>
                    <a:pt x="10858" y="54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6557676" y="2967513"/>
              <a:ext cx="1904" cy="1904"/>
            </a:xfrm>
            <a:custGeom>
              <a:avLst/>
              <a:gdLst>
                <a:gd name="connsiteX0" fmla="*/ 1905 w 1904"/>
                <a:gd name="connsiteY0" fmla="*/ 952 h 1904"/>
                <a:gd name="connsiteX1" fmla="*/ 952 w 1904"/>
                <a:gd name="connsiteY1" fmla="*/ 1905 h 1904"/>
                <a:gd name="connsiteX2" fmla="*/ 0 w 1904"/>
                <a:gd name="connsiteY2" fmla="*/ 952 h 1904"/>
                <a:gd name="connsiteX3" fmla="*/ 952 w 1904"/>
                <a:gd name="connsiteY3" fmla="*/ 0 h 1904"/>
                <a:gd name="connsiteX4" fmla="*/ 1905 w 1904"/>
                <a:gd name="connsiteY4" fmla="*/ 952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4" h="1904">
                  <a:moveTo>
                    <a:pt x="1905" y="952"/>
                  </a:moveTo>
                  <a:cubicBezTo>
                    <a:pt x="1905" y="1479"/>
                    <a:pt x="1479" y="1905"/>
                    <a:pt x="952" y="1905"/>
                  </a:cubicBezTo>
                  <a:cubicBezTo>
                    <a:pt x="426" y="1905"/>
                    <a:pt x="0" y="1479"/>
                    <a:pt x="0" y="952"/>
                  </a:cubicBezTo>
                  <a:cubicBezTo>
                    <a:pt x="0" y="426"/>
                    <a:pt x="426" y="0"/>
                    <a:pt x="952" y="0"/>
                  </a:cubicBezTo>
                  <a:cubicBezTo>
                    <a:pt x="1479" y="0"/>
                    <a:pt x="1905" y="426"/>
                    <a:pt x="1905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5519832" y="3083623"/>
              <a:ext cx="571" cy="571"/>
            </a:xfrm>
            <a:custGeom>
              <a:avLst/>
              <a:gdLst>
                <a:gd name="connsiteX0" fmla="*/ 571 w 571"/>
                <a:gd name="connsiteY0" fmla="*/ 286 h 571"/>
                <a:gd name="connsiteX1" fmla="*/ 286 w 571"/>
                <a:gd name="connsiteY1" fmla="*/ 572 h 571"/>
                <a:gd name="connsiteX2" fmla="*/ 0 w 571"/>
                <a:gd name="connsiteY2" fmla="*/ 286 h 571"/>
                <a:gd name="connsiteX3" fmla="*/ 286 w 571"/>
                <a:gd name="connsiteY3" fmla="*/ 0 h 571"/>
                <a:gd name="connsiteX4" fmla="*/ 571 w 571"/>
                <a:gd name="connsiteY4" fmla="*/ 286 h 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" h="571">
                  <a:moveTo>
                    <a:pt x="571" y="286"/>
                  </a:moveTo>
                  <a:cubicBezTo>
                    <a:pt x="571" y="444"/>
                    <a:pt x="444" y="572"/>
                    <a:pt x="286" y="572"/>
                  </a:cubicBezTo>
                  <a:cubicBezTo>
                    <a:pt x="128" y="572"/>
                    <a:pt x="0" y="444"/>
                    <a:pt x="0" y="286"/>
                  </a:cubicBezTo>
                  <a:cubicBezTo>
                    <a:pt x="0" y="128"/>
                    <a:pt x="128" y="0"/>
                    <a:pt x="286" y="0"/>
                  </a:cubicBezTo>
                  <a:cubicBezTo>
                    <a:pt x="444" y="0"/>
                    <a:pt x="571" y="128"/>
                    <a:pt x="571" y="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5630322" y="3078765"/>
              <a:ext cx="10287" cy="10286"/>
            </a:xfrm>
            <a:custGeom>
              <a:avLst/>
              <a:gdLst>
                <a:gd name="connsiteX0" fmla="*/ 10287 w 10287"/>
                <a:gd name="connsiteY0" fmla="*/ 5144 h 10286"/>
                <a:gd name="connsiteX1" fmla="*/ 5143 w 10287"/>
                <a:gd name="connsiteY1" fmla="*/ 10287 h 10286"/>
                <a:gd name="connsiteX2" fmla="*/ 0 w 10287"/>
                <a:gd name="connsiteY2" fmla="*/ 5144 h 10286"/>
                <a:gd name="connsiteX3" fmla="*/ 5143 w 10287"/>
                <a:gd name="connsiteY3" fmla="*/ 0 h 10286"/>
                <a:gd name="connsiteX4" fmla="*/ 10287 w 10287"/>
                <a:gd name="connsiteY4" fmla="*/ 5144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7" h="10286">
                  <a:moveTo>
                    <a:pt x="10287" y="5144"/>
                  </a:moveTo>
                  <a:cubicBezTo>
                    <a:pt x="10287" y="7984"/>
                    <a:pt x="7984" y="10287"/>
                    <a:pt x="5143" y="10287"/>
                  </a:cubicBezTo>
                  <a:cubicBezTo>
                    <a:pt x="2303" y="10287"/>
                    <a:pt x="0" y="7984"/>
                    <a:pt x="0" y="5144"/>
                  </a:cubicBezTo>
                  <a:cubicBezTo>
                    <a:pt x="0" y="2303"/>
                    <a:pt x="2303" y="0"/>
                    <a:pt x="5143" y="0"/>
                  </a:cubicBezTo>
                  <a:cubicBezTo>
                    <a:pt x="7984" y="0"/>
                    <a:pt x="10287" y="2303"/>
                    <a:pt x="10287" y="5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5738717" y="3071621"/>
              <a:ext cx="24383" cy="24384"/>
            </a:xfrm>
            <a:custGeom>
              <a:avLst/>
              <a:gdLst>
                <a:gd name="connsiteX0" fmla="*/ 12192 w 24383"/>
                <a:gd name="connsiteY0" fmla="*/ 24384 h 24384"/>
                <a:gd name="connsiteX1" fmla="*/ 24384 w 24383"/>
                <a:gd name="connsiteY1" fmla="*/ 12192 h 24384"/>
                <a:gd name="connsiteX2" fmla="*/ 12192 w 24383"/>
                <a:gd name="connsiteY2" fmla="*/ 0 h 24384"/>
                <a:gd name="connsiteX3" fmla="*/ 0 w 24383"/>
                <a:gd name="connsiteY3" fmla="*/ 12192 h 24384"/>
                <a:gd name="connsiteX4" fmla="*/ 12192 w 24383"/>
                <a:gd name="connsiteY4" fmla="*/ 24384 h 2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83" h="24384">
                  <a:moveTo>
                    <a:pt x="12192" y="24384"/>
                  </a:moveTo>
                  <a:cubicBezTo>
                    <a:pt x="18955" y="24384"/>
                    <a:pt x="24384" y="18955"/>
                    <a:pt x="24384" y="12192"/>
                  </a:cubicBezTo>
                  <a:cubicBezTo>
                    <a:pt x="24384" y="5429"/>
                    <a:pt x="18955" y="0"/>
                    <a:pt x="12192" y="0"/>
                  </a:cubicBezTo>
                  <a:cubicBezTo>
                    <a:pt x="5524" y="0"/>
                    <a:pt x="0" y="5429"/>
                    <a:pt x="0" y="12192"/>
                  </a:cubicBezTo>
                  <a:cubicBezTo>
                    <a:pt x="0" y="18955"/>
                    <a:pt x="5429" y="24384"/>
                    <a:pt x="12192" y="24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5848064" y="3065716"/>
              <a:ext cx="36385" cy="36385"/>
            </a:xfrm>
            <a:custGeom>
              <a:avLst/>
              <a:gdLst>
                <a:gd name="connsiteX0" fmla="*/ 18193 w 36385"/>
                <a:gd name="connsiteY0" fmla="*/ 36385 h 36385"/>
                <a:gd name="connsiteX1" fmla="*/ 36385 w 36385"/>
                <a:gd name="connsiteY1" fmla="*/ 18193 h 36385"/>
                <a:gd name="connsiteX2" fmla="*/ 18193 w 36385"/>
                <a:gd name="connsiteY2" fmla="*/ 0 h 36385"/>
                <a:gd name="connsiteX3" fmla="*/ 0 w 36385"/>
                <a:gd name="connsiteY3" fmla="*/ 18193 h 36385"/>
                <a:gd name="connsiteX4" fmla="*/ 18193 w 36385"/>
                <a:gd name="connsiteY4" fmla="*/ 36385 h 36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85" h="36385">
                  <a:moveTo>
                    <a:pt x="18193" y="36385"/>
                  </a:moveTo>
                  <a:cubicBezTo>
                    <a:pt x="28289" y="36385"/>
                    <a:pt x="36385" y="28194"/>
                    <a:pt x="36385" y="18193"/>
                  </a:cubicBezTo>
                  <a:cubicBezTo>
                    <a:pt x="36385" y="8096"/>
                    <a:pt x="28194" y="0"/>
                    <a:pt x="18193" y="0"/>
                  </a:cubicBezTo>
                  <a:cubicBezTo>
                    <a:pt x="8096" y="0"/>
                    <a:pt x="0" y="8191"/>
                    <a:pt x="0" y="18193"/>
                  </a:cubicBezTo>
                  <a:cubicBezTo>
                    <a:pt x="0" y="28194"/>
                    <a:pt x="8096" y="36385"/>
                    <a:pt x="18193" y="363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5958935" y="3061049"/>
              <a:ext cx="45529" cy="45529"/>
            </a:xfrm>
            <a:custGeom>
              <a:avLst/>
              <a:gdLst>
                <a:gd name="connsiteX0" fmla="*/ 22765 w 45529"/>
                <a:gd name="connsiteY0" fmla="*/ 45529 h 45529"/>
                <a:gd name="connsiteX1" fmla="*/ 45529 w 45529"/>
                <a:gd name="connsiteY1" fmla="*/ 22765 h 45529"/>
                <a:gd name="connsiteX2" fmla="*/ 22765 w 45529"/>
                <a:gd name="connsiteY2" fmla="*/ 0 h 45529"/>
                <a:gd name="connsiteX3" fmla="*/ 0 w 45529"/>
                <a:gd name="connsiteY3" fmla="*/ 22765 h 45529"/>
                <a:gd name="connsiteX4" fmla="*/ 22765 w 45529"/>
                <a:gd name="connsiteY4" fmla="*/ 45529 h 45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29" h="45529">
                  <a:moveTo>
                    <a:pt x="22765" y="45529"/>
                  </a:moveTo>
                  <a:cubicBezTo>
                    <a:pt x="35338" y="45529"/>
                    <a:pt x="45529" y="35338"/>
                    <a:pt x="45529" y="22765"/>
                  </a:cubicBezTo>
                  <a:cubicBezTo>
                    <a:pt x="45529" y="10192"/>
                    <a:pt x="35338" y="0"/>
                    <a:pt x="22765" y="0"/>
                  </a:cubicBezTo>
                  <a:cubicBezTo>
                    <a:pt x="10192" y="0"/>
                    <a:pt x="0" y="10192"/>
                    <a:pt x="0" y="22765"/>
                  </a:cubicBezTo>
                  <a:cubicBezTo>
                    <a:pt x="0" y="35338"/>
                    <a:pt x="10192" y="45529"/>
                    <a:pt x="22765" y="455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6072759" y="3059620"/>
              <a:ext cx="48577" cy="48577"/>
            </a:xfrm>
            <a:custGeom>
              <a:avLst/>
              <a:gdLst>
                <a:gd name="connsiteX0" fmla="*/ 24289 w 48577"/>
                <a:gd name="connsiteY0" fmla="*/ 48578 h 48577"/>
                <a:gd name="connsiteX1" fmla="*/ 48577 w 48577"/>
                <a:gd name="connsiteY1" fmla="*/ 24289 h 48577"/>
                <a:gd name="connsiteX2" fmla="*/ 24289 w 48577"/>
                <a:gd name="connsiteY2" fmla="*/ 0 h 48577"/>
                <a:gd name="connsiteX3" fmla="*/ 0 w 48577"/>
                <a:gd name="connsiteY3" fmla="*/ 24289 h 48577"/>
                <a:gd name="connsiteX4" fmla="*/ 24289 w 48577"/>
                <a:gd name="connsiteY4" fmla="*/ 48578 h 4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577" h="48577">
                  <a:moveTo>
                    <a:pt x="24289" y="48578"/>
                  </a:moveTo>
                  <a:cubicBezTo>
                    <a:pt x="37719" y="48578"/>
                    <a:pt x="48577" y="37719"/>
                    <a:pt x="48577" y="24289"/>
                  </a:cubicBezTo>
                  <a:cubicBezTo>
                    <a:pt x="48577" y="10859"/>
                    <a:pt x="37719" y="0"/>
                    <a:pt x="24289" y="0"/>
                  </a:cubicBezTo>
                  <a:cubicBezTo>
                    <a:pt x="10858" y="0"/>
                    <a:pt x="0" y="10859"/>
                    <a:pt x="0" y="24289"/>
                  </a:cubicBezTo>
                  <a:cubicBezTo>
                    <a:pt x="0" y="37719"/>
                    <a:pt x="10858" y="48578"/>
                    <a:pt x="24289" y="485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6189725" y="3061049"/>
              <a:ext cx="45529" cy="45529"/>
            </a:xfrm>
            <a:custGeom>
              <a:avLst/>
              <a:gdLst>
                <a:gd name="connsiteX0" fmla="*/ 22765 w 45529"/>
                <a:gd name="connsiteY0" fmla="*/ 45529 h 45529"/>
                <a:gd name="connsiteX1" fmla="*/ 45530 w 45529"/>
                <a:gd name="connsiteY1" fmla="*/ 22765 h 45529"/>
                <a:gd name="connsiteX2" fmla="*/ 22765 w 45529"/>
                <a:gd name="connsiteY2" fmla="*/ 0 h 45529"/>
                <a:gd name="connsiteX3" fmla="*/ 0 w 45529"/>
                <a:gd name="connsiteY3" fmla="*/ 22765 h 45529"/>
                <a:gd name="connsiteX4" fmla="*/ 22765 w 45529"/>
                <a:gd name="connsiteY4" fmla="*/ 45529 h 45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29" h="45529">
                  <a:moveTo>
                    <a:pt x="22765" y="45529"/>
                  </a:moveTo>
                  <a:cubicBezTo>
                    <a:pt x="35338" y="45529"/>
                    <a:pt x="45530" y="35338"/>
                    <a:pt x="45530" y="22765"/>
                  </a:cubicBezTo>
                  <a:cubicBezTo>
                    <a:pt x="45530" y="10192"/>
                    <a:pt x="35338" y="0"/>
                    <a:pt x="22765" y="0"/>
                  </a:cubicBezTo>
                  <a:cubicBezTo>
                    <a:pt x="10192" y="0"/>
                    <a:pt x="0" y="10192"/>
                    <a:pt x="0" y="22765"/>
                  </a:cubicBezTo>
                  <a:cubicBezTo>
                    <a:pt x="0" y="35338"/>
                    <a:pt x="10192" y="45529"/>
                    <a:pt x="22765" y="455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6308979" y="3065049"/>
              <a:ext cx="37718" cy="37718"/>
            </a:xfrm>
            <a:custGeom>
              <a:avLst/>
              <a:gdLst>
                <a:gd name="connsiteX0" fmla="*/ 18859 w 37718"/>
                <a:gd name="connsiteY0" fmla="*/ 37719 h 37718"/>
                <a:gd name="connsiteX1" fmla="*/ 37719 w 37718"/>
                <a:gd name="connsiteY1" fmla="*/ 18859 h 37718"/>
                <a:gd name="connsiteX2" fmla="*/ 18859 w 37718"/>
                <a:gd name="connsiteY2" fmla="*/ 0 h 37718"/>
                <a:gd name="connsiteX3" fmla="*/ 0 w 37718"/>
                <a:gd name="connsiteY3" fmla="*/ 18859 h 37718"/>
                <a:gd name="connsiteX4" fmla="*/ 18859 w 37718"/>
                <a:gd name="connsiteY4" fmla="*/ 37719 h 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18" h="37718">
                  <a:moveTo>
                    <a:pt x="18859" y="37719"/>
                  </a:moveTo>
                  <a:cubicBezTo>
                    <a:pt x="29242" y="37719"/>
                    <a:pt x="37719" y="29242"/>
                    <a:pt x="37719" y="18859"/>
                  </a:cubicBezTo>
                  <a:cubicBezTo>
                    <a:pt x="37719" y="8477"/>
                    <a:pt x="29242" y="0"/>
                    <a:pt x="18859" y="0"/>
                  </a:cubicBezTo>
                  <a:cubicBezTo>
                    <a:pt x="8477" y="0"/>
                    <a:pt x="0" y="8477"/>
                    <a:pt x="0" y="18859"/>
                  </a:cubicBezTo>
                  <a:cubicBezTo>
                    <a:pt x="0" y="29242"/>
                    <a:pt x="8477" y="37719"/>
                    <a:pt x="18859" y="377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6430516" y="3071145"/>
              <a:ext cx="25528" cy="25527"/>
            </a:xfrm>
            <a:custGeom>
              <a:avLst/>
              <a:gdLst>
                <a:gd name="connsiteX0" fmla="*/ 12765 w 25528"/>
                <a:gd name="connsiteY0" fmla="*/ 25527 h 25527"/>
                <a:gd name="connsiteX1" fmla="*/ 25528 w 25528"/>
                <a:gd name="connsiteY1" fmla="*/ 12764 h 25527"/>
                <a:gd name="connsiteX2" fmla="*/ 12765 w 25528"/>
                <a:gd name="connsiteY2" fmla="*/ 0 h 25527"/>
                <a:gd name="connsiteX3" fmla="*/ 1 w 25528"/>
                <a:gd name="connsiteY3" fmla="*/ 12764 h 25527"/>
                <a:gd name="connsiteX4" fmla="*/ 12765 w 25528"/>
                <a:gd name="connsiteY4" fmla="*/ 25527 h 2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28" h="25527">
                  <a:moveTo>
                    <a:pt x="12765" y="25527"/>
                  </a:moveTo>
                  <a:cubicBezTo>
                    <a:pt x="19813" y="25527"/>
                    <a:pt x="25528" y="19812"/>
                    <a:pt x="25528" y="12764"/>
                  </a:cubicBezTo>
                  <a:cubicBezTo>
                    <a:pt x="25528" y="5715"/>
                    <a:pt x="19813" y="0"/>
                    <a:pt x="12765" y="0"/>
                  </a:cubicBezTo>
                  <a:cubicBezTo>
                    <a:pt x="5716" y="0"/>
                    <a:pt x="1" y="5715"/>
                    <a:pt x="1" y="12764"/>
                  </a:cubicBezTo>
                  <a:cubicBezTo>
                    <a:pt x="-94" y="19812"/>
                    <a:pt x="5621" y="25527"/>
                    <a:pt x="12765" y="255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6553200" y="3078480"/>
              <a:ext cx="10858" cy="10858"/>
            </a:xfrm>
            <a:custGeom>
              <a:avLst/>
              <a:gdLst>
                <a:gd name="connsiteX0" fmla="*/ 10858 w 10858"/>
                <a:gd name="connsiteY0" fmla="*/ 5429 h 10858"/>
                <a:gd name="connsiteX1" fmla="*/ 5429 w 10858"/>
                <a:gd name="connsiteY1" fmla="*/ 10859 h 10858"/>
                <a:gd name="connsiteX2" fmla="*/ 0 w 10858"/>
                <a:gd name="connsiteY2" fmla="*/ 5429 h 10858"/>
                <a:gd name="connsiteX3" fmla="*/ 5429 w 10858"/>
                <a:gd name="connsiteY3" fmla="*/ 0 h 10858"/>
                <a:gd name="connsiteX4" fmla="*/ 10858 w 10858"/>
                <a:gd name="connsiteY4" fmla="*/ 5429 h 10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58" h="10858">
                  <a:moveTo>
                    <a:pt x="10858" y="5429"/>
                  </a:moveTo>
                  <a:cubicBezTo>
                    <a:pt x="10858" y="8428"/>
                    <a:pt x="8428" y="10859"/>
                    <a:pt x="5429" y="10859"/>
                  </a:cubicBezTo>
                  <a:cubicBezTo>
                    <a:pt x="2431" y="10859"/>
                    <a:pt x="0" y="8428"/>
                    <a:pt x="0" y="5429"/>
                  </a:cubicBezTo>
                  <a:cubicBezTo>
                    <a:pt x="0" y="2431"/>
                    <a:pt x="2431" y="0"/>
                    <a:pt x="5429" y="0"/>
                  </a:cubicBezTo>
                  <a:cubicBezTo>
                    <a:pt x="8428" y="0"/>
                    <a:pt x="10858" y="2431"/>
                    <a:pt x="10858" y="54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6673786" y="3083623"/>
              <a:ext cx="571" cy="571"/>
            </a:xfrm>
            <a:custGeom>
              <a:avLst/>
              <a:gdLst>
                <a:gd name="connsiteX0" fmla="*/ 572 w 571"/>
                <a:gd name="connsiteY0" fmla="*/ 286 h 571"/>
                <a:gd name="connsiteX1" fmla="*/ 286 w 571"/>
                <a:gd name="connsiteY1" fmla="*/ 572 h 571"/>
                <a:gd name="connsiteX2" fmla="*/ 0 w 571"/>
                <a:gd name="connsiteY2" fmla="*/ 286 h 571"/>
                <a:gd name="connsiteX3" fmla="*/ 286 w 571"/>
                <a:gd name="connsiteY3" fmla="*/ 0 h 571"/>
                <a:gd name="connsiteX4" fmla="*/ 572 w 571"/>
                <a:gd name="connsiteY4" fmla="*/ 286 h 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" h="571">
                  <a:moveTo>
                    <a:pt x="572" y="286"/>
                  </a:moveTo>
                  <a:cubicBezTo>
                    <a:pt x="572" y="444"/>
                    <a:pt x="444" y="572"/>
                    <a:pt x="286" y="572"/>
                  </a:cubicBezTo>
                  <a:cubicBezTo>
                    <a:pt x="128" y="572"/>
                    <a:pt x="0" y="444"/>
                    <a:pt x="0" y="286"/>
                  </a:cubicBezTo>
                  <a:cubicBezTo>
                    <a:pt x="0" y="128"/>
                    <a:pt x="128" y="0"/>
                    <a:pt x="286" y="0"/>
                  </a:cubicBezTo>
                  <a:cubicBezTo>
                    <a:pt x="444" y="0"/>
                    <a:pt x="572" y="128"/>
                    <a:pt x="572" y="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5518213" y="3197352"/>
              <a:ext cx="3810" cy="3810"/>
            </a:xfrm>
            <a:custGeom>
              <a:avLst/>
              <a:gdLst>
                <a:gd name="connsiteX0" fmla="*/ 1905 w 3810"/>
                <a:gd name="connsiteY0" fmla="*/ 3810 h 3810"/>
                <a:gd name="connsiteX1" fmla="*/ 3810 w 3810"/>
                <a:gd name="connsiteY1" fmla="*/ 1905 h 3810"/>
                <a:gd name="connsiteX2" fmla="*/ 1905 w 3810"/>
                <a:gd name="connsiteY2" fmla="*/ 0 h 3810"/>
                <a:gd name="connsiteX3" fmla="*/ 0 w 3810"/>
                <a:gd name="connsiteY3" fmla="*/ 1905 h 3810"/>
                <a:gd name="connsiteX4" fmla="*/ 1905 w 3810"/>
                <a:gd name="connsiteY4" fmla="*/ 3810 h 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" h="3810">
                  <a:moveTo>
                    <a:pt x="1905" y="3810"/>
                  </a:moveTo>
                  <a:cubicBezTo>
                    <a:pt x="2953" y="3810"/>
                    <a:pt x="3810" y="2953"/>
                    <a:pt x="3810" y="1905"/>
                  </a:cubicBezTo>
                  <a:cubicBezTo>
                    <a:pt x="3810" y="857"/>
                    <a:pt x="2953" y="0"/>
                    <a:pt x="1905" y="0"/>
                  </a:cubicBezTo>
                  <a:cubicBezTo>
                    <a:pt x="857" y="0"/>
                    <a:pt x="0" y="857"/>
                    <a:pt x="0" y="1905"/>
                  </a:cubicBezTo>
                  <a:cubicBezTo>
                    <a:pt x="0" y="2953"/>
                    <a:pt x="857" y="3810"/>
                    <a:pt x="1905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5625560" y="3189351"/>
              <a:ext cx="19811" cy="19811"/>
            </a:xfrm>
            <a:custGeom>
              <a:avLst/>
              <a:gdLst>
                <a:gd name="connsiteX0" fmla="*/ 9906 w 19811"/>
                <a:gd name="connsiteY0" fmla="*/ 19812 h 19811"/>
                <a:gd name="connsiteX1" fmla="*/ 19812 w 19811"/>
                <a:gd name="connsiteY1" fmla="*/ 9906 h 19811"/>
                <a:gd name="connsiteX2" fmla="*/ 9906 w 19811"/>
                <a:gd name="connsiteY2" fmla="*/ 0 h 19811"/>
                <a:gd name="connsiteX3" fmla="*/ 0 w 19811"/>
                <a:gd name="connsiteY3" fmla="*/ 9906 h 19811"/>
                <a:gd name="connsiteX4" fmla="*/ 9906 w 19811"/>
                <a:gd name="connsiteY4" fmla="*/ 19812 h 19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11" h="19811">
                  <a:moveTo>
                    <a:pt x="9906" y="19812"/>
                  </a:moveTo>
                  <a:cubicBezTo>
                    <a:pt x="15430" y="19812"/>
                    <a:pt x="19812" y="15335"/>
                    <a:pt x="19812" y="9906"/>
                  </a:cubicBezTo>
                  <a:cubicBezTo>
                    <a:pt x="19812" y="4381"/>
                    <a:pt x="15335" y="0"/>
                    <a:pt x="9906" y="0"/>
                  </a:cubicBezTo>
                  <a:cubicBezTo>
                    <a:pt x="4382" y="0"/>
                    <a:pt x="0" y="4477"/>
                    <a:pt x="0" y="9906"/>
                  </a:cubicBezTo>
                  <a:cubicBezTo>
                    <a:pt x="0" y="15430"/>
                    <a:pt x="4477" y="19812"/>
                    <a:pt x="9906" y="198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5732715" y="3181159"/>
              <a:ext cx="36386" cy="36385"/>
            </a:xfrm>
            <a:custGeom>
              <a:avLst/>
              <a:gdLst>
                <a:gd name="connsiteX0" fmla="*/ 18194 w 36386"/>
                <a:gd name="connsiteY0" fmla="*/ 36385 h 36385"/>
                <a:gd name="connsiteX1" fmla="*/ 36386 w 36386"/>
                <a:gd name="connsiteY1" fmla="*/ 18193 h 36385"/>
                <a:gd name="connsiteX2" fmla="*/ 18194 w 36386"/>
                <a:gd name="connsiteY2" fmla="*/ 0 h 36385"/>
                <a:gd name="connsiteX3" fmla="*/ 1 w 36386"/>
                <a:gd name="connsiteY3" fmla="*/ 18193 h 36385"/>
                <a:gd name="connsiteX4" fmla="*/ 18194 w 36386"/>
                <a:gd name="connsiteY4" fmla="*/ 36385 h 36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86" h="36385">
                  <a:moveTo>
                    <a:pt x="18194" y="36385"/>
                  </a:moveTo>
                  <a:cubicBezTo>
                    <a:pt x="28290" y="36385"/>
                    <a:pt x="36386" y="28194"/>
                    <a:pt x="36386" y="18193"/>
                  </a:cubicBezTo>
                  <a:cubicBezTo>
                    <a:pt x="36386" y="8096"/>
                    <a:pt x="28195" y="0"/>
                    <a:pt x="18194" y="0"/>
                  </a:cubicBezTo>
                  <a:cubicBezTo>
                    <a:pt x="8097" y="0"/>
                    <a:pt x="1" y="8192"/>
                    <a:pt x="1" y="18193"/>
                  </a:cubicBezTo>
                  <a:cubicBezTo>
                    <a:pt x="-94" y="28194"/>
                    <a:pt x="8097" y="36385"/>
                    <a:pt x="18194" y="363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5840634" y="3173634"/>
              <a:ext cx="51244" cy="5124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5950362" y="3167919"/>
              <a:ext cx="62674" cy="62674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6063138" y="3165347"/>
              <a:ext cx="67817" cy="67817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6180486" y="3167253"/>
              <a:ext cx="64007" cy="64007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6301644" y="3173158"/>
              <a:ext cx="52387" cy="52387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6424421" y="3180397"/>
              <a:ext cx="37719" cy="37718"/>
            </a:xfrm>
            <a:custGeom>
              <a:avLst/>
              <a:gdLst>
                <a:gd name="connsiteX0" fmla="*/ 18860 w 37719"/>
                <a:gd name="connsiteY0" fmla="*/ 37719 h 37718"/>
                <a:gd name="connsiteX1" fmla="*/ 37720 w 37719"/>
                <a:gd name="connsiteY1" fmla="*/ 18859 h 37718"/>
                <a:gd name="connsiteX2" fmla="*/ 18860 w 37719"/>
                <a:gd name="connsiteY2" fmla="*/ 0 h 37718"/>
                <a:gd name="connsiteX3" fmla="*/ 1 w 37719"/>
                <a:gd name="connsiteY3" fmla="*/ 18859 h 37718"/>
                <a:gd name="connsiteX4" fmla="*/ 18860 w 37719"/>
                <a:gd name="connsiteY4" fmla="*/ 37719 h 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19" h="37718">
                  <a:moveTo>
                    <a:pt x="18860" y="37719"/>
                  </a:moveTo>
                  <a:cubicBezTo>
                    <a:pt x="29243" y="37719"/>
                    <a:pt x="37720" y="29242"/>
                    <a:pt x="37720" y="18859"/>
                  </a:cubicBezTo>
                  <a:cubicBezTo>
                    <a:pt x="37720" y="8477"/>
                    <a:pt x="29243" y="0"/>
                    <a:pt x="18860" y="0"/>
                  </a:cubicBezTo>
                  <a:cubicBezTo>
                    <a:pt x="8478" y="0"/>
                    <a:pt x="1" y="8477"/>
                    <a:pt x="1" y="18859"/>
                  </a:cubicBezTo>
                  <a:cubicBezTo>
                    <a:pt x="-94" y="29337"/>
                    <a:pt x="8383" y="37719"/>
                    <a:pt x="18860" y="377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6548056" y="3188684"/>
              <a:ext cx="21145" cy="21145"/>
            </a:xfrm>
            <a:custGeom>
              <a:avLst/>
              <a:gdLst>
                <a:gd name="connsiteX0" fmla="*/ 21146 w 21145"/>
                <a:gd name="connsiteY0" fmla="*/ 10573 h 21145"/>
                <a:gd name="connsiteX1" fmla="*/ 10573 w 21145"/>
                <a:gd name="connsiteY1" fmla="*/ 21146 h 21145"/>
                <a:gd name="connsiteX2" fmla="*/ 0 w 21145"/>
                <a:gd name="connsiteY2" fmla="*/ 10573 h 21145"/>
                <a:gd name="connsiteX3" fmla="*/ 10573 w 21145"/>
                <a:gd name="connsiteY3" fmla="*/ 0 h 21145"/>
                <a:gd name="connsiteX4" fmla="*/ 21146 w 21145"/>
                <a:gd name="connsiteY4" fmla="*/ 10573 h 2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45" h="21145">
                  <a:moveTo>
                    <a:pt x="21146" y="10573"/>
                  </a:moveTo>
                  <a:cubicBezTo>
                    <a:pt x="21146" y="16412"/>
                    <a:pt x="16412" y="21146"/>
                    <a:pt x="10573" y="21146"/>
                  </a:cubicBezTo>
                  <a:cubicBezTo>
                    <a:pt x="4734" y="21146"/>
                    <a:pt x="0" y="16412"/>
                    <a:pt x="0" y="10573"/>
                  </a:cubicBezTo>
                  <a:cubicBezTo>
                    <a:pt x="0" y="4734"/>
                    <a:pt x="4734" y="0"/>
                    <a:pt x="10573" y="0"/>
                  </a:cubicBezTo>
                  <a:cubicBezTo>
                    <a:pt x="16412" y="0"/>
                    <a:pt x="21146" y="4734"/>
                    <a:pt x="21146" y="105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6671500" y="3196685"/>
              <a:ext cx="5143" cy="5143"/>
            </a:xfrm>
            <a:custGeom>
              <a:avLst/>
              <a:gdLst>
                <a:gd name="connsiteX0" fmla="*/ 2572 w 5143"/>
                <a:gd name="connsiteY0" fmla="*/ 5144 h 5143"/>
                <a:gd name="connsiteX1" fmla="*/ 5144 w 5143"/>
                <a:gd name="connsiteY1" fmla="*/ 2572 h 5143"/>
                <a:gd name="connsiteX2" fmla="*/ 2572 w 5143"/>
                <a:gd name="connsiteY2" fmla="*/ 0 h 5143"/>
                <a:gd name="connsiteX3" fmla="*/ 0 w 5143"/>
                <a:gd name="connsiteY3" fmla="*/ 2572 h 5143"/>
                <a:gd name="connsiteX4" fmla="*/ 2572 w 5143"/>
                <a:gd name="connsiteY4" fmla="*/ 5144 h 5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" h="5143">
                  <a:moveTo>
                    <a:pt x="2572" y="5144"/>
                  </a:moveTo>
                  <a:cubicBezTo>
                    <a:pt x="4000" y="5144"/>
                    <a:pt x="5144" y="4000"/>
                    <a:pt x="5144" y="2572"/>
                  </a:cubicBezTo>
                  <a:cubicBezTo>
                    <a:pt x="5144" y="1143"/>
                    <a:pt x="4000" y="0"/>
                    <a:pt x="2572" y="0"/>
                  </a:cubicBezTo>
                  <a:cubicBezTo>
                    <a:pt x="1143" y="0"/>
                    <a:pt x="0" y="1143"/>
                    <a:pt x="0" y="2572"/>
                  </a:cubicBezTo>
                  <a:cubicBezTo>
                    <a:pt x="0" y="4000"/>
                    <a:pt x="1143" y="5144"/>
                    <a:pt x="2572" y="5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5515927" y="3310509"/>
              <a:ext cx="8381" cy="8381"/>
            </a:xfrm>
            <a:custGeom>
              <a:avLst/>
              <a:gdLst>
                <a:gd name="connsiteX0" fmla="*/ 8382 w 8381"/>
                <a:gd name="connsiteY0" fmla="*/ 4191 h 8381"/>
                <a:gd name="connsiteX1" fmla="*/ 4191 w 8381"/>
                <a:gd name="connsiteY1" fmla="*/ 8382 h 8381"/>
                <a:gd name="connsiteX2" fmla="*/ 0 w 8381"/>
                <a:gd name="connsiteY2" fmla="*/ 4191 h 8381"/>
                <a:gd name="connsiteX3" fmla="*/ 4191 w 8381"/>
                <a:gd name="connsiteY3" fmla="*/ 0 h 8381"/>
                <a:gd name="connsiteX4" fmla="*/ 8382 w 8381"/>
                <a:gd name="connsiteY4" fmla="*/ 4191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1" h="8381">
                  <a:moveTo>
                    <a:pt x="8382" y="4191"/>
                  </a:moveTo>
                  <a:cubicBezTo>
                    <a:pt x="8382" y="6506"/>
                    <a:pt x="6506" y="8382"/>
                    <a:pt x="4191" y="8382"/>
                  </a:cubicBezTo>
                  <a:cubicBezTo>
                    <a:pt x="1876" y="8382"/>
                    <a:pt x="0" y="6506"/>
                    <a:pt x="0" y="4191"/>
                  </a:cubicBezTo>
                  <a:cubicBezTo>
                    <a:pt x="0" y="1876"/>
                    <a:pt x="1876" y="0"/>
                    <a:pt x="4191" y="0"/>
                  </a:cubicBezTo>
                  <a:cubicBezTo>
                    <a:pt x="6506" y="0"/>
                    <a:pt x="8382" y="1876"/>
                    <a:pt x="8382" y="41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5622035" y="3301269"/>
              <a:ext cx="26860" cy="26860"/>
            </a:xfrm>
            <a:custGeom>
              <a:avLst/>
              <a:gdLst>
                <a:gd name="connsiteX0" fmla="*/ 13430 w 26860"/>
                <a:gd name="connsiteY0" fmla="*/ 26860 h 26860"/>
                <a:gd name="connsiteX1" fmla="*/ 26861 w 26860"/>
                <a:gd name="connsiteY1" fmla="*/ 13430 h 26860"/>
                <a:gd name="connsiteX2" fmla="*/ 13430 w 26860"/>
                <a:gd name="connsiteY2" fmla="*/ 0 h 26860"/>
                <a:gd name="connsiteX3" fmla="*/ 0 w 26860"/>
                <a:gd name="connsiteY3" fmla="*/ 13430 h 26860"/>
                <a:gd name="connsiteX4" fmla="*/ 13430 w 26860"/>
                <a:gd name="connsiteY4" fmla="*/ 26860 h 2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0" h="26860">
                  <a:moveTo>
                    <a:pt x="13430" y="26860"/>
                  </a:moveTo>
                  <a:cubicBezTo>
                    <a:pt x="20860" y="26860"/>
                    <a:pt x="26861" y="20860"/>
                    <a:pt x="26861" y="13430"/>
                  </a:cubicBezTo>
                  <a:cubicBezTo>
                    <a:pt x="26861" y="6001"/>
                    <a:pt x="20860" y="0"/>
                    <a:pt x="13430" y="0"/>
                  </a:cubicBezTo>
                  <a:cubicBezTo>
                    <a:pt x="6001" y="0"/>
                    <a:pt x="0" y="6001"/>
                    <a:pt x="0" y="13430"/>
                  </a:cubicBezTo>
                  <a:cubicBezTo>
                    <a:pt x="0" y="20860"/>
                    <a:pt x="6001" y="26860"/>
                    <a:pt x="13430" y="2686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5728144" y="3291935"/>
              <a:ext cx="45529" cy="45529"/>
            </a:xfrm>
            <a:custGeom>
              <a:avLst/>
              <a:gdLst>
                <a:gd name="connsiteX0" fmla="*/ 45530 w 45529"/>
                <a:gd name="connsiteY0" fmla="*/ 22765 h 45529"/>
                <a:gd name="connsiteX1" fmla="*/ 22765 w 45529"/>
                <a:gd name="connsiteY1" fmla="*/ 45529 h 45529"/>
                <a:gd name="connsiteX2" fmla="*/ 0 w 45529"/>
                <a:gd name="connsiteY2" fmla="*/ 22765 h 45529"/>
                <a:gd name="connsiteX3" fmla="*/ 22765 w 45529"/>
                <a:gd name="connsiteY3" fmla="*/ 0 h 45529"/>
                <a:gd name="connsiteX4" fmla="*/ 45530 w 45529"/>
                <a:gd name="connsiteY4" fmla="*/ 22765 h 45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29" h="45529">
                  <a:moveTo>
                    <a:pt x="45530" y="22765"/>
                  </a:moveTo>
                  <a:cubicBezTo>
                    <a:pt x="45530" y="35337"/>
                    <a:pt x="35337" y="45529"/>
                    <a:pt x="22765" y="45529"/>
                  </a:cubicBezTo>
                  <a:cubicBezTo>
                    <a:pt x="10192" y="45529"/>
                    <a:pt x="0" y="35337"/>
                    <a:pt x="0" y="22765"/>
                  </a:cubicBezTo>
                  <a:cubicBezTo>
                    <a:pt x="0" y="10192"/>
                    <a:pt x="10192" y="0"/>
                    <a:pt x="22765" y="0"/>
                  </a:cubicBezTo>
                  <a:cubicBezTo>
                    <a:pt x="35337" y="0"/>
                    <a:pt x="45530" y="10192"/>
                    <a:pt x="45530" y="227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5834919" y="3283362"/>
              <a:ext cx="62674" cy="62674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5942647" y="3275647"/>
              <a:ext cx="78104" cy="78104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6053804" y="3271456"/>
              <a:ext cx="86487" cy="86486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6172771" y="3274980"/>
              <a:ext cx="79438" cy="79438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6295834" y="3282696"/>
              <a:ext cx="64007" cy="64007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6419850" y="3291363"/>
              <a:ext cx="46767" cy="46672"/>
            </a:xfrm>
            <a:custGeom>
              <a:avLst/>
              <a:gdLst>
                <a:gd name="connsiteX0" fmla="*/ 23431 w 46767"/>
                <a:gd name="connsiteY0" fmla="*/ 46673 h 46672"/>
                <a:gd name="connsiteX1" fmla="*/ 46768 w 46767"/>
                <a:gd name="connsiteY1" fmla="*/ 23336 h 46672"/>
                <a:gd name="connsiteX2" fmla="*/ 23431 w 46767"/>
                <a:gd name="connsiteY2" fmla="*/ 0 h 46672"/>
                <a:gd name="connsiteX3" fmla="*/ 0 w 46767"/>
                <a:gd name="connsiteY3" fmla="*/ 23336 h 46672"/>
                <a:gd name="connsiteX4" fmla="*/ 23431 w 46767"/>
                <a:gd name="connsiteY4" fmla="*/ 46673 h 46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767" h="46672">
                  <a:moveTo>
                    <a:pt x="23431" y="46673"/>
                  </a:moveTo>
                  <a:cubicBezTo>
                    <a:pt x="36290" y="46673"/>
                    <a:pt x="46768" y="36195"/>
                    <a:pt x="46768" y="23336"/>
                  </a:cubicBezTo>
                  <a:cubicBezTo>
                    <a:pt x="46768" y="10478"/>
                    <a:pt x="36290" y="0"/>
                    <a:pt x="23431" y="0"/>
                  </a:cubicBezTo>
                  <a:cubicBezTo>
                    <a:pt x="10573" y="0"/>
                    <a:pt x="0" y="10382"/>
                    <a:pt x="0" y="23336"/>
                  </a:cubicBezTo>
                  <a:cubicBezTo>
                    <a:pt x="0" y="36195"/>
                    <a:pt x="10477" y="46673"/>
                    <a:pt x="23431" y="46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6544532" y="3300603"/>
              <a:ext cx="28194" cy="28193"/>
            </a:xfrm>
            <a:custGeom>
              <a:avLst/>
              <a:gdLst>
                <a:gd name="connsiteX0" fmla="*/ 28194 w 28194"/>
                <a:gd name="connsiteY0" fmla="*/ 14097 h 28193"/>
                <a:gd name="connsiteX1" fmla="*/ 14097 w 28194"/>
                <a:gd name="connsiteY1" fmla="*/ 28194 h 28193"/>
                <a:gd name="connsiteX2" fmla="*/ 0 w 28194"/>
                <a:gd name="connsiteY2" fmla="*/ 14097 h 28193"/>
                <a:gd name="connsiteX3" fmla="*/ 14097 w 28194"/>
                <a:gd name="connsiteY3" fmla="*/ 0 h 28193"/>
                <a:gd name="connsiteX4" fmla="*/ 28194 w 28194"/>
                <a:gd name="connsiteY4" fmla="*/ 14097 h 28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94" h="28193">
                  <a:moveTo>
                    <a:pt x="28194" y="14097"/>
                  </a:moveTo>
                  <a:cubicBezTo>
                    <a:pt x="28194" y="21883"/>
                    <a:pt x="21883" y="28194"/>
                    <a:pt x="14097" y="28194"/>
                  </a:cubicBezTo>
                  <a:cubicBezTo>
                    <a:pt x="6311" y="28194"/>
                    <a:pt x="0" y="21883"/>
                    <a:pt x="0" y="14097"/>
                  </a:cubicBezTo>
                  <a:cubicBezTo>
                    <a:pt x="0" y="6311"/>
                    <a:pt x="6311" y="0"/>
                    <a:pt x="14097" y="0"/>
                  </a:cubicBezTo>
                  <a:cubicBezTo>
                    <a:pt x="21883" y="0"/>
                    <a:pt x="28194" y="6311"/>
                    <a:pt x="28194" y="1409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6669309" y="3309937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5514975" y="3424904"/>
              <a:ext cx="10287" cy="10286"/>
            </a:xfrm>
            <a:custGeom>
              <a:avLst/>
              <a:gdLst>
                <a:gd name="connsiteX0" fmla="*/ 10287 w 10287"/>
                <a:gd name="connsiteY0" fmla="*/ 5144 h 10286"/>
                <a:gd name="connsiteX1" fmla="*/ 5144 w 10287"/>
                <a:gd name="connsiteY1" fmla="*/ 10287 h 10286"/>
                <a:gd name="connsiteX2" fmla="*/ 0 w 10287"/>
                <a:gd name="connsiteY2" fmla="*/ 5144 h 10286"/>
                <a:gd name="connsiteX3" fmla="*/ 5144 w 10287"/>
                <a:gd name="connsiteY3" fmla="*/ 0 h 10286"/>
                <a:gd name="connsiteX4" fmla="*/ 10287 w 10287"/>
                <a:gd name="connsiteY4" fmla="*/ 5144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7" h="10286">
                  <a:moveTo>
                    <a:pt x="10287" y="5144"/>
                  </a:moveTo>
                  <a:cubicBezTo>
                    <a:pt x="10287" y="7984"/>
                    <a:pt x="7984" y="10287"/>
                    <a:pt x="5144" y="10287"/>
                  </a:cubicBezTo>
                  <a:cubicBezTo>
                    <a:pt x="2303" y="10287"/>
                    <a:pt x="0" y="7984"/>
                    <a:pt x="0" y="5144"/>
                  </a:cubicBezTo>
                  <a:cubicBezTo>
                    <a:pt x="0" y="2303"/>
                    <a:pt x="2303" y="0"/>
                    <a:pt x="5144" y="0"/>
                  </a:cubicBezTo>
                  <a:cubicBezTo>
                    <a:pt x="7984" y="0"/>
                    <a:pt x="10287" y="2303"/>
                    <a:pt x="10287" y="5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5620702" y="3415284"/>
              <a:ext cx="29527" cy="29527"/>
            </a:xfrm>
            <a:custGeom>
              <a:avLst/>
              <a:gdLst>
                <a:gd name="connsiteX0" fmla="*/ 14764 w 29527"/>
                <a:gd name="connsiteY0" fmla="*/ 29527 h 29527"/>
                <a:gd name="connsiteX1" fmla="*/ 29527 w 29527"/>
                <a:gd name="connsiteY1" fmla="*/ 14764 h 29527"/>
                <a:gd name="connsiteX2" fmla="*/ 14764 w 29527"/>
                <a:gd name="connsiteY2" fmla="*/ 0 h 29527"/>
                <a:gd name="connsiteX3" fmla="*/ 0 w 29527"/>
                <a:gd name="connsiteY3" fmla="*/ 14764 h 29527"/>
                <a:gd name="connsiteX4" fmla="*/ 14764 w 29527"/>
                <a:gd name="connsiteY4" fmla="*/ 29527 h 2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27" h="29527">
                  <a:moveTo>
                    <a:pt x="14764" y="29527"/>
                  </a:moveTo>
                  <a:cubicBezTo>
                    <a:pt x="22860" y="29527"/>
                    <a:pt x="29527" y="22955"/>
                    <a:pt x="29527" y="14764"/>
                  </a:cubicBezTo>
                  <a:cubicBezTo>
                    <a:pt x="29527" y="6667"/>
                    <a:pt x="22955" y="0"/>
                    <a:pt x="14764" y="0"/>
                  </a:cubicBezTo>
                  <a:cubicBezTo>
                    <a:pt x="6667" y="0"/>
                    <a:pt x="0" y="6572"/>
                    <a:pt x="0" y="14764"/>
                  </a:cubicBezTo>
                  <a:cubicBezTo>
                    <a:pt x="95" y="22955"/>
                    <a:pt x="6667" y="29527"/>
                    <a:pt x="14764" y="295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5726619" y="3405854"/>
              <a:ext cx="48578" cy="48577"/>
            </a:xfrm>
            <a:custGeom>
              <a:avLst/>
              <a:gdLst>
                <a:gd name="connsiteX0" fmla="*/ 24289 w 48578"/>
                <a:gd name="connsiteY0" fmla="*/ 48577 h 48577"/>
                <a:gd name="connsiteX1" fmla="*/ 48578 w 48578"/>
                <a:gd name="connsiteY1" fmla="*/ 24289 h 48577"/>
                <a:gd name="connsiteX2" fmla="*/ 24289 w 48578"/>
                <a:gd name="connsiteY2" fmla="*/ 0 h 48577"/>
                <a:gd name="connsiteX3" fmla="*/ 1 w 48578"/>
                <a:gd name="connsiteY3" fmla="*/ 24289 h 48577"/>
                <a:gd name="connsiteX4" fmla="*/ 24289 w 48578"/>
                <a:gd name="connsiteY4" fmla="*/ 48577 h 4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578" h="48577">
                  <a:moveTo>
                    <a:pt x="24289" y="48577"/>
                  </a:moveTo>
                  <a:cubicBezTo>
                    <a:pt x="37720" y="48577"/>
                    <a:pt x="48578" y="37719"/>
                    <a:pt x="48578" y="24289"/>
                  </a:cubicBezTo>
                  <a:cubicBezTo>
                    <a:pt x="48578" y="10858"/>
                    <a:pt x="37720" y="0"/>
                    <a:pt x="24289" y="0"/>
                  </a:cubicBezTo>
                  <a:cubicBezTo>
                    <a:pt x="10859" y="0"/>
                    <a:pt x="1" y="10858"/>
                    <a:pt x="1" y="24289"/>
                  </a:cubicBezTo>
                  <a:cubicBezTo>
                    <a:pt x="-95" y="37624"/>
                    <a:pt x="10859" y="48577"/>
                    <a:pt x="24289" y="485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5832347" y="3396138"/>
              <a:ext cx="67817" cy="67817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5938456" y="3386804"/>
              <a:ext cx="86486" cy="86487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6047136" y="3380136"/>
              <a:ext cx="99821" cy="99821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6168675" y="3386232"/>
              <a:ext cx="87629" cy="87629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6293262" y="3395471"/>
              <a:ext cx="69151" cy="69151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6418325" y="3405092"/>
              <a:ext cx="49911" cy="49910"/>
            </a:xfrm>
            <a:custGeom>
              <a:avLst/>
              <a:gdLst>
                <a:gd name="connsiteX0" fmla="*/ 24956 w 49911"/>
                <a:gd name="connsiteY0" fmla="*/ 49911 h 49910"/>
                <a:gd name="connsiteX1" fmla="*/ 49911 w 49911"/>
                <a:gd name="connsiteY1" fmla="*/ 24955 h 49910"/>
                <a:gd name="connsiteX2" fmla="*/ 24956 w 49911"/>
                <a:gd name="connsiteY2" fmla="*/ 0 h 49910"/>
                <a:gd name="connsiteX3" fmla="*/ 0 w 49911"/>
                <a:gd name="connsiteY3" fmla="*/ 24955 h 49910"/>
                <a:gd name="connsiteX4" fmla="*/ 24956 w 49911"/>
                <a:gd name="connsiteY4" fmla="*/ 49911 h 49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11" h="49910">
                  <a:moveTo>
                    <a:pt x="24956" y="49911"/>
                  </a:moveTo>
                  <a:cubicBezTo>
                    <a:pt x="38767" y="49911"/>
                    <a:pt x="49911" y="38767"/>
                    <a:pt x="49911" y="24955"/>
                  </a:cubicBezTo>
                  <a:cubicBezTo>
                    <a:pt x="49911" y="11144"/>
                    <a:pt x="38767" y="0"/>
                    <a:pt x="24956" y="0"/>
                  </a:cubicBezTo>
                  <a:cubicBezTo>
                    <a:pt x="11144" y="0"/>
                    <a:pt x="0" y="11144"/>
                    <a:pt x="0" y="24955"/>
                  </a:cubicBezTo>
                  <a:cubicBezTo>
                    <a:pt x="0" y="38767"/>
                    <a:pt x="11144" y="49911"/>
                    <a:pt x="24956" y="499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6543293" y="3414712"/>
              <a:ext cx="30670" cy="30670"/>
            </a:xfrm>
            <a:custGeom>
              <a:avLst/>
              <a:gdLst>
                <a:gd name="connsiteX0" fmla="*/ 15335 w 30670"/>
                <a:gd name="connsiteY0" fmla="*/ 30671 h 30670"/>
                <a:gd name="connsiteX1" fmla="*/ 30671 w 30670"/>
                <a:gd name="connsiteY1" fmla="*/ 15335 h 30670"/>
                <a:gd name="connsiteX2" fmla="*/ 15335 w 30670"/>
                <a:gd name="connsiteY2" fmla="*/ 0 h 30670"/>
                <a:gd name="connsiteX3" fmla="*/ 0 w 30670"/>
                <a:gd name="connsiteY3" fmla="*/ 15335 h 30670"/>
                <a:gd name="connsiteX4" fmla="*/ 15335 w 30670"/>
                <a:gd name="connsiteY4" fmla="*/ 30671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30670">
                  <a:moveTo>
                    <a:pt x="15335" y="30671"/>
                  </a:moveTo>
                  <a:cubicBezTo>
                    <a:pt x="23813" y="30671"/>
                    <a:pt x="30671" y="23813"/>
                    <a:pt x="30671" y="15335"/>
                  </a:cubicBezTo>
                  <a:cubicBezTo>
                    <a:pt x="30671" y="6858"/>
                    <a:pt x="23813" y="0"/>
                    <a:pt x="15335" y="0"/>
                  </a:cubicBezTo>
                  <a:cubicBezTo>
                    <a:pt x="6858" y="0"/>
                    <a:pt x="0" y="6858"/>
                    <a:pt x="0" y="15335"/>
                  </a:cubicBezTo>
                  <a:cubicBezTo>
                    <a:pt x="0" y="23813"/>
                    <a:pt x="6858" y="30671"/>
                    <a:pt x="15335" y="30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6668357" y="3424332"/>
              <a:ext cx="11429" cy="11430"/>
            </a:xfrm>
            <a:custGeom>
              <a:avLst/>
              <a:gdLst>
                <a:gd name="connsiteX0" fmla="*/ 11430 w 11429"/>
                <a:gd name="connsiteY0" fmla="*/ 5715 h 11430"/>
                <a:gd name="connsiteX1" fmla="*/ 5715 w 11429"/>
                <a:gd name="connsiteY1" fmla="*/ 11430 h 11430"/>
                <a:gd name="connsiteX2" fmla="*/ 0 w 11429"/>
                <a:gd name="connsiteY2" fmla="*/ 5715 h 11430"/>
                <a:gd name="connsiteX3" fmla="*/ 5715 w 11429"/>
                <a:gd name="connsiteY3" fmla="*/ 0 h 11430"/>
                <a:gd name="connsiteX4" fmla="*/ 11430 w 11429"/>
                <a:gd name="connsiteY4" fmla="*/ 5715 h 1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29" h="11430">
                  <a:moveTo>
                    <a:pt x="11430" y="5715"/>
                  </a:moveTo>
                  <a:cubicBezTo>
                    <a:pt x="11430" y="8871"/>
                    <a:pt x="8871" y="11430"/>
                    <a:pt x="5715" y="11430"/>
                  </a:cubicBezTo>
                  <a:cubicBezTo>
                    <a:pt x="2559" y="11430"/>
                    <a:pt x="0" y="8871"/>
                    <a:pt x="0" y="5715"/>
                  </a:cubicBezTo>
                  <a:cubicBezTo>
                    <a:pt x="0" y="2559"/>
                    <a:pt x="2559" y="0"/>
                    <a:pt x="5715" y="0"/>
                  </a:cubicBezTo>
                  <a:cubicBezTo>
                    <a:pt x="8871" y="0"/>
                    <a:pt x="11430" y="2559"/>
                    <a:pt x="11430" y="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5515927" y="3541204"/>
              <a:ext cx="8382" cy="8382"/>
            </a:xfrm>
            <a:custGeom>
              <a:avLst/>
              <a:gdLst>
                <a:gd name="connsiteX0" fmla="*/ 4191 w 8382"/>
                <a:gd name="connsiteY0" fmla="*/ 8382 h 8382"/>
                <a:gd name="connsiteX1" fmla="*/ 8382 w 8382"/>
                <a:gd name="connsiteY1" fmla="*/ 4191 h 8382"/>
                <a:gd name="connsiteX2" fmla="*/ 4191 w 8382"/>
                <a:gd name="connsiteY2" fmla="*/ 0 h 8382"/>
                <a:gd name="connsiteX3" fmla="*/ 0 w 8382"/>
                <a:gd name="connsiteY3" fmla="*/ 4191 h 8382"/>
                <a:gd name="connsiteX4" fmla="*/ 4191 w 8382"/>
                <a:gd name="connsiteY4" fmla="*/ 838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2" h="8382">
                  <a:moveTo>
                    <a:pt x="4191" y="8382"/>
                  </a:moveTo>
                  <a:cubicBezTo>
                    <a:pt x="6477" y="8382"/>
                    <a:pt x="8382" y="6477"/>
                    <a:pt x="8382" y="4191"/>
                  </a:cubicBezTo>
                  <a:cubicBezTo>
                    <a:pt x="8382" y="1905"/>
                    <a:pt x="6477" y="0"/>
                    <a:pt x="4191" y="0"/>
                  </a:cubicBezTo>
                  <a:cubicBezTo>
                    <a:pt x="1905" y="0"/>
                    <a:pt x="0" y="1905"/>
                    <a:pt x="0" y="4191"/>
                  </a:cubicBezTo>
                  <a:cubicBezTo>
                    <a:pt x="0" y="6477"/>
                    <a:pt x="1905" y="8382"/>
                    <a:pt x="4191" y="83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" name="任意多边形: 形状 93"/>
            <p:cNvSpPr/>
            <p:nvPr/>
          </p:nvSpPr>
          <p:spPr>
            <a:xfrm>
              <a:off x="5622035" y="3532060"/>
              <a:ext cx="26860" cy="26860"/>
            </a:xfrm>
            <a:custGeom>
              <a:avLst/>
              <a:gdLst>
                <a:gd name="connsiteX0" fmla="*/ 13430 w 26860"/>
                <a:gd name="connsiteY0" fmla="*/ 26860 h 26860"/>
                <a:gd name="connsiteX1" fmla="*/ 26861 w 26860"/>
                <a:gd name="connsiteY1" fmla="*/ 13430 h 26860"/>
                <a:gd name="connsiteX2" fmla="*/ 13430 w 26860"/>
                <a:gd name="connsiteY2" fmla="*/ 0 h 26860"/>
                <a:gd name="connsiteX3" fmla="*/ 0 w 26860"/>
                <a:gd name="connsiteY3" fmla="*/ 13430 h 26860"/>
                <a:gd name="connsiteX4" fmla="*/ 13430 w 26860"/>
                <a:gd name="connsiteY4" fmla="*/ 26860 h 2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0" h="26860">
                  <a:moveTo>
                    <a:pt x="13430" y="26860"/>
                  </a:moveTo>
                  <a:cubicBezTo>
                    <a:pt x="20860" y="26860"/>
                    <a:pt x="26861" y="20860"/>
                    <a:pt x="26861" y="13430"/>
                  </a:cubicBezTo>
                  <a:cubicBezTo>
                    <a:pt x="26861" y="6001"/>
                    <a:pt x="20860" y="0"/>
                    <a:pt x="13430" y="0"/>
                  </a:cubicBezTo>
                  <a:cubicBezTo>
                    <a:pt x="6001" y="0"/>
                    <a:pt x="0" y="6001"/>
                    <a:pt x="0" y="13430"/>
                  </a:cubicBezTo>
                  <a:cubicBezTo>
                    <a:pt x="0" y="20860"/>
                    <a:pt x="6001" y="26860"/>
                    <a:pt x="13430" y="2686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5728144" y="3522726"/>
              <a:ext cx="45529" cy="45529"/>
            </a:xfrm>
            <a:custGeom>
              <a:avLst/>
              <a:gdLst>
                <a:gd name="connsiteX0" fmla="*/ 45530 w 45529"/>
                <a:gd name="connsiteY0" fmla="*/ 22765 h 45529"/>
                <a:gd name="connsiteX1" fmla="*/ 22765 w 45529"/>
                <a:gd name="connsiteY1" fmla="*/ 45530 h 45529"/>
                <a:gd name="connsiteX2" fmla="*/ 0 w 45529"/>
                <a:gd name="connsiteY2" fmla="*/ 22765 h 45529"/>
                <a:gd name="connsiteX3" fmla="*/ 22765 w 45529"/>
                <a:gd name="connsiteY3" fmla="*/ 0 h 45529"/>
                <a:gd name="connsiteX4" fmla="*/ 45530 w 45529"/>
                <a:gd name="connsiteY4" fmla="*/ 22765 h 45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29" h="45529">
                  <a:moveTo>
                    <a:pt x="45530" y="22765"/>
                  </a:moveTo>
                  <a:cubicBezTo>
                    <a:pt x="45530" y="35337"/>
                    <a:pt x="35337" y="45530"/>
                    <a:pt x="22765" y="45530"/>
                  </a:cubicBezTo>
                  <a:cubicBezTo>
                    <a:pt x="10192" y="45530"/>
                    <a:pt x="0" y="35337"/>
                    <a:pt x="0" y="22765"/>
                  </a:cubicBezTo>
                  <a:cubicBezTo>
                    <a:pt x="0" y="10192"/>
                    <a:pt x="10192" y="0"/>
                    <a:pt x="22765" y="0"/>
                  </a:cubicBezTo>
                  <a:cubicBezTo>
                    <a:pt x="35337" y="0"/>
                    <a:pt x="45530" y="10192"/>
                    <a:pt x="45530" y="227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5834253" y="3513486"/>
              <a:ext cx="64007" cy="64007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5941980" y="3505676"/>
              <a:ext cx="79438" cy="79438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6053232" y="3501675"/>
              <a:ext cx="87629" cy="87629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6172199" y="3505200"/>
              <a:ext cx="80581" cy="80581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6295167" y="3512820"/>
              <a:ext cx="65341" cy="65341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6419564" y="3521678"/>
              <a:ext cx="47434" cy="47434"/>
            </a:xfrm>
            <a:custGeom>
              <a:avLst/>
              <a:gdLst>
                <a:gd name="connsiteX0" fmla="*/ 23717 w 47434"/>
                <a:gd name="connsiteY0" fmla="*/ 47434 h 47434"/>
                <a:gd name="connsiteX1" fmla="*/ 47434 w 47434"/>
                <a:gd name="connsiteY1" fmla="*/ 23717 h 47434"/>
                <a:gd name="connsiteX2" fmla="*/ 23717 w 47434"/>
                <a:gd name="connsiteY2" fmla="*/ 0 h 47434"/>
                <a:gd name="connsiteX3" fmla="*/ 0 w 47434"/>
                <a:gd name="connsiteY3" fmla="*/ 23717 h 47434"/>
                <a:gd name="connsiteX4" fmla="*/ 23717 w 47434"/>
                <a:gd name="connsiteY4" fmla="*/ 47434 h 4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34" h="47434">
                  <a:moveTo>
                    <a:pt x="23717" y="47434"/>
                  </a:moveTo>
                  <a:cubicBezTo>
                    <a:pt x="36767" y="47434"/>
                    <a:pt x="47434" y="36862"/>
                    <a:pt x="47434" y="23717"/>
                  </a:cubicBezTo>
                  <a:cubicBezTo>
                    <a:pt x="47434" y="10668"/>
                    <a:pt x="36862" y="0"/>
                    <a:pt x="23717" y="0"/>
                  </a:cubicBezTo>
                  <a:cubicBezTo>
                    <a:pt x="10668" y="0"/>
                    <a:pt x="0" y="10573"/>
                    <a:pt x="0" y="23717"/>
                  </a:cubicBezTo>
                  <a:cubicBezTo>
                    <a:pt x="0" y="36862"/>
                    <a:pt x="10573" y="47434"/>
                    <a:pt x="23717" y="474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" name="任意多边形: 形状 101"/>
            <p:cNvSpPr/>
            <p:nvPr/>
          </p:nvSpPr>
          <p:spPr>
            <a:xfrm>
              <a:off x="6544246" y="3531108"/>
              <a:ext cx="28765" cy="28765"/>
            </a:xfrm>
            <a:custGeom>
              <a:avLst/>
              <a:gdLst>
                <a:gd name="connsiteX0" fmla="*/ 14383 w 28765"/>
                <a:gd name="connsiteY0" fmla="*/ 28765 h 28765"/>
                <a:gd name="connsiteX1" fmla="*/ 28766 w 28765"/>
                <a:gd name="connsiteY1" fmla="*/ 14383 h 28765"/>
                <a:gd name="connsiteX2" fmla="*/ 14383 w 28765"/>
                <a:gd name="connsiteY2" fmla="*/ 0 h 28765"/>
                <a:gd name="connsiteX3" fmla="*/ 0 w 28765"/>
                <a:gd name="connsiteY3" fmla="*/ 14383 h 28765"/>
                <a:gd name="connsiteX4" fmla="*/ 14383 w 28765"/>
                <a:gd name="connsiteY4" fmla="*/ 28765 h 28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65" h="28765">
                  <a:moveTo>
                    <a:pt x="14383" y="28765"/>
                  </a:moveTo>
                  <a:cubicBezTo>
                    <a:pt x="22289" y="28765"/>
                    <a:pt x="28766" y="22288"/>
                    <a:pt x="28766" y="14383"/>
                  </a:cubicBezTo>
                  <a:cubicBezTo>
                    <a:pt x="28766" y="6477"/>
                    <a:pt x="22289" y="0"/>
                    <a:pt x="14383" y="0"/>
                  </a:cubicBezTo>
                  <a:cubicBezTo>
                    <a:pt x="6477" y="0"/>
                    <a:pt x="0" y="6477"/>
                    <a:pt x="0" y="14383"/>
                  </a:cubicBezTo>
                  <a:cubicBezTo>
                    <a:pt x="0" y="22288"/>
                    <a:pt x="6477" y="28765"/>
                    <a:pt x="14383" y="287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6668928" y="3540347"/>
              <a:ext cx="10287" cy="10287"/>
            </a:xfrm>
            <a:custGeom>
              <a:avLst/>
              <a:gdLst>
                <a:gd name="connsiteX0" fmla="*/ 10287 w 10287"/>
                <a:gd name="connsiteY0" fmla="*/ 5144 h 10287"/>
                <a:gd name="connsiteX1" fmla="*/ 5144 w 10287"/>
                <a:gd name="connsiteY1" fmla="*/ 10287 h 10287"/>
                <a:gd name="connsiteX2" fmla="*/ 0 w 10287"/>
                <a:gd name="connsiteY2" fmla="*/ 5144 h 10287"/>
                <a:gd name="connsiteX3" fmla="*/ 5144 w 10287"/>
                <a:gd name="connsiteY3" fmla="*/ 0 h 10287"/>
                <a:gd name="connsiteX4" fmla="*/ 10287 w 10287"/>
                <a:gd name="connsiteY4" fmla="*/ 5144 h 10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7" h="10287">
                  <a:moveTo>
                    <a:pt x="10287" y="5144"/>
                  </a:moveTo>
                  <a:cubicBezTo>
                    <a:pt x="10287" y="7984"/>
                    <a:pt x="7984" y="10287"/>
                    <a:pt x="5144" y="10287"/>
                  </a:cubicBezTo>
                  <a:cubicBezTo>
                    <a:pt x="2303" y="10287"/>
                    <a:pt x="0" y="7984"/>
                    <a:pt x="0" y="5144"/>
                  </a:cubicBezTo>
                  <a:cubicBezTo>
                    <a:pt x="0" y="2303"/>
                    <a:pt x="2303" y="0"/>
                    <a:pt x="5144" y="0"/>
                  </a:cubicBezTo>
                  <a:cubicBezTo>
                    <a:pt x="7984" y="0"/>
                    <a:pt x="10287" y="2303"/>
                    <a:pt x="10287" y="5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5517832" y="3658552"/>
              <a:ext cx="4571" cy="4572"/>
            </a:xfrm>
            <a:custGeom>
              <a:avLst/>
              <a:gdLst>
                <a:gd name="connsiteX0" fmla="*/ 2286 w 4571"/>
                <a:gd name="connsiteY0" fmla="*/ 4572 h 4572"/>
                <a:gd name="connsiteX1" fmla="*/ 4572 w 4571"/>
                <a:gd name="connsiteY1" fmla="*/ 2286 h 4572"/>
                <a:gd name="connsiteX2" fmla="*/ 2286 w 4571"/>
                <a:gd name="connsiteY2" fmla="*/ 0 h 4572"/>
                <a:gd name="connsiteX3" fmla="*/ 0 w 4571"/>
                <a:gd name="connsiteY3" fmla="*/ 2286 h 4572"/>
                <a:gd name="connsiteX4" fmla="*/ 2286 w 4571"/>
                <a:gd name="connsiteY4" fmla="*/ 4572 h 4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1" h="4572">
                  <a:moveTo>
                    <a:pt x="2286" y="4572"/>
                  </a:moveTo>
                  <a:cubicBezTo>
                    <a:pt x="3524" y="4572"/>
                    <a:pt x="4572" y="3524"/>
                    <a:pt x="4572" y="2286"/>
                  </a:cubicBezTo>
                  <a:cubicBezTo>
                    <a:pt x="4572" y="1048"/>
                    <a:pt x="3524" y="0"/>
                    <a:pt x="2286" y="0"/>
                  </a:cubicBezTo>
                  <a:cubicBezTo>
                    <a:pt x="1048" y="0"/>
                    <a:pt x="0" y="1048"/>
                    <a:pt x="0" y="2286"/>
                  </a:cubicBezTo>
                  <a:cubicBezTo>
                    <a:pt x="0" y="3524"/>
                    <a:pt x="1048" y="4572"/>
                    <a:pt x="2286" y="45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" name="任意多边形: 形状 104"/>
            <p:cNvSpPr/>
            <p:nvPr/>
          </p:nvSpPr>
          <p:spPr>
            <a:xfrm>
              <a:off x="5625179" y="3650646"/>
              <a:ext cx="20478" cy="20478"/>
            </a:xfrm>
            <a:custGeom>
              <a:avLst/>
              <a:gdLst>
                <a:gd name="connsiteX0" fmla="*/ 10287 w 20478"/>
                <a:gd name="connsiteY0" fmla="*/ 20479 h 20478"/>
                <a:gd name="connsiteX1" fmla="*/ 20479 w 20478"/>
                <a:gd name="connsiteY1" fmla="*/ 10192 h 20478"/>
                <a:gd name="connsiteX2" fmla="*/ 10287 w 20478"/>
                <a:gd name="connsiteY2" fmla="*/ 0 h 20478"/>
                <a:gd name="connsiteX3" fmla="*/ 0 w 20478"/>
                <a:gd name="connsiteY3" fmla="*/ 10192 h 20478"/>
                <a:gd name="connsiteX4" fmla="*/ 10287 w 20478"/>
                <a:gd name="connsiteY4" fmla="*/ 20479 h 2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78" h="20478">
                  <a:moveTo>
                    <a:pt x="10287" y="20479"/>
                  </a:moveTo>
                  <a:cubicBezTo>
                    <a:pt x="15907" y="20479"/>
                    <a:pt x="20479" y="15907"/>
                    <a:pt x="20479" y="10192"/>
                  </a:cubicBezTo>
                  <a:cubicBezTo>
                    <a:pt x="20479" y="4572"/>
                    <a:pt x="15907" y="0"/>
                    <a:pt x="10287" y="0"/>
                  </a:cubicBezTo>
                  <a:cubicBezTo>
                    <a:pt x="4667" y="0"/>
                    <a:pt x="0" y="4572"/>
                    <a:pt x="0" y="10192"/>
                  </a:cubicBezTo>
                  <a:cubicBezTo>
                    <a:pt x="95" y="15907"/>
                    <a:pt x="4667" y="20479"/>
                    <a:pt x="10287" y="204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" name="任意多边形: 形状 105"/>
            <p:cNvSpPr/>
            <p:nvPr/>
          </p:nvSpPr>
          <p:spPr>
            <a:xfrm>
              <a:off x="5732049" y="3641979"/>
              <a:ext cx="37718" cy="37718"/>
            </a:xfrm>
            <a:custGeom>
              <a:avLst/>
              <a:gdLst>
                <a:gd name="connsiteX0" fmla="*/ 18859 w 37718"/>
                <a:gd name="connsiteY0" fmla="*/ 37719 h 37718"/>
                <a:gd name="connsiteX1" fmla="*/ 37719 w 37718"/>
                <a:gd name="connsiteY1" fmla="*/ 18859 h 37718"/>
                <a:gd name="connsiteX2" fmla="*/ 18859 w 37718"/>
                <a:gd name="connsiteY2" fmla="*/ 0 h 37718"/>
                <a:gd name="connsiteX3" fmla="*/ 0 w 37718"/>
                <a:gd name="connsiteY3" fmla="*/ 18859 h 37718"/>
                <a:gd name="connsiteX4" fmla="*/ 18859 w 37718"/>
                <a:gd name="connsiteY4" fmla="*/ 37719 h 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18" h="37718">
                  <a:moveTo>
                    <a:pt x="18859" y="37719"/>
                  </a:moveTo>
                  <a:cubicBezTo>
                    <a:pt x="29242" y="37719"/>
                    <a:pt x="37719" y="29242"/>
                    <a:pt x="37719" y="18859"/>
                  </a:cubicBezTo>
                  <a:cubicBezTo>
                    <a:pt x="37719" y="8477"/>
                    <a:pt x="29242" y="0"/>
                    <a:pt x="18859" y="0"/>
                  </a:cubicBezTo>
                  <a:cubicBezTo>
                    <a:pt x="8477" y="0"/>
                    <a:pt x="0" y="8477"/>
                    <a:pt x="0" y="18859"/>
                  </a:cubicBezTo>
                  <a:cubicBezTo>
                    <a:pt x="0" y="29337"/>
                    <a:pt x="8382" y="37719"/>
                    <a:pt x="18859" y="377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5840063" y="3634644"/>
              <a:ext cx="52387" cy="52387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5949695" y="3628834"/>
              <a:ext cx="64008" cy="64007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" name="任意多边形: 形状 108"/>
            <p:cNvSpPr/>
            <p:nvPr/>
          </p:nvSpPr>
          <p:spPr>
            <a:xfrm>
              <a:off x="6062471" y="3626262"/>
              <a:ext cx="69151" cy="69151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" name="任意多边形: 形状 109"/>
            <p:cNvSpPr/>
            <p:nvPr/>
          </p:nvSpPr>
          <p:spPr>
            <a:xfrm>
              <a:off x="6179820" y="3628167"/>
              <a:ext cx="65341" cy="65341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" name="任意多边形: 形状 110"/>
            <p:cNvSpPr/>
            <p:nvPr/>
          </p:nvSpPr>
          <p:spPr>
            <a:xfrm>
              <a:off x="6300978" y="3633978"/>
              <a:ext cx="53720" cy="53720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" name="任意多边形: 形状 111"/>
            <p:cNvSpPr/>
            <p:nvPr/>
          </p:nvSpPr>
          <p:spPr>
            <a:xfrm>
              <a:off x="6423755" y="3641312"/>
              <a:ext cx="39052" cy="39052"/>
            </a:xfrm>
            <a:custGeom>
              <a:avLst/>
              <a:gdLst>
                <a:gd name="connsiteX0" fmla="*/ 19526 w 39052"/>
                <a:gd name="connsiteY0" fmla="*/ 39052 h 39052"/>
                <a:gd name="connsiteX1" fmla="*/ 39052 w 39052"/>
                <a:gd name="connsiteY1" fmla="*/ 19526 h 39052"/>
                <a:gd name="connsiteX2" fmla="*/ 19526 w 39052"/>
                <a:gd name="connsiteY2" fmla="*/ 0 h 39052"/>
                <a:gd name="connsiteX3" fmla="*/ 0 w 39052"/>
                <a:gd name="connsiteY3" fmla="*/ 19526 h 39052"/>
                <a:gd name="connsiteX4" fmla="*/ 19526 w 39052"/>
                <a:gd name="connsiteY4" fmla="*/ 39052 h 3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52" h="39052">
                  <a:moveTo>
                    <a:pt x="19526" y="39052"/>
                  </a:moveTo>
                  <a:cubicBezTo>
                    <a:pt x="30289" y="39052"/>
                    <a:pt x="39052" y="30290"/>
                    <a:pt x="39052" y="19526"/>
                  </a:cubicBezTo>
                  <a:cubicBezTo>
                    <a:pt x="39052" y="8763"/>
                    <a:pt x="30289" y="0"/>
                    <a:pt x="19526" y="0"/>
                  </a:cubicBezTo>
                  <a:cubicBezTo>
                    <a:pt x="8763" y="0"/>
                    <a:pt x="0" y="8763"/>
                    <a:pt x="0" y="19526"/>
                  </a:cubicBezTo>
                  <a:cubicBezTo>
                    <a:pt x="0" y="30290"/>
                    <a:pt x="8668" y="39052"/>
                    <a:pt x="19526" y="390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" name="任意多边形: 形状 112"/>
            <p:cNvSpPr/>
            <p:nvPr/>
          </p:nvSpPr>
          <p:spPr>
            <a:xfrm>
              <a:off x="6547389" y="3649599"/>
              <a:ext cx="22479" cy="22479"/>
            </a:xfrm>
            <a:custGeom>
              <a:avLst/>
              <a:gdLst>
                <a:gd name="connsiteX0" fmla="*/ 22479 w 22479"/>
                <a:gd name="connsiteY0" fmla="*/ 11239 h 22479"/>
                <a:gd name="connsiteX1" fmla="*/ 11239 w 22479"/>
                <a:gd name="connsiteY1" fmla="*/ 22479 h 22479"/>
                <a:gd name="connsiteX2" fmla="*/ 0 w 22479"/>
                <a:gd name="connsiteY2" fmla="*/ 11239 h 22479"/>
                <a:gd name="connsiteX3" fmla="*/ 11239 w 22479"/>
                <a:gd name="connsiteY3" fmla="*/ 0 h 22479"/>
                <a:gd name="connsiteX4" fmla="*/ 22479 w 22479"/>
                <a:gd name="connsiteY4" fmla="*/ 11239 h 2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79" h="22479">
                  <a:moveTo>
                    <a:pt x="22479" y="11239"/>
                  </a:moveTo>
                  <a:cubicBezTo>
                    <a:pt x="22479" y="17447"/>
                    <a:pt x="17447" y="22479"/>
                    <a:pt x="11239" y="22479"/>
                  </a:cubicBezTo>
                  <a:cubicBezTo>
                    <a:pt x="5032" y="22479"/>
                    <a:pt x="0" y="17447"/>
                    <a:pt x="0" y="11239"/>
                  </a:cubicBezTo>
                  <a:cubicBezTo>
                    <a:pt x="0" y="5032"/>
                    <a:pt x="5032" y="0"/>
                    <a:pt x="11239" y="0"/>
                  </a:cubicBezTo>
                  <a:cubicBezTo>
                    <a:pt x="17447" y="0"/>
                    <a:pt x="22479" y="5032"/>
                    <a:pt x="22479" y="11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" name="任意多边形: 形状 113"/>
            <p:cNvSpPr/>
            <p:nvPr/>
          </p:nvSpPr>
          <p:spPr>
            <a:xfrm>
              <a:off x="6671500" y="3658266"/>
              <a:ext cx="5143" cy="5143"/>
            </a:xfrm>
            <a:custGeom>
              <a:avLst/>
              <a:gdLst>
                <a:gd name="connsiteX0" fmla="*/ 2572 w 5143"/>
                <a:gd name="connsiteY0" fmla="*/ 5144 h 5143"/>
                <a:gd name="connsiteX1" fmla="*/ 5144 w 5143"/>
                <a:gd name="connsiteY1" fmla="*/ 2572 h 5143"/>
                <a:gd name="connsiteX2" fmla="*/ 2572 w 5143"/>
                <a:gd name="connsiteY2" fmla="*/ 0 h 5143"/>
                <a:gd name="connsiteX3" fmla="*/ 0 w 5143"/>
                <a:gd name="connsiteY3" fmla="*/ 2572 h 5143"/>
                <a:gd name="connsiteX4" fmla="*/ 2572 w 5143"/>
                <a:gd name="connsiteY4" fmla="*/ 5144 h 5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" h="5143">
                  <a:moveTo>
                    <a:pt x="2572" y="5144"/>
                  </a:moveTo>
                  <a:cubicBezTo>
                    <a:pt x="4000" y="5144"/>
                    <a:pt x="5144" y="4000"/>
                    <a:pt x="5144" y="2572"/>
                  </a:cubicBezTo>
                  <a:cubicBezTo>
                    <a:pt x="5144" y="1143"/>
                    <a:pt x="4000" y="0"/>
                    <a:pt x="2572" y="0"/>
                  </a:cubicBezTo>
                  <a:cubicBezTo>
                    <a:pt x="1143" y="0"/>
                    <a:pt x="0" y="1143"/>
                    <a:pt x="0" y="2572"/>
                  </a:cubicBezTo>
                  <a:cubicBezTo>
                    <a:pt x="0" y="4000"/>
                    <a:pt x="1143" y="5144"/>
                    <a:pt x="2572" y="5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" name="任意多边形: 形状 114"/>
            <p:cNvSpPr/>
            <p:nvPr/>
          </p:nvSpPr>
          <p:spPr>
            <a:xfrm>
              <a:off x="5519832" y="3775995"/>
              <a:ext cx="571" cy="571"/>
            </a:xfrm>
            <a:custGeom>
              <a:avLst/>
              <a:gdLst>
                <a:gd name="connsiteX0" fmla="*/ 571 w 571"/>
                <a:gd name="connsiteY0" fmla="*/ 286 h 571"/>
                <a:gd name="connsiteX1" fmla="*/ 286 w 571"/>
                <a:gd name="connsiteY1" fmla="*/ 571 h 571"/>
                <a:gd name="connsiteX2" fmla="*/ 0 w 571"/>
                <a:gd name="connsiteY2" fmla="*/ 286 h 571"/>
                <a:gd name="connsiteX3" fmla="*/ 286 w 571"/>
                <a:gd name="connsiteY3" fmla="*/ 0 h 571"/>
                <a:gd name="connsiteX4" fmla="*/ 571 w 571"/>
                <a:gd name="connsiteY4" fmla="*/ 286 h 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" h="571">
                  <a:moveTo>
                    <a:pt x="571" y="286"/>
                  </a:moveTo>
                  <a:cubicBezTo>
                    <a:pt x="571" y="444"/>
                    <a:pt x="444" y="571"/>
                    <a:pt x="286" y="571"/>
                  </a:cubicBezTo>
                  <a:cubicBezTo>
                    <a:pt x="128" y="571"/>
                    <a:pt x="0" y="444"/>
                    <a:pt x="0" y="286"/>
                  </a:cubicBezTo>
                  <a:cubicBezTo>
                    <a:pt x="0" y="128"/>
                    <a:pt x="128" y="0"/>
                    <a:pt x="286" y="0"/>
                  </a:cubicBezTo>
                  <a:cubicBezTo>
                    <a:pt x="444" y="0"/>
                    <a:pt x="571" y="128"/>
                    <a:pt x="571" y="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" name="任意多边形: 形状 115"/>
            <p:cNvSpPr/>
            <p:nvPr/>
          </p:nvSpPr>
          <p:spPr>
            <a:xfrm>
              <a:off x="5630037" y="3770852"/>
              <a:ext cx="10858" cy="10858"/>
            </a:xfrm>
            <a:custGeom>
              <a:avLst/>
              <a:gdLst>
                <a:gd name="connsiteX0" fmla="*/ 10859 w 10858"/>
                <a:gd name="connsiteY0" fmla="*/ 5429 h 10858"/>
                <a:gd name="connsiteX1" fmla="*/ 5429 w 10858"/>
                <a:gd name="connsiteY1" fmla="*/ 10858 h 10858"/>
                <a:gd name="connsiteX2" fmla="*/ 0 w 10858"/>
                <a:gd name="connsiteY2" fmla="*/ 5429 h 10858"/>
                <a:gd name="connsiteX3" fmla="*/ 5429 w 10858"/>
                <a:gd name="connsiteY3" fmla="*/ 0 h 10858"/>
                <a:gd name="connsiteX4" fmla="*/ 10859 w 10858"/>
                <a:gd name="connsiteY4" fmla="*/ 5429 h 10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58" h="10858">
                  <a:moveTo>
                    <a:pt x="10859" y="5429"/>
                  </a:moveTo>
                  <a:cubicBezTo>
                    <a:pt x="10859" y="8428"/>
                    <a:pt x="8428" y="10858"/>
                    <a:pt x="5429" y="10858"/>
                  </a:cubicBezTo>
                  <a:cubicBezTo>
                    <a:pt x="2431" y="10858"/>
                    <a:pt x="0" y="8428"/>
                    <a:pt x="0" y="5429"/>
                  </a:cubicBezTo>
                  <a:cubicBezTo>
                    <a:pt x="0" y="2431"/>
                    <a:pt x="2431" y="0"/>
                    <a:pt x="5429" y="0"/>
                  </a:cubicBezTo>
                  <a:cubicBezTo>
                    <a:pt x="8428" y="0"/>
                    <a:pt x="10859" y="2431"/>
                    <a:pt x="10859" y="54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" name="任意多边形: 形状 116"/>
            <p:cNvSpPr/>
            <p:nvPr/>
          </p:nvSpPr>
          <p:spPr>
            <a:xfrm>
              <a:off x="5738144" y="3763518"/>
              <a:ext cx="25528" cy="25527"/>
            </a:xfrm>
            <a:custGeom>
              <a:avLst/>
              <a:gdLst>
                <a:gd name="connsiteX0" fmla="*/ 12765 w 25528"/>
                <a:gd name="connsiteY0" fmla="*/ 25527 h 25527"/>
                <a:gd name="connsiteX1" fmla="*/ 25528 w 25528"/>
                <a:gd name="connsiteY1" fmla="*/ 12763 h 25527"/>
                <a:gd name="connsiteX2" fmla="*/ 12765 w 25528"/>
                <a:gd name="connsiteY2" fmla="*/ 0 h 25527"/>
                <a:gd name="connsiteX3" fmla="*/ 1 w 25528"/>
                <a:gd name="connsiteY3" fmla="*/ 12763 h 25527"/>
                <a:gd name="connsiteX4" fmla="*/ 12765 w 25528"/>
                <a:gd name="connsiteY4" fmla="*/ 25527 h 2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28" h="25527">
                  <a:moveTo>
                    <a:pt x="12765" y="25527"/>
                  </a:moveTo>
                  <a:cubicBezTo>
                    <a:pt x="19813" y="25527"/>
                    <a:pt x="25528" y="19812"/>
                    <a:pt x="25528" y="12763"/>
                  </a:cubicBezTo>
                  <a:cubicBezTo>
                    <a:pt x="25528" y="5715"/>
                    <a:pt x="19813" y="0"/>
                    <a:pt x="12765" y="0"/>
                  </a:cubicBezTo>
                  <a:cubicBezTo>
                    <a:pt x="5716" y="0"/>
                    <a:pt x="1" y="5715"/>
                    <a:pt x="1" y="12763"/>
                  </a:cubicBezTo>
                  <a:cubicBezTo>
                    <a:pt x="-94" y="19812"/>
                    <a:pt x="5716" y="25527"/>
                    <a:pt x="12765" y="255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" name="任意多边形: 形状 117"/>
            <p:cNvSpPr/>
            <p:nvPr/>
          </p:nvSpPr>
          <p:spPr>
            <a:xfrm>
              <a:off x="5847397" y="3757422"/>
              <a:ext cx="37718" cy="37718"/>
            </a:xfrm>
            <a:custGeom>
              <a:avLst/>
              <a:gdLst>
                <a:gd name="connsiteX0" fmla="*/ 18859 w 37718"/>
                <a:gd name="connsiteY0" fmla="*/ 37719 h 37718"/>
                <a:gd name="connsiteX1" fmla="*/ 37719 w 37718"/>
                <a:gd name="connsiteY1" fmla="*/ 18859 h 37718"/>
                <a:gd name="connsiteX2" fmla="*/ 18859 w 37718"/>
                <a:gd name="connsiteY2" fmla="*/ 0 h 37718"/>
                <a:gd name="connsiteX3" fmla="*/ 0 w 37718"/>
                <a:gd name="connsiteY3" fmla="*/ 18859 h 37718"/>
                <a:gd name="connsiteX4" fmla="*/ 18859 w 37718"/>
                <a:gd name="connsiteY4" fmla="*/ 37719 h 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18" h="37718">
                  <a:moveTo>
                    <a:pt x="18859" y="37719"/>
                  </a:moveTo>
                  <a:cubicBezTo>
                    <a:pt x="29242" y="37719"/>
                    <a:pt x="37719" y="29242"/>
                    <a:pt x="37719" y="18859"/>
                  </a:cubicBezTo>
                  <a:cubicBezTo>
                    <a:pt x="37719" y="8477"/>
                    <a:pt x="29242" y="0"/>
                    <a:pt x="18859" y="0"/>
                  </a:cubicBezTo>
                  <a:cubicBezTo>
                    <a:pt x="8477" y="0"/>
                    <a:pt x="0" y="8477"/>
                    <a:pt x="0" y="18859"/>
                  </a:cubicBezTo>
                  <a:cubicBezTo>
                    <a:pt x="0" y="29242"/>
                    <a:pt x="8477" y="37719"/>
                    <a:pt x="18859" y="377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" name="任意多边形: 形状 118"/>
            <p:cNvSpPr/>
            <p:nvPr/>
          </p:nvSpPr>
          <p:spPr>
            <a:xfrm>
              <a:off x="5958363" y="3752850"/>
              <a:ext cx="46672" cy="46767"/>
            </a:xfrm>
            <a:custGeom>
              <a:avLst/>
              <a:gdLst>
                <a:gd name="connsiteX0" fmla="*/ 23336 w 46672"/>
                <a:gd name="connsiteY0" fmla="*/ 46768 h 46767"/>
                <a:gd name="connsiteX1" fmla="*/ 46673 w 46672"/>
                <a:gd name="connsiteY1" fmla="*/ 23431 h 46767"/>
                <a:gd name="connsiteX2" fmla="*/ 23336 w 46672"/>
                <a:gd name="connsiteY2" fmla="*/ 0 h 46767"/>
                <a:gd name="connsiteX3" fmla="*/ 0 w 46672"/>
                <a:gd name="connsiteY3" fmla="*/ 23336 h 46767"/>
                <a:gd name="connsiteX4" fmla="*/ 23336 w 46672"/>
                <a:gd name="connsiteY4" fmla="*/ 46768 h 4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" h="46767">
                  <a:moveTo>
                    <a:pt x="23336" y="46768"/>
                  </a:moveTo>
                  <a:cubicBezTo>
                    <a:pt x="36195" y="46768"/>
                    <a:pt x="46673" y="36290"/>
                    <a:pt x="46673" y="23431"/>
                  </a:cubicBezTo>
                  <a:cubicBezTo>
                    <a:pt x="46673" y="10573"/>
                    <a:pt x="36195" y="0"/>
                    <a:pt x="23336" y="0"/>
                  </a:cubicBezTo>
                  <a:cubicBezTo>
                    <a:pt x="10478" y="0"/>
                    <a:pt x="0" y="10477"/>
                    <a:pt x="0" y="23336"/>
                  </a:cubicBezTo>
                  <a:cubicBezTo>
                    <a:pt x="0" y="36195"/>
                    <a:pt x="10382" y="46768"/>
                    <a:pt x="23336" y="467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" name="任意多边形: 形状 119"/>
            <p:cNvSpPr/>
            <p:nvPr/>
          </p:nvSpPr>
          <p:spPr>
            <a:xfrm>
              <a:off x="6072092" y="3751325"/>
              <a:ext cx="49910" cy="49911"/>
            </a:xfrm>
            <a:custGeom>
              <a:avLst/>
              <a:gdLst>
                <a:gd name="connsiteX0" fmla="*/ 24955 w 49910"/>
                <a:gd name="connsiteY0" fmla="*/ 49911 h 49911"/>
                <a:gd name="connsiteX1" fmla="*/ 49911 w 49910"/>
                <a:gd name="connsiteY1" fmla="*/ 24956 h 49911"/>
                <a:gd name="connsiteX2" fmla="*/ 24955 w 49910"/>
                <a:gd name="connsiteY2" fmla="*/ 0 h 49911"/>
                <a:gd name="connsiteX3" fmla="*/ 0 w 49910"/>
                <a:gd name="connsiteY3" fmla="*/ 24956 h 49911"/>
                <a:gd name="connsiteX4" fmla="*/ 24955 w 49910"/>
                <a:gd name="connsiteY4" fmla="*/ 49911 h 4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10" h="49911">
                  <a:moveTo>
                    <a:pt x="24955" y="49911"/>
                  </a:moveTo>
                  <a:cubicBezTo>
                    <a:pt x="38767" y="49911"/>
                    <a:pt x="49911" y="38767"/>
                    <a:pt x="49911" y="24956"/>
                  </a:cubicBezTo>
                  <a:cubicBezTo>
                    <a:pt x="49911" y="11144"/>
                    <a:pt x="38767" y="0"/>
                    <a:pt x="24955" y="0"/>
                  </a:cubicBezTo>
                  <a:cubicBezTo>
                    <a:pt x="11144" y="0"/>
                    <a:pt x="0" y="11144"/>
                    <a:pt x="0" y="24956"/>
                  </a:cubicBezTo>
                  <a:cubicBezTo>
                    <a:pt x="0" y="38672"/>
                    <a:pt x="11144" y="49911"/>
                    <a:pt x="24955" y="499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" name="任意多边形: 形状 120"/>
            <p:cNvSpPr/>
            <p:nvPr/>
          </p:nvSpPr>
          <p:spPr>
            <a:xfrm>
              <a:off x="6188773" y="3752468"/>
              <a:ext cx="47434" cy="47434"/>
            </a:xfrm>
            <a:custGeom>
              <a:avLst/>
              <a:gdLst>
                <a:gd name="connsiteX0" fmla="*/ 23717 w 47434"/>
                <a:gd name="connsiteY0" fmla="*/ 47435 h 47434"/>
                <a:gd name="connsiteX1" fmla="*/ 47435 w 47434"/>
                <a:gd name="connsiteY1" fmla="*/ 23717 h 47434"/>
                <a:gd name="connsiteX2" fmla="*/ 23717 w 47434"/>
                <a:gd name="connsiteY2" fmla="*/ 0 h 47434"/>
                <a:gd name="connsiteX3" fmla="*/ 0 w 47434"/>
                <a:gd name="connsiteY3" fmla="*/ 23717 h 47434"/>
                <a:gd name="connsiteX4" fmla="*/ 23717 w 47434"/>
                <a:gd name="connsiteY4" fmla="*/ 47435 h 4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34" h="47434">
                  <a:moveTo>
                    <a:pt x="23717" y="47435"/>
                  </a:moveTo>
                  <a:cubicBezTo>
                    <a:pt x="36767" y="47435"/>
                    <a:pt x="47435" y="36862"/>
                    <a:pt x="47435" y="23717"/>
                  </a:cubicBezTo>
                  <a:cubicBezTo>
                    <a:pt x="47435" y="10668"/>
                    <a:pt x="36862" y="0"/>
                    <a:pt x="23717" y="0"/>
                  </a:cubicBezTo>
                  <a:cubicBezTo>
                    <a:pt x="10573" y="0"/>
                    <a:pt x="0" y="10573"/>
                    <a:pt x="0" y="23717"/>
                  </a:cubicBezTo>
                  <a:cubicBezTo>
                    <a:pt x="0" y="36862"/>
                    <a:pt x="10573" y="47435"/>
                    <a:pt x="23717" y="4743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" name="任意多边形: 形状 121"/>
            <p:cNvSpPr/>
            <p:nvPr/>
          </p:nvSpPr>
          <p:spPr>
            <a:xfrm>
              <a:off x="6308312" y="3756755"/>
              <a:ext cx="39052" cy="39052"/>
            </a:xfrm>
            <a:custGeom>
              <a:avLst/>
              <a:gdLst>
                <a:gd name="connsiteX0" fmla="*/ 19526 w 39052"/>
                <a:gd name="connsiteY0" fmla="*/ 39052 h 39052"/>
                <a:gd name="connsiteX1" fmla="*/ 39052 w 39052"/>
                <a:gd name="connsiteY1" fmla="*/ 19526 h 39052"/>
                <a:gd name="connsiteX2" fmla="*/ 19526 w 39052"/>
                <a:gd name="connsiteY2" fmla="*/ 0 h 39052"/>
                <a:gd name="connsiteX3" fmla="*/ 0 w 39052"/>
                <a:gd name="connsiteY3" fmla="*/ 19526 h 39052"/>
                <a:gd name="connsiteX4" fmla="*/ 19526 w 39052"/>
                <a:gd name="connsiteY4" fmla="*/ 39052 h 3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52" h="39052">
                  <a:moveTo>
                    <a:pt x="19526" y="39052"/>
                  </a:moveTo>
                  <a:cubicBezTo>
                    <a:pt x="30290" y="39052"/>
                    <a:pt x="39052" y="30289"/>
                    <a:pt x="39052" y="19526"/>
                  </a:cubicBezTo>
                  <a:cubicBezTo>
                    <a:pt x="39052" y="8763"/>
                    <a:pt x="30290" y="0"/>
                    <a:pt x="19526" y="0"/>
                  </a:cubicBezTo>
                  <a:cubicBezTo>
                    <a:pt x="8763" y="0"/>
                    <a:pt x="0" y="8763"/>
                    <a:pt x="0" y="19526"/>
                  </a:cubicBezTo>
                  <a:cubicBezTo>
                    <a:pt x="0" y="30289"/>
                    <a:pt x="8763" y="39052"/>
                    <a:pt x="19526" y="390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" name="任意多边形: 形状 122"/>
            <p:cNvSpPr/>
            <p:nvPr/>
          </p:nvSpPr>
          <p:spPr>
            <a:xfrm>
              <a:off x="6429851" y="3762851"/>
              <a:ext cx="26860" cy="26860"/>
            </a:xfrm>
            <a:custGeom>
              <a:avLst/>
              <a:gdLst>
                <a:gd name="connsiteX0" fmla="*/ 13430 w 26860"/>
                <a:gd name="connsiteY0" fmla="*/ 26860 h 26860"/>
                <a:gd name="connsiteX1" fmla="*/ 26860 w 26860"/>
                <a:gd name="connsiteY1" fmla="*/ 13430 h 26860"/>
                <a:gd name="connsiteX2" fmla="*/ 13430 w 26860"/>
                <a:gd name="connsiteY2" fmla="*/ 0 h 26860"/>
                <a:gd name="connsiteX3" fmla="*/ 0 w 26860"/>
                <a:gd name="connsiteY3" fmla="*/ 13430 h 26860"/>
                <a:gd name="connsiteX4" fmla="*/ 13430 w 26860"/>
                <a:gd name="connsiteY4" fmla="*/ 26860 h 2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0" h="26860">
                  <a:moveTo>
                    <a:pt x="13430" y="26860"/>
                  </a:moveTo>
                  <a:cubicBezTo>
                    <a:pt x="20860" y="26860"/>
                    <a:pt x="26860" y="20860"/>
                    <a:pt x="26860" y="13430"/>
                  </a:cubicBezTo>
                  <a:cubicBezTo>
                    <a:pt x="26860" y="6001"/>
                    <a:pt x="20860" y="0"/>
                    <a:pt x="13430" y="0"/>
                  </a:cubicBezTo>
                  <a:cubicBezTo>
                    <a:pt x="6001" y="0"/>
                    <a:pt x="0" y="6001"/>
                    <a:pt x="0" y="13430"/>
                  </a:cubicBezTo>
                  <a:cubicBezTo>
                    <a:pt x="0" y="20860"/>
                    <a:pt x="6001" y="26860"/>
                    <a:pt x="13430" y="2686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" name="任意多边形: 形状 123"/>
            <p:cNvSpPr/>
            <p:nvPr/>
          </p:nvSpPr>
          <p:spPr>
            <a:xfrm>
              <a:off x="6552533" y="3770185"/>
              <a:ext cx="12192" cy="12192"/>
            </a:xfrm>
            <a:custGeom>
              <a:avLst/>
              <a:gdLst>
                <a:gd name="connsiteX0" fmla="*/ 12192 w 12192"/>
                <a:gd name="connsiteY0" fmla="*/ 6096 h 12192"/>
                <a:gd name="connsiteX1" fmla="*/ 6096 w 12192"/>
                <a:gd name="connsiteY1" fmla="*/ 12192 h 12192"/>
                <a:gd name="connsiteX2" fmla="*/ 0 w 12192"/>
                <a:gd name="connsiteY2" fmla="*/ 6096 h 12192"/>
                <a:gd name="connsiteX3" fmla="*/ 6096 w 12192"/>
                <a:gd name="connsiteY3" fmla="*/ 0 h 12192"/>
                <a:gd name="connsiteX4" fmla="*/ 12192 w 12192"/>
                <a:gd name="connsiteY4" fmla="*/ 6096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" h="12192">
                  <a:moveTo>
                    <a:pt x="12192" y="6096"/>
                  </a:moveTo>
                  <a:cubicBezTo>
                    <a:pt x="12192" y="9463"/>
                    <a:pt x="9463" y="12192"/>
                    <a:pt x="6096" y="12192"/>
                  </a:cubicBezTo>
                  <a:cubicBezTo>
                    <a:pt x="2729" y="12192"/>
                    <a:pt x="0" y="9463"/>
                    <a:pt x="0" y="6096"/>
                  </a:cubicBezTo>
                  <a:cubicBezTo>
                    <a:pt x="0" y="2729"/>
                    <a:pt x="2729" y="0"/>
                    <a:pt x="6096" y="0"/>
                  </a:cubicBezTo>
                  <a:cubicBezTo>
                    <a:pt x="9463" y="0"/>
                    <a:pt x="12192" y="2729"/>
                    <a:pt x="12192" y="60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" name="任意多边形: 形状 124"/>
            <p:cNvSpPr/>
            <p:nvPr/>
          </p:nvSpPr>
          <p:spPr>
            <a:xfrm>
              <a:off x="6673786" y="3775995"/>
              <a:ext cx="571" cy="571"/>
            </a:xfrm>
            <a:custGeom>
              <a:avLst/>
              <a:gdLst>
                <a:gd name="connsiteX0" fmla="*/ 572 w 571"/>
                <a:gd name="connsiteY0" fmla="*/ 286 h 571"/>
                <a:gd name="connsiteX1" fmla="*/ 286 w 571"/>
                <a:gd name="connsiteY1" fmla="*/ 571 h 571"/>
                <a:gd name="connsiteX2" fmla="*/ 0 w 571"/>
                <a:gd name="connsiteY2" fmla="*/ 286 h 571"/>
                <a:gd name="connsiteX3" fmla="*/ 286 w 571"/>
                <a:gd name="connsiteY3" fmla="*/ 0 h 571"/>
                <a:gd name="connsiteX4" fmla="*/ 572 w 571"/>
                <a:gd name="connsiteY4" fmla="*/ 286 h 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" h="571">
                  <a:moveTo>
                    <a:pt x="572" y="286"/>
                  </a:moveTo>
                  <a:cubicBezTo>
                    <a:pt x="572" y="444"/>
                    <a:pt x="444" y="571"/>
                    <a:pt x="286" y="571"/>
                  </a:cubicBezTo>
                  <a:cubicBezTo>
                    <a:pt x="128" y="571"/>
                    <a:pt x="0" y="444"/>
                    <a:pt x="0" y="286"/>
                  </a:cubicBezTo>
                  <a:cubicBezTo>
                    <a:pt x="0" y="128"/>
                    <a:pt x="128" y="0"/>
                    <a:pt x="286" y="0"/>
                  </a:cubicBezTo>
                  <a:cubicBezTo>
                    <a:pt x="444" y="0"/>
                    <a:pt x="572" y="128"/>
                    <a:pt x="572" y="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" name="任意多边形: 形状 125"/>
            <p:cNvSpPr/>
            <p:nvPr/>
          </p:nvSpPr>
          <p:spPr>
            <a:xfrm>
              <a:off x="5634513" y="3890676"/>
              <a:ext cx="1904" cy="1904"/>
            </a:xfrm>
            <a:custGeom>
              <a:avLst/>
              <a:gdLst>
                <a:gd name="connsiteX0" fmla="*/ 952 w 1904"/>
                <a:gd name="connsiteY0" fmla="*/ 1905 h 1904"/>
                <a:gd name="connsiteX1" fmla="*/ 1905 w 1904"/>
                <a:gd name="connsiteY1" fmla="*/ 952 h 1904"/>
                <a:gd name="connsiteX2" fmla="*/ 952 w 1904"/>
                <a:gd name="connsiteY2" fmla="*/ 0 h 1904"/>
                <a:gd name="connsiteX3" fmla="*/ 0 w 1904"/>
                <a:gd name="connsiteY3" fmla="*/ 952 h 1904"/>
                <a:gd name="connsiteX4" fmla="*/ 952 w 1904"/>
                <a:gd name="connsiteY4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4" h="1904">
                  <a:moveTo>
                    <a:pt x="952" y="1905"/>
                  </a:moveTo>
                  <a:cubicBezTo>
                    <a:pt x="1524" y="1905"/>
                    <a:pt x="1905" y="1429"/>
                    <a:pt x="1905" y="952"/>
                  </a:cubicBezTo>
                  <a:cubicBezTo>
                    <a:pt x="1905" y="381"/>
                    <a:pt x="1429" y="0"/>
                    <a:pt x="952" y="0"/>
                  </a:cubicBezTo>
                  <a:cubicBezTo>
                    <a:pt x="381" y="0"/>
                    <a:pt x="0" y="476"/>
                    <a:pt x="0" y="952"/>
                  </a:cubicBezTo>
                  <a:cubicBezTo>
                    <a:pt x="0" y="1524"/>
                    <a:pt x="476" y="1905"/>
                    <a:pt x="952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" name="任意多边形: 形状 126"/>
            <p:cNvSpPr/>
            <p:nvPr/>
          </p:nvSpPr>
          <p:spPr>
            <a:xfrm>
              <a:off x="5745480" y="3886200"/>
              <a:ext cx="10858" cy="10858"/>
            </a:xfrm>
            <a:custGeom>
              <a:avLst/>
              <a:gdLst>
                <a:gd name="connsiteX0" fmla="*/ 10859 w 10858"/>
                <a:gd name="connsiteY0" fmla="*/ 5429 h 10858"/>
                <a:gd name="connsiteX1" fmla="*/ 5429 w 10858"/>
                <a:gd name="connsiteY1" fmla="*/ 10858 h 10858"/>
                <a:gd name="connsiteX2" fmla="*/ 0 w 10858"/>
                <a:gd name="connsiteY2" fmla="*/ 5429 h 10858"/>
                <a:gd name="connsiteX3" fmla="*/ 5429 w 10858"/>
                <a:gd name="connsiteY3" fmla="*/ 0 h 10858"/>
                <a:gd name="connsiteX4" fmla="*/ 10859 w 10858"/>
                <a:gd name="connsiteY4" fmla="*/ 5429 h 10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58" h="10858">
                  <a:moveTo>
                    <a:pt x="10859" y="5429"/>
                  </a:moveTo>
                  <a:cubicBezTo>
                    <a:pt x="10859" y="8428"/>
                    <a:pt x="8428" y="10858"/>
                    <a:pt x="5429" y="10858"/>
                  </a:cubicBezTo>
                  <a:cubicBezTo>
                    <a:pt x="2431" y="10858"/>
                    <a:pt x="0" y="8428"/>
                    <a:pt x="0" y="5429"/>
                  </a:cubicBezTo>
                  <a:cubicBezTo>
                    <a:pt x="0" y="2431"/>
                    <a:pt x="2431" y="0"/>
                    <a:pt x="5429" y="0"/>
                  </a:cubicBezTo>
                  <a:cubicBezTo>
                    <a:pt x="8428" y="0"/>
                    <a:pt x="10859" y="2431"/>
                    <a:pt x="10859" y="54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5855684" y="3881056"/>
              <a:ext cx="21145" cy="21145"/>
            </a:xfrm>
            <a:custGeom>
              <a:avLst/>
              <a:gdLst>
                <a:gd name="connsiteX0" fmla="*/ 21146 w 21145"/>
                <a:gd name="connsiteY0" fmla="*/ 10573 h 21145"/>
                <a:gd name="connsiteX1" fmla="*/ 10573 w 21145"/>
                <a:gd name="connsiteY1" fmla="*/ 21146 h 21145"/>
                <a:gd name="connsiteX2" fmla="*/ 0 w 21145"/>
                <a:gd name="connsiteY2" fmla="*/ 10573 h 21145"/>
                <a:gd name="connsiteX3" fmla="*/ 10573 w 21145"/>
                <a:gd name="connsiteY3" fmla="*/ 0 h 21145"/>
                <a:gd name="connsiteX4" fmla="*/ 21146 w 21145"/>
                <a:gd name="connsiteY4" fmla="*/ 10573 h 2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45" h="21145">
                  <a:moveTo>
                    <a:pt x="21146" y="10573"/>
                  </a:moveTo>
                  <a:cubicBezTo>
                    <a:pt x="21146" y="16412"/>
                    <a:pt x="16412" y="21146"/>
                    <a:pt x="10573" y="21146"/>
                  </a:cubicBezTo>
                  <a:cubicBezTo>
                    <a:pt x="4734" y="21146"/>
                    <a:pt x="0" y="16412"/>
                    <a:pt x="0" y="10573"/>
                  </a:cubicBezTo>
                  <a:cubicBezTo>
                    <a:pt x="0" y="4734"/>
                    <a:pt x="4734" y="0"/>
                    <a:pt x="10573" y="0"/>
                  </a:cubicBezTo>
                  <a:cubicBezTo>
                    <a:pt x="16412" y="0"/>
                    <a:pt x="21146" y="4734"/>
                    <a:pt x="21146" y="105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5967603" y="3877532"/>
              <a:ext cx="28193" cy="28194"/>
            </a:xfrm>
            <a:custGeom>
              <a:avLst/>
              <a:gdLst>
                <a:gd name="connsiteX0" fmla="*/ 14097 w 28193"/>
                <a:gd name="connsiteY0" fmla="*/ 28194 h 28194"/>
                <a:gd name="connsiteX1" fmla="*/ 28194 w 28193"/>
                <a:gd name="connsiteY1" fmla="*/ 14097 h 28194"/>
                <a:gd name="connsiteX2" fmla="*/ 14097 w 28193"/>
                <a:gd name="connsiteY2" fmla="*/ 0 h 28194"/>
                <a:gd name="connsiteX3" fmla="*/ 0 w 28193"/>
                <a:gd name="connsiteY3" fmla="*/ 14097 h 28194"/>
                <a:gd name="connsiteX4" fmla="*/ 14097 w 28193"/>
                <a:gd name="connsiteY4" fmla="*/ 28194 h 2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93" h="28194">
                  <a:moveTo>
                    <a:pt x="14097" y="28194"/>
                  </a:moveTo>
                  <a:cubicBezTo>
                    <a:pt x="21907" y="28194"/>
                    <a:pt x="28194" y="21908"/>
                    <a:pt x="28194" y="14097"/>
                  </a:cubicBezTo>
                  <a:cubicBezTo>
                    <a:pt x="28194" y="6287"/>
                    <a:pt x="21907" y="0"/>
                    <a:pt x="14097" y="0"/>
                  </a:cubicBezTo>
                  <a:cubicBezTo>
                    <a:pt x="6286" y="0"/>
                    <a:pt x="0" y="6287"/>
                    <a:pt x="0" y="14097"/>
                  </a:cubicBezTo>
                  <a:cubicBezTo>
                    <a:pt x="0" y="21908"/>
                    <a:pt x="6286" y="28194"/>
                    <a:pt x="14097" y="281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6081712" y="3876293"/>
              <a:ext cx="30670" cy="30670"/>
            </a:xfrm>
            <a:custGeom>
              <a:avLst/>
              <a:gdLst>
                <a:gd name="connsiteX0" fmla="*/ 15335 w 30670"/>
                <a:gd name="connsiteY0" fmla="*/ 30671 h 30670"/>
                <a:gd name="connsiteX1" fmla="*/ 30671 w 30670"/>
                <a:gd name="connsiteY1" fmla="*/ 15335 h 30670"/>
                <a:gd name="connsiteX2" fmla="*/ 15335 w 30670"/>
                <a:gd name="connsiteY2" fmla="*/ 0 h 30670"/>
                <a:gd name="connsiteX3" fmla="*/ 0 w 30670"/>
                <a:gd name="connsiteY3" fmla="*/ 15335 h 30670"/>
                <a:gd name="connsiteX4" fmla="*/ 15335 w 30670"/>
                <a:gd name="connsiteY4" fmla="*/ 30671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30670">
                  <a:moveTo>
                    <a:pt x="15335" y="30671"/>
                  </a:moveTo>
                  <a:cubicBezTo>
                    <a:pt x="23813" y="30671"/>
                    <a:pt x="30671" y="23813"/>
                    <a:pt x="30671" y="15335"/>
                  </a:cubicBezTo>
                  <a:cubicBezTo>
                    <a:pt x="30671" y="6858"/>
                    <a:pt x="23813" y="0"/>
                    <a:pt x="15335" y="0"/>
                  </a:cubicBezTo>
                  <a:cubicBezTo>
                    <a:pt x="6858" y="0"/>
                    <a:pt x="0" y="6858"/>
                    <a:pt x="0" y="15335"/>
                  </a:cubicBezTo>
                  <a:cubicBezTo>
                    <a:pt x="0" y="23813"/>
                    <a:pt x="6858" y="30671"/>
                    <a:pt x="15335" y="30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6198108" y="3877246"/>
              <a:ext cx="28765" cy="28765"/>
            </a:xfrm>
            <a:custGeom>
              <a:avLst/>
              <a:gdLst>
                <a:gd name="connsiteX0" fmla="*/ 14383 w 28765"/>
                <a:gd name="connsiteY0" fmla="*/ 28766 h 28765"/>
                <a:gd name="connsiteX1" fmla="*/ 28765 w 28765"/>
                <a:gd name="connsiteY1" fmla="*/ 14383 h 28765"/>
                <a:gd name="connsiteX2" fmla="*/ 14383 w 28765"/>
                <a:gd name="connsiteY2" fmla="*/ 0 h 28765"/>
                <a:gd name="connsiteX3" fmla="*/ 0 w 28765"/>
                <a:gd name="connsiteY3" fmla="*/ 14383 h 28765"/>
                <a:gd name="connsiteX4" fmla="*/ 14383 w 28765"/>
                <a:gd name="connsiteY4" fmla="*/ 28766 h 28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65" h="28765">
                  <a:moveTo>
                    <a:pt x="14383" y="28766"/>
                  </a:moveTo>
                  <a:cubicBezTo>
                    <a:pt x="22288" y="28766"/>
                    <a:pt x="28765" y="22289"/>
                    <a:pt x="28765" y="14383"/>
                  </a:cubicBezTo>
                  <a:cubicBezTo>
                    <a:pt x="28765" y="6477"/>
                    <a:pt x="22288" y="0"/>
                    <a:pt x="14383" y="0"/>
                  </a:cubicBezTo>
                  <a:cubicBezTo>
                    <a:pt x="6477" y="0"/>
                    <a:pt x="0" y="6477"/>
                    <a:pt x="0" y="14383"/>
                  </a:cubicBezTo>
                  <a:cubicBezTo>
                    <a:pt x="0" y="22289"/>
                    <a:pt x="6382" y="28766"/>
                    <a:pt x="14383" y="28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" name="任意多边形: 形状 131"/>
            <p:cNvSpPr/>
            <p:nvPr/>
          </p:nvSpPr>
          <p:spPr>
            <a:xfrm>
              <a:off x="6316599" y="3880389"/>
              <a:ext cx="22479" cy="22479"/>
            </a:xfrm>
            <a:custGeom>
              <a:avLst/>
              <a:gdLst>
                <a:gd name="connsiteX0" fmla="*/ 22479 w 22479"/>
                <a:gd name="connsiteY0" fmla="*/ 11239 h 22479"/>
                <a:gd name="connsiteX1" fmla="*/ 11239 w 22479"/>
                <a:gd name="connsiteY1" fmla="*/ 22479 h 22479"/>
                <a:gd name="connsiteX2" fmla="*/ 0 w 22479"/>
                <a:gd name="connsiteY2" fmla="*/ 11239 h 22479"/>
                <a:gd name="connsiteX3" fmla="*/ 11239 w 22479"/>
                <a:gd name="connsiteY3" fmla="*/ 0 h 22479"/>
                <a:gd name="connsiteX4" fmla="*/ 22479 w 22479"/>
                <a:gd name="connsiteY4" fmla="*/ 11239 h 2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79" h="22479">
                  <a:moveTo>
                    <a:pt x="22479" y="11239"/>
                  </a:moveTo>
                  <a:cubicBezTo>
                    <a:pt x="22479" y="17447"/>
                    <a:pt x="17447" y="22479"/>
                    <a:pt x="11239" y="22479"/>
                  </a:cubicBezTo>
                  <a:cubicBezTo>
                    <a:pt x="5032" y="22479"/>
                    <a:pt x="0" y="17447"/>
                    <a:pt x="0" y="11239"/>
                  </a:cubicBezTo>
                  <a:cubicBezTo>
                    <a:pt x="0" y="5032"/>
                    <a:pt x="5032" y="0"/>
                    <a:pt x="11239" y="0"/>
                  </a:cubicBezTo>
                  <a:cubicBezTo>
                    <a:pt x="17447" y="0"/>
                    <a:pt x="22479" y="5032"/>
                    <a:pt x="22479" y="11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" name="任意多边形: 形状 132"/>
            <p:cNvSpPr/>
            <p:nvPr/>
          </p:nvSpPr>
          <p:spPr>
            <a:xfrm>
              <a:off x="6437185" y="3885533"/>
              <a:ext cx="12192" cy="12192"/>
            </a:xfrm>
            <a:custGeom>
              <a:avLst/>
              <a:gdLst>
                <a:gd name="connsiteX0" fmla="*/ 12192 w 12192"/>
                <a:gd name="connsiteY0" fmla="*/ 6096 h 12192"/>
                <a:gd name="connsiteX1" fmla="*/ 6096 w 12192"/>
                <a:gd name="connsiteY1" fmla="*/ 12192 h 12192"/>
                <a:gd name="connsiteX2" fmla="*/ 0 w 12192"/>
                <a:gd name="connsiteY2" fmla="*/ 6096 h 12192"/>
                <a:gd name="connsiteX3" fmla="*/ 6096 w 12192"/>
                <a:gd name="connsiteY3" fmla="*/ 0 h 12192"/>
                <a:gd name="connsiteX4" fmla="*/ 12192 w 12192"/>
                <a:gd name="connsiteY4" fmla="*/ 6096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" h="12192">
                  <a:moveTo>
                    <a:pt x="12192" y="6096"/>
                  </a:moveTo>
                  <a:cubicBezTo>
                    <a:pt x="12192" y="9463"/>
                    <a:pt x="9463" y="12192"/>
                    <a:pt x="6096" y="12192"/>
                  </a:cubicBezTo>
                  <a:cubicBezTo>
                    <a:pt x="2729" y="12192"/>
                    <a:pt x="0" y="9463"/>
                    <a:pt x="0" y="6096"/>
                  </a:cubicBezTo>
                  <a:cubicBezTo>
                    <a:pt x="0" y="2729"/>
                    <a:pt x="2729" y="0"/>
                    <a:pt x="6096" y="0"/>
                  </a:cubicBezTo>
                  <a:cubicBezTo>
                    <a:pt x="9463" y="0"/>
                    <a:pt x="12192" y="2729"/>
                    <a:pt x="12192" y="60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" name="任意多边形: 形状 133"/>
            <p:cNvSpPr/>
            <p:nvPr/>
          </p:nvSpPr>
          <p:spPr>
            <a:xfrm>
              <a:off x="6557676" y="3890676"/>
              <a:ext cx="1904" cy="1904"/>
            </a:xfrm>
            <a:custGeom>
              <a:avLst/>
              <a:gdLst>
                <a:gd name="connsiteX0" fmla="*/ 952 w 1904"/>
                <a:gd name="connsiteY0" fmla="*/ 1905 h 1904"/>
                <a:gd name="connsiteX1" fmla="*/ 1905 w 1904"/>
                <a:gd name="connsiteY1" fmla="*/ 952 h 1904"/>
                <a:gd name="connsiteX2" fmla="*/ 952 w 1904"/>
                <a:gd name="connsiteY2" fmla="*/ 0 h 1904"/>
                <a:gd name="connsiteX3" fmla="*/ 0 w 1904"/>
                <a:gd name="connsiteY3" fmla="*/ 952 h 1904"/>
                <a:gd name="connsiteX4" fmla="*/ 952 w 1904"/>
                <a:gd name="connsiteY4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4" h="1904">
                  <a:moveTo>
                    <a:pt x="952" y="1905"/>
                  </a:moveTo>
                  <a:cubicBezTo>
                    <a:pt x="1524" y="1905"/>
                    <a:pt x="1905" y="1429"/>
                    <a:pt x="1905" y="952"/>
                  </a:cubicBezTo>
                  <a:cubicBezTo>
                    <a:pt x="1905" y="381"/>
                    <a:pt x="1429" y="0"/>
                    <a:pt x="952" y="0"/>
                  </a:cubicBezTo>
                  <a:cubicBezTo>
                    <a:pt x="381" y="0"/>
                    <a:pt x="0" y="476"/>
                    <a:pt x="0" y="952"/>
                  </a:cubicBezTo>
                  <a:cubicBezTo>
                    <a:pt x="0" y="1524"/>
                    <a:pt x="476" y="1905"/>
                    <a:pt x="952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" name="任意多边形: 形状 134"/>
            <p:cNvSpPr/>
            <p:nvPr/>
          </p:nvSpPr>
          <p:spPr>
            <a:xfrm>
              <a:off x="5750623" y="4006786"/>
              <a:ext cx="571" cy="571"/>
            </a:xfrm>
            <a:custGeom>
              <a:avLst/>
              <a:gdLst>
                <a:gd name="connsiteX0" fmla="*/ 571 w 571"/>
                <a:gd name="connsiteY0" fmla="*/ 286 h 571"/>
                <a:gd name="connsiteX1" fmla="*/ 286 w 571"/>
                <a:gd name="connsiteY1" fmla="*/ 572 h 571"/>
                <a:gd name="connsiteX2" fmla="*/ 0 w 571"/>
                <a:gd name="connsiteY2" fmla="*/ 286 h 571"/>
                <a:gd name="connsiteX3" fmla="*/ 286 w 571"/>
                <a:gd name="connsiteY3" fmla="*/ 0 h 571"/>
                <a:gd name="connsiteX4" fmla="*/ 571 w 571"/>
                <a:gd name="connsiteY4" fmla="*/ 286 h 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" h="571">
                  <a:moveTo>
                    <a:pt x="571" y="286"/>
                  </a:moveTo>
                  <a:cubicBezTo>
                    <a:pt x="571" y="444"/>
                    <a:pt x="444" y="572"/>
                    <a:pt x="286" y="572"/>
                  </a:cubicBezTo>
                  <a:cubicBezTo>
                    <a:pt x="128" y="572"/>
                    <a:pt x="0" y="444"/>
                    <a:pt x="0" y="286"/>
                  </a:cubicBezTo>
                  <a:cubicBezTo>
                    <a:pt x="0" y="128"/>
                    <a:pt x="128" y="0"/>
                    <a:pt x="286" y="0"/>
                  </a:cubicBezTo>
                  <a:cubicBezTo>
                    <a:pt x="444" y="0"/>
                    <a:pt x="571" y="128"/>
                    <a:pt x="571" y="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" name="任意多边形: 形状 135"/>
            <p:cNvSpPr/>
            <p:nvPr/>
          </p:nvSpPr>
          <p:spPr>
            <a:xfrm>
              <a:off x="5863685" y="4004500"/>
              <a:ext cx="5143" cy="5143"/>
            </a:xfrm>
            <a:custGeom>
              <a:avLst/>
              <a:gdLst>
                <a:gd name="connsiteX0" fmla="*/ 2572 w 5143"/>
                <a:gd name="connsiteY0" fmla="*/ 5144 h 5143"/>
                <a:gd name="connsiteX1" fmla="*/ 5144 w 5143"/>
                <a:gd name="connsiteY1" fmla="*/ 2572 h 5143"/>
                <a:gd name="connsiteX2" fmla="*/ 2572 w 5143"/>
                <a:gd name="connsiteY2" fmla="*/ 0 h 5143"/>
                <a:gd name="connsiteX3" fmla="*/ 0 w 5143"/>
                <a:gd name="connsiteY3" fmla="*/ 2572 h 5143"/>
                <a:gd name="connsiteX4" fmla="*/ 2572 w 5143"/>
                <a:gd name="connsiteY4" fmla="*/ 5144 h 5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" h="5143">
                  <a:moveTo>
                    <a:pt x="2572" y="5144"/>
                  </a:moveTo>
                  <a:cubicBezTo>
                    <a:pt x="4000" y="5144"/>
                    <a:pt x="5144" y="4000"/>
                    <a:pt x="5144" y="2572"/>
                  </a:cubicBezTo>
                  <a:cubicBezTo>
                    <a:pt x="5144" y="1143"/>
                    <a:pt x="4000" y="0"/>
                    <a:pt x="2572" y="0"/>
                  </a:cubicBezTo>
                  <a:cubicBezTo>
                    <a:pt x="1143" y="0"/>
                    <a:pt x="0" y="1143"/>
                    <a:pt x="0" y="2572"/>
                  </a:cubicBezTo>
                  <a:cubicBezTo>
                    <a:pt x="0" y="4000"/>
                    <a:pt x="1143" y="5144"/>
                    <a:pt x="2572" y="5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" name="任意多边形: 形状 136"/>
            <p:cNvSpPr/>
            <p:nvPr/>
          </p:nvSpPr>
          <p:spPr>
            <a:xfrm>
              <a:off x="5976934" y="4002309"/>
              <a:ext cx="9527" cy="9525"/>
            </a:xfrm>
            <a:custGeom>
              <a:avLst/>
              <a:gdLst>
                <a:gd name="connsiteX0" fmla="*/ 4765 w 9527"/>
                <a:gd name="connsiteY0" fmla="*/ 9525 h 9525"/>
                <a:gd name="connsiteX1" fmla="*/ 9528 w 9527"/>
                <a:gd name="connsiteY1" fmla="*/ 4763 h 9525"/>
                <a:gd name="connsiteX2" fmla="*/ 4765 w 9527"/>
                <a:gd name="connsiteY2" fmla="*/ 0 h 9525"/>
                <a:gd name="connsiteX3" fmla="*/ 3 w 9527"/>
                <a:gd name="connsiteY3" fmla="*/ 4763 h 9525"/>
                <a:gd name="connsiteX4" fmla="*/ 4765 w 952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7" h="9525">
                  <a:moveTo>
                    <a:pt x="4765" y="9525"/>
                  </a:moveTo>
                  <a:cubicBezTo>
                    <a:pt x="7432" y="9525"/>
                    <a:pt x="9528" y="7334"/>
                    <a:pt x="9528" y="4763"/>
                  </a:cubicBezTo>
                  <a:cubicBezTo>
                    <a:pt x="9528" y="2096"/>
                    <a:pt x="7337" y="0"/>
                    <a:pt x="4765" y="0"/>
                  </a:cubicBezTo>
                  <a:cubicBezTo>
                    <a:pt x="2099" y="0"/>
                    <a:pt x="3" y="2191"/>
                    <a:pt x="3" y="4763"/>
                  </a:cubicBezTo>
                  <a:cubicBezTo>
                    <a:pt x="-92" y="7334"/>
                    <a:pt x="2099" y="9525"/>
                    <a:pt x="4765" y="95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" name="任意多边形: 形状 137"/>
            <p:cNvSpPr/>
            <p:nvPr/>
          </p:nvSpPr>
          <p:spPr>
            <a:xfrm>
              <a:off x="6091332" y="4001357"/>
              <a:ext cx="11430" cy="11429"/>
            </a:xfrm>
            <a:custGeom>
              <a:avLst/>
              <a:gdLst>
                <a:gd name="connsiteX0" fmla="*/ 11430 w 11430"/>
                <a:gd name="connsiteY0" fmla="*/ 5715 h 11429"/>
                <a:gd name="connsiteX1" fmla="*/ 5715 w 11430"/>
                <a:gd name="connsiteY1" fmla="*/ 11430 h 11429"/>
                <a:gd name="connsiteX2" fmla="*/ 0 w 11430"/>
                <a:gd name="connsiteY2" fmla="*/ 5715 h 11429"/>
                <a:gd name="connsiteX3" fmla="*/ 5715 w 11430"/>
                <a:gd name="connsiteY3" fmla="*/ 0 h 11429"/>
                <a:gd name="connsiteX4" fmla="*/ 11430 w 11430"/>
                <a:gd name="connsiteY4" fmla="*/ 5715 h 1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" h="11429">
                  <a:moveTo>
                    <a:pt x="11430" y="5715"/>
                  </a:moveTo>
                  <a:cubicBezTo>
                    <a:pt x="11430" y="8871"/>
                    <a:pt x="8871" y="11430"/>
                    <a:pt x="5715" y="11430"/>
                  </a:cubicBezTo>
                  <a:cubicBezTo>
                    <a:pt x="2559" y="11430"/>
                    <a:pt x="0" y="8871"/>
                    <a:pt x="0" y="5715"/>
                  </a:cubicBezTo>
                  <a:cubicBezTo>
                    <a:pt x="0" y="2559"/>
                    <a:pt x="2559" y="0"/>
                    <a:pt x="5715" y="0"/>
                  </a:cubicBezTo>
                  <a:cubicBezTo>
                    <a:pt x="8871" y="0"/>
                    <a:pt x="11430" y="2559"/>
                    <a:pt x="11430" y="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" name="任意多边形: 形状 138"/>
            <p:cNvSpPr/>
            <p:nvPr/>
          </p:nvSpPr>
          <p:spPr>
            <a:xfrm>
              <a:off x="6207347" y="4001928"/>
              <a:ext cx="10287" cy="10287"/>
            </a:xfrm>
            <a:custGeom>
              <a:avLst/>
              <a:gdLst>
                <a:gd name="connsiteX0" fmla="*/ 10287 w 10287"/>
                <a:gd name="connsiteY0" fmla="*/ 5144 h 10287"/>
                <a:gd name="connsiteX1" fmla="*/ 5143 w 10287"/>
                <a:gd name="connsiteY1" fmla="*/ 10287 h 10287"/>
                <a:gd name="connsiteX2" fmla="*/ 0 w 10287"/>
                <a:gd name="connsiteY2" fmla="*/ 5144 h 10287"/>
                <a:gd name="connsiteX3" fmla="*/ 5143 w 10287"/>
                <a:gd name="connsiteY3" fmla="*/ 0 h 10287"/>
                <a:gd name="connsiteX4" fmla="*/ 10287 w 10287"/>
                <a:gd name="connsiteY4" fmla="*/ 5144 h 10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7" h="10287">
                  <a:moveTo>
                    <a:pt x="10287" y="5144"/>
                  </a:moveTo>
                  <a:cubicBezTo>
                    <a:pt x="10287" y="7984"/>
                    <a:pt x="7984" y="10287"/>
                    <a:pt x="5143" y="10287"/>
                  </a:cubicBezTo>
                  <a:cubicBezTo>
                    <a:pt x="2303" y="10287"/>
                    <a:pt x="0" y="7984"/>
                    <a:pt x="0" y="5144"/>
                  </a:cubicBezTo>
                  <a:cubicBezTo>
                    <a:pt x="0" y="2303"/>
                    <a:pt x="2303" y="0"/>
                    <a:pt x="5143" y="0"/>
                  </a:cubicBezTo>
                  <a:cubicBezTo>
                    <a:pt x="7984" y="0"/>
                    <a:pt x="10287" y="2303"/>
                    <a:pt x="10287" y="5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" name="任意多边形: 形状 139"/>
            <p:cNvSpPr/>
            <p:nvPr/>
          </p:nvSpPr>
          <p:spPr>
            <a:xfrm>
              <a:off x="6325266" y="4004500"/>
              <a:ext cx="5143" cy="5143"/>
            </a:xfrm>
            <a:custGeom>
              <a:avLst/>
              <a:gdLst>
                <a:gd name="connsiteX0" fmla="*/ 2572 w 5143"/>
                <a:gd name="connsiteY0" fmla="*/ 5144 h 5143"/>
                <a:gd name="connsiteX1" fmla="*/ 5144 w 5143"/>
                <a:gd name="connsiteY1" fmla="*/ 2572 h 5143"/>
                <a:gd name="connsiteX2" fmla="*/ 2572 w 5143"/>
                <a:gd name="connsiteY2" fmla="*/ 0 h 5143"/>
                <a:gd name="connsiteX3" fmla="*/ 0 w 5143"/>
                <a:gd name="connsiteY3" fmla="*/ 2572 h 5143"/>
                <a:gd name="connsiteX4" fmla="*/ 2572 w 5143"/>
                <a:gd name="connsiteY4" fmla="*/ 5144 h 5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" h="5143">
                  <a:moveTo>
                    <a:pt x="2572" y="5144"/>
                  </a:moveTo>
                  <a:cubicBezTo>
                    <a:pt x="4000" y="5144"/>
                    <a:pt x="5144" y="4000"/>
                    <a:pt x="5144" y="2572"/>
                  </a:cubicBezTo>
                  <a:cubicBezTo>
                    <a:pt x="5144" y="1143"/>
                    <a:pt x="4000" y="0"/>
                    <a:pt x="2572" y="0"/>
                  </a:cubicBezTo>
                  <a:cubicBezTo>
                    <a:pt x="1143" y="0"/>
                    <a:pt x="0" y="1143"/>
                    <a:pt x="0" y="2572"/>
                  </a:cubicBezTo>
                  <a:cubicBezTo>
                    <a:pt x="0" y="4000"/>
                    <a:pt x="1143" y="5144"/>
                    <a:pt x="2572" y="5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" name="任意多边形: 形状 140"/>
            <p:cNvSpPr/>
            <p:nvPr/>
          </p:nvSpPr>
          <p:spPr>
            <a:xfrm>
              <a:off x="6442995" y="4006786"/>
              <a:ext cx="571" cy="571"/>
            </a:xfrm>
            <a:custGeom>
              <a:avLst/>
              <a:gdLst>
                <a:gd name="connsiteX0" fmla="*/ 571 w 571"/>
                <a:gd name="connsiteY0" fmla="*/ 286 h 571"/>
                <a:gd name="connsiteX1" fmla="*/ 286 w 571"/>
                <a:gd name="connsiteY1" fmla="*/ 572 h 571"/>
                <a:gd name="connsiteX2" fmla="*/ 0 w 571"/>
                <a:gd name="connsiteY2" fmla="*/ 286 h 571"/>
                <a:gd name="connsiteX3" fmla="*/ 286 w 571"/>
                <a:gd name="connsiteY3" fmla="*/ 0 h 571"/>
                <a:gd name="connsiteX4" fmla="*/ 571 w 571"/>
                <a:gd name="connsiteY4" fmla="*/ 286 h 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" h="571">
                  <a:moveTo>
                    <a:pt x="571" y="286"/>
                  </a:moveTo>
                  <a:cubicBezTo>
                    <a:pt x="571" y="444"/>
                    <a:pt x="444" y="572"/>
                    <a:pt x="286" y="572"/>
                  </a:cubicBezTo>
                  <a:cubicBezTo>
                    <a:pt x="128" y="572"/>
                    <a:pt x="0" y="444"/>
                    <a:pt x="0" y="286"/>
                  </a:cubicBezTo>
                  <a:cubicBezTo>
                    <a:pt x="0" y="128"/>
                    <a:pt x="128" y="0"/>
                    <a:pt x="286" y="0"/>
                  </a:cubicBezTo>
                  <a:cubicBezTo>
                    <a:pt x="444" y="0"/>
                    <a:pt x="571" y="128"/>
                    <a:pt x="571" y="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084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1" name="图片 3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387"/>
          <a:stretch>
            <a:fillRect/>
          </a:stretch>
        </p:blipFill>
        <p:spPr>
          <a:xfrm>
            <a:off x="274100" y="136525"/>
            <a:ext cx="869688" cy="831909"/>
          </a:xfrm>
          <a:prstGeom prst="rect">
            <a:avLst/>
          </a:prstGeom>
        </p:spPr>
      </p:pic>
      <p:sp>
        <p:nvSpPr>
          <p:cNvPr id="30" name="矩形 29"/>
          <p:cNvSpPr/>
          <p:nvPr userDrawn="1"/>
        </p:nvSpPr>
        <p:spPr>
          <a:xfrm>
            <a:off x="11849100" y="6492875"/>
            <a:ext cx="3429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748070" y="6492875"/>
            <a:ext cx="430660" cy="3651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3E75C6D3-133E-4A51-8F1C-F484242B8F05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C6D3-133E-4A51-8F1C-F484242B8F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C6D3-133E-4A51-8F1C-F484242B8F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C6D3-133E-4A51-8F1C-F484242B8F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F1DF461-E3A4-4E7E-ABDE-A4BF1CF65ED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88F959-5CFA-4D43-AB01-A9BB3BC6F33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bk object 16"/>
          <p:cNvSpPr/>
          <p:nvPr userDrawn="1"/>
        </p:nvSpPr>
        <p:spPr>
          <a:xfrm flipV="1">
            <a:off x="0" y="420857"/>
            <a:ext cx="9569824" cy="45719"/>
          </a:xfrm>
          <a:custGeom>
            <a:avLst/>
            <a:gdLst/>
            <a:ahLst/>
            <a:cxnLst/>
            <a:rect l="l" t="t" r="r" b="b"/>
            <a:pathLst>
              <a:path w="7131050">
                <a:moveTo>
                  <a:pt x="0" y="0"/>
                </a:moveTo>
                <a:lnTo>
                  <a:pt x="7130796" y="0"/>
                </a:lnTo>
              </a:path>
            </a:pathLst>
          </a:custGeom>
          <a:ln w="762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5C6D3-133E-4A51-8F1C-F484242B8F0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.jpe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tags" Target="../tags/tag1.xml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12.jpeg"/><Relationship Id="rId20" Type="http://schemas.openxmlformats.org/officeDocument/2006/relationships/tags" Target="../tags/tag22.xml"/><Relationship Id="rId2" Type="http://schemas.openxmlformats.org/officeDocument/2006/relationships/tags" Target="../tags/tag4.xml"/><Relationship Id="rId19" Type="http://schemas.openxmlformats.org/officeDocument/2006/relationships/tags" Target="../tags/tag21.xml"/><Relationship Id="rId18" Type="http://schemas.openxmlformats.org/officeDocument/2006/relationships/tags" Target="../tags/tag20.xml"/><Relationship Id="rId17" Type="http://schemas.openxmlformats.org/officeDocument/2006/relationships/tags" Target="../tags/tag19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12.jpeg"/><Relationship Id="rId20" Type="http://schemas.openxmlformats.org/officeDocument/2006/relationships/tags" Target="../tags/tag42.xml"/><Relationship Id="rId2" Type="http://schemas.openxmlformats.org/officeDocument/2006/relationships/tags" Target="../tags/tag24.xml"/><Relationship Id="rId19" Type="http://schemas.openxmlformats.org/officeDocument/2006/relationships/tags" Target="../tags/tag41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png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12.jpeg"/><Relationship Id="rId20" Type="http://schemas.openxmlformats.org/officeDocument/2006/relationships/tags" Target="../tags/tag88.xml"/><Relationship Id="rId2" Type="http://schemas.openxmlformats.org/officeDocument/2006/relationships/tags" Target="../tags/tag70.xml"/><Relationship Id="rId19" Type="http://schemas.openxmlformats.org/officeDocument/2006/relationships/tags" Target="../tags/tag87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tags" Target="../tags/tag6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51"/>
          <a:stretch>
            <a:fillRect/>
          </a:stretch>
        </p:blipFill>
        <p:spPr>
          <a:xfrm>
            <a:off x="0" y="17891"/>
            <a:ext cx="3439538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71698" y="1051856"/>
            <a:ext cx="7995143" cy="1655445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4800" b="1" dirty="0">
                <a:solidFill>
                  <a:schemeClr val="accent1"/>
                </a:solidFill>
                <a:latin typeface="+mn-lt"/>
                <a:sym typeface="+mn-lt"/>
              </a:rPr>
              <a:t>基于大模型的能量优化调度算法可解释性研究</a:t>
            </a:r>
            <a:endParaRPr lang="zh-CN" altLang="en-US" sz="4800" b="1" dirty="0">
              <a:solidFill>
                <a:schemeClr val="accent1"/>
              </a:solidFill>
              <a:latin typeface="+mn-lt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266841" y="0"/>
            <a:ext cx="18783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9020174" y="2243138"/>
            <a:ext cx="2371725" cy="237172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27000">
              <a:schemeClr val="bg1">
                <a:lumMod val="8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ym typeface="+mn-lt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3238500" y="2792615"/>
            <a:ext cx="534035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图片 3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397" y="2250943"/>
            <a:ext cx="2406502" cy="2391897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4087769" y="4711152"/>
            <a:ext cx="3034960" cy="923330"/>
            <a:chOff x="1975626" y="4888657"/>
            <a:chExt cx="3034960" cy="923330"/>
          </a:xfrm>
        </p:grpSpPr>
        <p:sp>
          <p:nvSpPr>
            <p:cNvPr id="18" name="teacher-reading-a-book-sitting-behind-his-desk_42916"/>
            <p:cNvSpPr/>
            <p:nvPr/>
          </p:nvSpPr>
          <p:spPr>
            <a:xfrm>
              <a:off x="1975626" y="5428617"/>
              <a:ext cx="424275" cy="307387"/>
            </a:xfrm>
            <a:custGeom>
              <a:avLst/>
              <a:gdLst>
                <a:gd name="T0" fmla="*/ 11273 w 12272"/>
                <a:gd name="T1" fmla="*/ 0 h 8161"/>
                <a:gd name="T2" fmla="*/ 2940 w 12272"/>
                <a:gd name="T3" fmla="*/ 0 h 8161"/>
                <a:gd name="T4" fmla="*/ 1942 w 12272"/>
                <a:gd name="T5" fmla="*/ 998 h 8161"/>
                <a:gd name="T6" fmla="*/ 1942 w 12272"/>
                <a:gd name="T7" fmla="*/ 1664 h 8161"/>
                <a:gd name="T8" fmla="*/ 224 w 12272"/>
                <a:gd name="T9" fmla="*/ 1664 h 8161"/>
                <a:gd name="T10" fmla="*/ 0 w 12272"/>
                <a:gd name="T11" fmla="*/ 1888 h 8161"/>
                <a:gd name="T12" fmla="*/ 224 w 12272"/>
                <a:gd name="T13" fmla="*/ 2112 h 8161"/>
                <a:gd name="T14" fmla="*/ 1942 w 12272"/>
                <a:gd name="T15" fmla="*/ 2112 h 8161"/>
                <a:gd name="T16" fmla="*/ 1942 w 12272"/>
                <a:gd name="T17" fmla="*/ 2794 h 8161"/>
                <a:gd name="T18" fmla="*/ 708 w 12272"/>
                <a:gd name="T19" fmla="*/ 2794 h 8161"/>
                <a:gd name="T20" fmla="*/ 484 w 12272"/>
                <a:gd name="T21" fmla="*/ 3018 h 8161"/>
                <a:gd name="T22" fmla="*/ 708 w 12272"/>
                <a:gd name="T23" fmla="*/ 3242 h 8161"/>
                <a:gd name="T24" fmla="*/ 1942 w 12272"/>
                <a:gd name="T25" fmla="*/ 3242 h 8161"/>
                <a:gd name="T26" fmla="*/ 1942 w 12272"/>
                <a:gd name="T27" fmla="*/ 7163 h 8161"/>
                <a:gd name="T28" fmla="*/ 2940 w 12272"/>
                <a:gd name="T29" fmla="*/ 8161 h 8161"/>
                <a:gd name="T30" fmla="*/ 11273 w 12272"/>
                <a:gd name="T31" fmla="*/ 8161 h 8161"/>
                <a:gd name="T32" fmla="*/ 12272 w 12272"/>
                <a:gd name="T33" fmla="*/ 7163 h 8161"/>
                <a:gd name="T34" fmla="*/ 12272 w 12272"/>
                <a:gd name="T35" fmla="*/ 998 h 8161"/>
                <a:gd name="T36" fmla="*/ 11273 w 12272"/>
                <a:gd name="T37" fmla="*/ 0 h 8161"/>
                <a:gd name="T38" fmla="*/ 11286 w 12272"/>
                <a:gd name="T39" fmla="*/ 1154 h 8161"/>
                <a:gd name="T40" fmla="*/ 7237 w 12272"/>
                <a:gd name="T41" fmla="*/ 5276 h 8161"/>
                <a:gd name="T42" fmla="*/ 7093 w 12272"/>
                <a:gd name="T43" fmla="*/ 5336 h 8161"/>
                <a:gd name="T44" fmla="*/ 7093 w 12272"/>
                <a:gd name="T45" fmla="*/ 5336 h 8161"/>
                <a:gd name="T46" fmla="*/ 6948 w 12272"/>
                <a:gd name="T47" fmla="*/ 5275 h 8161"/>
                <a:gd name="T48" fmla="*/ 2928 w 12272"/>
                <a:gd name="T49" fmla="*/ 1158 h 8161"/>
                <a:gd name="T50" fmla="*/ 2931 w 12272"/>
                <a:gd name="T51" fmla="*/ 873 h 8161"/>
                <a:gd name="T52" fmla="*/ 3217 w 12272"/>
                <a:gd name="T53" fmla="*/ 877 h 8161"/>
                <a:gd name="T54" fmla="*/ 7093 w 12272"/>
                <a:gd name="T55" fmla="*/ 4846 h 8161"/>
                <a:gd name="T56" fmla="*/ 10997 w 12272"/>
                <a:gd name="T57" fmla="*/ 870 h 8161"/>
                <a:gd name="T58" fmla="*/ 11282 w 12272"/>
                <a:gd name="T59" fmla="*/ 868 h 8161"/>
                <a:gd name="T60" fmla="*/ 11286 w 12272"/>
                <a:gd name="T61" fmla="*/ 1154 h 8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272" h="8161">
                  <a:moveTo>
                    <a:pt x="11273" y="0"/>
                  </a:moveTo>
                  <a:lnTo>
                    <a:pt x="2940" y="0"/>
                  </a:lnTo>
                  <a:cubicBezTo>
                    <a:pt x="2389" y="0"/>
                    <a:pt x="1942" y="446"/>
                    <a:pt x="1942" y="998"/>
                  </a:cubicBezTo>
                  <a:lnTo>
                    <a:pt x="1942" y="1664"/>
                  </a:lnTo>
                  <a:lnTo>
                    <a:pt x="224" y="1664"/>
                  </a:lnTo>
                  <a:cubicBezTo>
                    <a:pt x="100" y="1664"/>
                    <a:pt x="0" y="1765"/>
                    <a:pt x="0" y="1888"/>
                  </a:cubicBezTo>
                  <a:cubicBezTo>
                    <a:pt x="0" y="2011"/>
                    <a:pt x="101" y="2112"/>
                    <a:pt x="224" y="2112"/>
                  </a:cubicBezTo>
                  <a:lnTo>
                    <a:pt x="1942" y="2112"/>
                  </a:lnTo>
                  <a:lnTo>
                    <a:pt x="1942" y="2794"/>
                  </a:lnTo>
                  <a:lnTo>
                    <a:pt x="708" y="2794"/>
                  </a:lnTo>
                  <a:cubicBezTo>
                    <a:pt x="584" y="2794"/>
                    <a:pt x="484" y="2895"/>
                    <a:pt x="484" y="3018"/>
                  </a:cubicBezTo>
                  <a:cubicBezTo>
                    <a:pt x="484" y="3142"/>
                    <a:pt x="585" y="3242"/>
                    <a:pt x="708" y="3242"/>
                  </a:cubicBezTo>
                  <a:lnTo>
                    <a:pt x="1942" y="3242"/>
                  </a:lnTo>
                  <a:lnTo>
                    <a:pt x="1942" y="7163"/>
                  </a:lnTo>
                  <a:cubicBezTo>
                    <a:pt x="1942" y="7714"/>
                    <a:pt x="2389" y="8161"/>
                    <a:pt x="2940" y="8161"/>
                  </a:cubicBezTo>
                  <a:lnTo>
                    <a:pt x="11273" y="8161"/>
                  </a:lnTo>
                  <a:cubicBezTo>
                    <a:pt x="11825" y="8161"/>
                    <a:pt x="12272" y="7714"/>
                    <a:pt x="12272" y="7163"/>
                  </a:cubicBezTo>
                  <a:lnTo>
                    <a:pt x="12272" y="998"/>
                  </a:lnTo>
                  <a:cubicBezTo>
                    <a:pt x="12272" y="446"/>
                    <a:pt x="11825" y="0"/>
                    <a:pt x="11273" y="0"/>
                  </a:cubicBezTo>
                  <a:close/>
                  <a:moveTo>
                    <a:pt x="11286" y="1154"/>
                  </a:moveTo>
                  <a:lnTo>
                    <a:pt x="7237" y="5276"/>
                  </a:lnTo>
                  <a:cubicBezTo>
                    <a:pt x="7199" y="5314"/>
                    <a:pt x="7148" y="5336"/>
                    <a:pt x="7093" y="5336"/>
                  </a:cubicBezTo>
                  <a:lnTo>
                    <a:pt x="7093" y="5336"/>
                  </a:lnTo>
                  <a:cubicBezTo>
                    <a:pt x="7039" y="5336"/>
                    <a:pt x="6986" y="5314"/>
                    <a:pt x="6948" y="5275"/>
                  </a:cubicBezTo>
                  <a:lnTo>
                    <a:pt x="2928" y="1158"/>
                  </a:lnTo>
                  <a:cubicBezTo>
                    <a:pt x="2850" y="1079"/>
                    <a:pt x="2851" y="951"/>
                    <a:pt x="2931" y="873"/>
                  </a:cubicBezTo>
                  <a:cubicBezTo>
                    <a:pt x="3012" y="795"/>
                    <a:pt x="3139" y="796"/>
                    <a:pt x="3217" y="877"/>
                  </a:cubicBezTo>
                  <a:lnTo>
                    <a:pt x="7093" y="4846"/>
                  </a:lnTo>
                  <a:lnTo>
                    <a:pt x="10997" y="870"/>
                  </a:lnTo>
                  <a:cubicBezTo>
                    <a:pt x="11075" y="791"/>
                    <a:pt x="11203" y="789"/>
                    <a:pt x="11282" y="868"/>
                  </a:cubicBezTo>
                  <a:cubicBezTo>
                    <a:pt x="11362" y="947"/>
                    <a:pt x="11363" y="1075"/>
                    <a:pt x="11286" y="11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ym typeface="+mn-lt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2012950" y="4888657"/>
              <a:ext cx="2168860" cy="460375"/>
              <a:chOff x="1029978" y="3929277"/>
              <a:chExt cx="2168860" cy="460375"/>
            </a:xfrm>
          </p:grpSpPr>
          <p:sp>
            <p:nvSpPr>
              <p:cNvPr id="21" name="student-woman_56914"/>
              <p:cNvSpPr/>
              <p:nvPr/>
            </p:nvSpPr>
            <p:spPr>
              <a:xfrm>
                <a:off x="1029978" y="3991219"/>
                <a:ext cx="424276" cy="307391"/>
              </a:xfrm>
              <a:custGeom>
                <a:avLst/>
                <a:gdLst>
                  <a:gd name="connsiteX0" fmla="*/ 122643 w 608203"/>
                  <a:gd name="connsiteY0" fmla="*/ 180930 h 352051"/>
                  <a:gd name="connsiteX1" fmla="*/ 304144 w 608203"/>
                  <a:gd name="connsiteY1" fmla="*/ 236743 h 352051"/>
                  <a:gd name="connsiteX2" fmla="*/ 485587 w 608203"/>
                  <a:gd name="connsiteY2" fmla="*/ 180930 h 352051"/>
                  <a:gd name="connsiteX3" fmla="*/ 485587 w 608203"/>
                  <a:gd name="connsiteY3" fmla="*/ 273108 h 352051"/>
                  <a:gd name="connsiteX4" fmla="*/ 485702 w 608203"/>
                  <a:gd name="connsiteY4" fmla="*/ 274086 h 352051"/>
                  <a:gd name="connsiteX5" fmla="*/ 304201 w 608203"/>
                  <a:gd name="connsiteY5" fmla="*/ 352051 h 352051"/>
                  <a:gd name="connsiteX6" fmla="*/ 122643 w 608203"/>
                  <a:gd name="connsiteY6" fmla="*/ 274086 h 352051"/>
                  <a:gd name="connsiteX7" fmla="*/ 122643 w 608203"/>
                  <a:gd name="connsiteY7" fmla="*/ 235822 h 352051"/>
                  <a:gd name="connsiteX8" fmla="*/ 304130 w 608203"/>
                  <a:gd name="connsiteY8" fmla="*/ 0 h 352051"/>
                  <a:gd name="connsiteX9" fmla="*/ 608203 w 608203"/>
                  <a:gd name="connsiteY9" fmla="*/ 116841 h 352051"/>
                  <a:gd name="connsiteX10" fmla="*/ 485548 w 608203"/>
                  <a:gd name="connsiteY10" fmla="*/ 160621 h 352051"/>
                  <a:gd name="connsiteX11" fmla="*/ 304130 w 608203"/>
                  <a:gd name="connsiteY11" fmla="*/ 216424 h 352051"/>
                  <a:gd name="connsiteX12" fmla="*/ 122655 w 608203"/>
                  <a:gd name="connsiteY12" fmla="*/ 160621 h 352051"/>
                  <a:gd name="connsiteX13" fmla="*/ 107906 w 608203"/>
                  <a:gd name="connsiteY13" fmla="*/ 155386 h 352051"/>
                  <a:gd name="connsiteX14" fmla="*/ 139823 w 608203"/>
                  <a:gd name="connsiteY14" fmla="*/ 144973 h 352051"/>
                  <a:gd name="connsiteX15" fmla="*/ 142876 w 608203"/>
                  <a:gd name="connsiteY15" fmla="*/ 137552 h 352051"/>
                  <a:gd name="connsiteX16" fmla="*/ 100013 w 608203"/>
                  <a:gd name="connsiteY16" fmla="*/ 147216 h 352051"/>
                  <a:gd name="connsiteX17" fmla="*/ 100013 w 608203"/>
                  <a:gd name="connsiteY17" fmla="*/ 157917 h 352051"/>
                  <a:gd name="connsiteX18" fmla="*/ 92351 w 608203"/>
                  <a:gd name="connsiteY18" fmla="*/ 286781 h 352051"/>
                  <a:gd name="connsiteX19" fmla="*/ 34740 w 608203"/>
                  <a:gd name="connsiteY19" fmla="*/ 286781 h 352051"/>
                  <a:gd name="connsiteX20" fmla="*/ 74146 w 608203"/>
                  <a:gd name="connsiteY20" fmla="*/ 143304 h 352051"/>
                  <a:gd name="connsiteX21" fmla="*/ 77142 w 608203"/>
                  <a:gd name="connsiteY21" fmla="*/ 134503 h 352051"/>
                  <a:gd name="connsiteX22" fmla="*/ 97536 w 608203"/>
                  <a:gd name="connsiteY22" fmla="*/ 129670 h 352051"/>
                  <a:gd name="connsiteX23" fmla="*/ 94137 w 608203"/>
                  <a:gd name="connsiteY23" fmla="*/ 126161 h 352051"/>
                  <a:gd name="connsiteX24" fmla="*/ 70343 w 608203"/>
                  <a:gd name="connsiteY24" fmla="*/ 128174 h 352051"/>
                  <a:gd name="connsiteX25" fmla="*/ 64813 w 608203"/>
                  <a:gd name="connsiteY25" fmla="*/ 139968 h 352051"/>
                  <a:gd name="connsiteX26" fmla="*/ 0 w 608203"/>
                  <a:gd name="connsiteY26" fmla="*/ 116841 h 352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08203" h="352051">
                    <a:moveTo>
                      <a:pt x="122643" y="180930"/>
                    </a:moveTo>
                    <a:lnTo>
                      <a:pt x="304144" y="236743"/>
                    </a:lnTo>
                    <a:lnTo>
                      <a:pt x="485587" y="180930"/>
                    </a:lnTo>
                    <a:lnTo>
                      <a:pt x="485587" y="273108"/>
                    </a:lnTo>
                    <a:cubicBezTo>
                      <a:pt x="485587" y="273395"/>
                      <a:pt x="485702" y="273740"/>
                      <a:pt x="485702" y="274086"/>
                    </a:cubicBezTo>
                    <a:cubicBezTo>
                      <a:pt x="485702" y="317182"/>
                      <a:pt x="404401" y="352051"/>
                      <a:pt x="304201" y="352051"/>
                    </a:cubicBezTo>
                    <a:cubicBezTo>
                      <a:pt x="203944" y="352051"/>
                      <a:pt x="122643" y="317182"/>
                      <a:pt x="122643" y="274086"/>
                    </a:cubicBezTo>
                    <a:lnTo>
                      <a:pt x="122643" y="235822"/>
                    </a:lnTo>
                    <a:close/>
                    <a:moveTo>
                      <a:pt x="304130" y="0"/>
                    </a:moveTo>
                    <a:lnTo>
                      <a:pt x="608203" y="116841"/>
                    </a:lnTo>
                    <a:lnTo>
                      <a:pt x="485548" y="160621"/>
                    </a:lnTo>
                    <a:lnTo>
                      <a:pt x="304130" y="216424"/>
                    </a:lnTo>
                    <a:lnTo>
                      <a:pt x="122655" y="160621"/>
                    </a:lnTo>
                    <a:lnTo>
                      <a:pt x="107906" y="155386"/>
                    </a:lnTo>
                    <a:lnTo>
                      <a:pt x="139823" y="144973"/>
                    </a:lnTo>
                    <a:lnTo>
                      <a:pt x="142876" y="137552"/>
                    </a:lnTo>
                    <a:lnTo>
                      <a:pt x="100013" y="147216"/>
                    </a:lnTo>
                    <a:lnTo>
                      <a:pt x="100013" y="157917"/>
                    </a:lnTo>
                    <a:lnTo>
                      <a:pt x="92351" y="286781"/>
                    </a:lnTo>
                    <a:cubicBezTo>
                      <a:pt x="63545" y="303925"/>
                      <a:pt x="34740" y="286781"/>
                      <a:pt x="34740" y="286781"/>
                    </a:cubicBezTo>
                    <a:cubicBezTo>
                      <a:pt x="27999" y="239665"/>
                      <a:pt x="74146" y="143304"/>
                      <a:pt x="74146" y="143304"/>
                    </a:cubicBezTo>
                    <a:lnTo>
                      <a:pt x="77142" y="134503"/>
                    </a:lnTo>
                    <a:lnTo>
                      <a:pt x="97536" y="129670"/>
                    </a:lnTo>
                    <a:lnTo>
                      <a:pt x="94137" y="126161"/>
                    </a:lnTo>
                    <a:lnTo>
                      <a:pt x="70343" y="128174"/>
                    </a:lnTo>
                    <a:lnTo>
                      <a:pt x="64813" y="139968"/>
                    </a:lnTo>
                    <a:lnTo>
                      <a:pt x="0" y="11684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2400" dirty="0">
                  <a:ea typeface="+mj-ea"/>
                  <a:sym typeface="+mn-lt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2406358" y="3929277"/>
                <a:ext cx="792480" cy="460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400" dirty="0">
                    <a:ea typeface="+mj-ea"/>
                    <a:sym typeface="+mn-lt"/>
                  </a:rPr>
                  <a:t>吴乐</a:t>
                </a:r>
                <a:endParaRPr lang="zh-CN" altLang="en-US" sz="2400" dirty="0">
                  <a:ea typeface="+mj-ea"/>
                  <a:sym typeface="+mn-lt"/>
                </a:endParaRPr>
              </a:p>
            </p:txBody>
          </p:sp>
        </p:grpSp>
        <p:sp>
          <p:nvSpPr>
            <p:cNvPr id="20" name="文本框 19"/>
            <p:cNvSpPr txBox="1"/>
            <p:nvPr/>
          </p:nvSpPr>
          <p:spPr>
            <a:xfrm>
              <a:off x="2560876" y="5350322"/>
              <a:ext cx="24497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ea typeface="+mj-ea"/>
                  <a:sym typeface="+mn-lt"/>
                </a:rPr>
                <a:t>lewu@hfut.edu.cn</a:t>
              </a:r>
              <a:endParaRPr lang="zh-CN" altLang="en-US" sz="2400" dirty="0">
                <a:ea typeface="+mj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文本框 269"/>
          <p:cNvSpPr txBox="1"/>
          <p:nvPr/>
        </p:nvSpPr>
        <p:spPr>
          <a:xfrm>
            <a:off x="12202" y="-75684"/>
            <a:ext cx="203132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600" dirty="0">
                <a:solidFill>
                  <a:schemeClr val="bg1"/>
                </a:solidFill>
                <a:ea typeface="+mj-ea"/>
                <a:sym typeface="+mn-lt"/>
              </a:rPr>
              <a:t>目录</a:t>
            </a:r>
            <a:endParaRPr lang="zh-CN" altLang="en-US" sz="6600" b="1" spc="600" dirty="0">
              <a:solidFill>
                <a:schemeClr val="bg1"/>
              </a:solidFill>
              <a:ea typeface="+mj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233584" y="2432501"/>
            <a:ext cx="732299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b="1" dirty="0">
                <a:solidFill>
                  <a:srgbClr val="000000"/>
                </a:solidFill>
                <a:ea typeface="+mj-ea"/>
                <a:sym typeface="+mn-lt"/>
              </a:rPr>
              <a:t>基于大模型的能量调度算法可解释性研究</a:t>
            </a:r>
            <a:endParaRPr lang="zh-CN" altLang="en-US" sz="4400" b="1" dirty="0">
              <a:solidFill>
                <a:srgbClr val="000000"/>
              </a:solidFill>
              <a:ea typeface="+mj-ea"/>
              <a:sym typeface="+mn-lt"/>
            </a:endParaRPr>
          </a:p>
        </p:txBody>
      </p:sp>
      <p:sp>
        <p:nvSpPr>
          <p:cNvPr id="26" name="等腰三角形 25"/>
          <p:cNvSpPr/>
          <p:nvPr/>
        </p:nvSpPr>
        <p:spPr>
          <a:xfrm rot="5400000">
            <a:off x="5140325" y="4463133"/>
            <a:ext cx="191516" cy="1651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423088" y="4341044"/>
            <a:ext cx="3334197" cy="408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cs"/>
                <a:sym typeface="+mn-lt"/>
              </a:rPr>
              <a:t>项目背景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+mn-cs"/>
              <a:sym typeface="+mn-lt"/>
            </a:endParaRPr>
          </a:p>
        </p:txBody>
      </p:sp>
      <p:sp>
        <p:nvSpPr>
          <p:cNvPr id="8" name="等腰三角形 7"/>
          <p:cNvSpPr/>
          <p:nvPr/>
        </p:nvSpPr>
        <p:spPr>
          <a:xfrm rot="5400000">
            <a:off x="5140325" y="4950813"/>
            <a:ext cx="191516" cy="1651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423088" y="4828724"/>
            <a:ext cx="3334197" cy="408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cs"/>
                <a:sym typeface="+mn-lt"/>
              </a:rPr>
              <a:t>技术方案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+mn-cs"/>
              <a:sym typeface="+mn-lt"/>
            </a:endParaRPr>
          </a:p>
        </p:txBody>
      </p:sp>
      <p:sp>
        <p:nvSpPr>
          <p:cNvPr id="10" name="等腰三角形 9"/>
          <p:cNvSpPr/>
          <p:nvPr/>
        </p:nvSpPr>
        <p:spPr>
          <a:xfrm rot="5400000">
            <a:off x="5140325" y="5438493"/>
            <a:ext cx="191516" cy="1651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23088" y="5316404"/>
            <a:ext cx="3334197" cy="408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cs"/>
                <a:sym typeface="+mn-lt"/>
              </a:rPr>
              <a:t>预期成果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+mn-cs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6"/>
          <p:cNvSpPr txBox="1"/>
          <p:nvPr/>
        </p:nvSpPr>
        <p:spPr>
          <a:xfrm>
            <a:off x="0" y="-1"/>
            <a:ext cx="8509210" cy="44307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5" dirty="0">
                <a:latin typeface="+mn-lt"/>
                <a:ea typeface="+mn-ea"/>
                <a:cs typeface="+mn-ea"/>
                <a:sym typeface="+mn-lt"/>
              </a:rPr>
              <a:t>研究背景</a:t>
            </a:r>
            <a:endParaRPr lang="zh-CN" altLang="en-US" sz="2800" spc="-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Rectangle 4"/>
          <p:cNvSpPr/>
          <p:nvPr/>
        </p:nvSpPr>
        <p:spPr>
          <a:xfrm>
            <a:off x="3760806" y="701508"/>
            <a:ext cx="4699000" cy="596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sym typeface="+mn-lt"/>
              </a:rPr>
              <a:t>基于大模型的能量调度算法可解释性研究</a:t>
            </a:r>
            <a:endParaRPr lang="zh-CN" altLang="en-US" b="1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4" name="Up Arrow 5"/>
          <p:cNvSpPr/>
          <p:nvPr/>
        </p:nvSpPr>
        <p:spPr>
          <a:xfrm>
            <a:off x="5907106" y="1376771"/>
            <a:ext cx="406400" cy="39878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8"/>
          <p:cNvSpPr/>
          <p:nvPr/>
        </p:nvSpPr>
        <p:spPr>
          <a:xfrm>
            <a:off x="1906605" y="1909447"/>
            <a:ext cx="8203566" cy="1636744"/>
          </a:xfrm>
          <a:prstGeom prst="roundRect">
            <a:avLst/>
          </a:prstGeom>
          <a:noFill/>
          <a:ln w="34925">
            <a:solidFill>
              <a:srgbClr val="92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11"/>
          <p:cNvSpPr/>
          <p:nvPr/>
        </p:nvSpPr>
        <p:spPr>
          <a:xfrm>
            <a:off x="1906605" y="4157230"/>
            <a:ext cx="8203566" cy="1289461"/>
          </a:xfrm>
          <a:prstGeom prst="roundRect">
            <a:avLst/>
          </a:prstGeom>
          <a:noFill/>
          <a:ln w="34925">
            <a:solidFill>
              <a:srgbClr val="92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11"/>
          <p:cNvSpPr txBox="1"/>
          <p:nvPr/>
        </p:nvSpPr>
        <p:spPr>
          <a:xfrm>
            <a:off x="2058370" y="2052287"/>
            <a:ext cx="213296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sym typeface="+mn-ea"/>
              </a:rPr>
              <a:t> 解释数据集缺失，全人工标注成本高</a:t>
            </a:r>
            <a:endParaRPr lang="zh-CN" altLang="en-US" sz="1600" dirty="0">
              <a:solidFill>
                <a:schemeClr val="bg2">
                  <a:lumMod val="25000"/>
                </a:schemeClr>
              </a:solidFill>
              <a:sym typeface="+mn-ea"/>
            </a:endParaRPr>
          </a:p>
        </p:txBody>
      </p:sp>
      <p:sp>
        <p:nvSpPr>
          <p:cNvPr id="9" name="文本框 12"/>
          <p:cNvSpPr txBox="1"/>
          <p:nvPr/>
        </p:nvSpPr>
        <p:spPr>
          <a:xfrm>
            <a:off x="7579696" y="2052287"/>
            <a:ext cx="253047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sym typeface="+mn-ea"/>
              </a:rPr>
              <a:t>用户专业水平不一致，统一的解释方案难兼顾</a:t>
            </a:r>
            <a:endParaRPr lang="zh-CN" altLang="en-US" sz="1600" dirty="0">
              <a:solidFill>
                <a:schemeClr val="bg2">
                  <a:lumMod val="25000"/>
                </a:schemeClr>
              </a:solidFill>
              <a:sym typeface="+mn-ea"/>
            </a:endParaRPr>
          </a:p>
        </p:txBody>
      </p:sp>
      <p:sp>
        <p:nvSpPr>
          <p:cNvPr id="10" name="文本框 44"/>
          <p:cNvSpPr txBox="1"/>
          <p:nvPr/>
        </p:nvSpPr>
        <p:spPr>
          <a:xfrm>
            <a:off x="5009658" y="2052287"/>
            <a:ext cx="21329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</a:rPr>
              <a:t>传统求解器输出结果可解释性缺失</a:t>
            </a:r>
            <a:endParaRPr lang="zh-CN" alt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1" name="Picture 5" descr="软件测试黑盒测试_w3cschool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048" y="2667757"/>
            <a:ext cx="1842680" cy="72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8"/>
          <p:cNvSpPr/>
          <p:nvPr>
            <p:custDataLst>
              <p:tags r:id="rId2"/>
            </p:custDataLst>
          </p:nvPr>
        </p:nvSpPr>
        <p:spPr>
          <a:xfrm>
            <a:off x="622099" y="5816676"/>
            <a:ext cx="10947802" cy="9372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+mn-lt"/>
            </a:endParaRPr>
          </a:p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+mn-lt"/>
              </a:rPr>
              <a:t>项目目标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+mn-lt"/>
              </a:rPr>
              <a:t>：</a:t>
            </a:r>
            <a:r>
              <a:rPr lang="zh-CN" altLang="en-US" sz="2000" dirty="0">
                <a:latin typeface="+mj-ea"/>
                <a:ea typeface="+mj-ea"/>
                <a:cs typeface="+mj-ea"/>
              </a:rPr>
              <a:t>将传统求解器输出的“结构化数据”和业务知识作为上下文，通过利用</a:t>
            </a:r>
            <a:r>
              <a:rPr lang="en-US" altLang="zh-CN" sz="2000" dirty="0">
                <a:latin typeface="+mj-ea"/>
                <a:ea typeface="+mj-ea"/>
                <a:cs typeface="+mj-ea"/>
              </a:rPr>
              <a:t>LLM</a:t>
            </a:r>
            <a:r>
              <a:rPr lang="zh-CN" altLang="en-US" sz="2000" dirty="0">
                <a:latin typeface="+mj-ea"/>
                <a:ea typeface="+mj-ea"/>
                <a:cs typeface="+mj-ea"/>
              </a:rPr>
              <a:t>实现面向不同用户的“自然语言解释”生成</a:t>
            </a:r>
            <a:endParaRPr lang="en-US" altLang="zh-CN" sz="2000" dirty="0">
              <a:latin typeface="+mj-ea"/>
              <a:ea typeface="+mj-ea"/>
              <a:cs typeface="+mj-ea"/>
            </a:endParaRPr>
          </a:p>
          <a:p>
            <a:pPr algn="ctr">
              <a:lnSpc>
                <a:spcPct val="130000"/>
              </a:lnSpc>
            </a:pP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+mn-lt"/>
            </a:endParaRPr>
          </a:p>
        </p:txBody>
      </p:sp>
      <p:sp>
        <p:nvSpPr>
          <p:cNvPr id="14" name="Up Arrow 20"/>
          <p:cNvSpPr/>
          <p:nvPr/>
        </p:nvSpPr>
        <p:spPr>
          <a:xfrm>
            <a:off x="5927388" y="3651802"/>
            <a:ext cx="406400" cy="39878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933" y="2705702"/>
            <a:ext cx="825536" cy="720321"/>
          </a:xfrm>
          <a:prstGeom prst="rect">
            <a:avLst/>
          </a:prstGeom>
        </p:spPr>
      </p:pic>
      <p:pic>
        <p:nvPicPr>
          <p:cNvPr id="16" name="Picture 22"/>
          <p:cNvPicPr>
            <a:picLocks noChangeAspect="1"/>
          </p:cNvPicPr>
          <p:nvPr/>
        </p:nvPicPr>
        <p:blipFill>
          <a:blip r:embed="rId4"/>
          <a:srcRect l="17560" r="23887"/>
          <a:stretch>
            <a:fillRect/>
          </a:stretch>
        </p:blipFill>
        <p:spPr>
          <a:xfrm>
            <a:off x="8507566" y="2680909"/>
            <a:ext cx="401592" cy="821435"/>
          </a:xfrm>
          <a:prstGeom prst="rect">
            <a:avLst/>
          </a:prstGeom>
        </p:spPr>
      </p:pic>
      <p:pic>
        <p:nvPicPr>
          <p:cNvPr id="17" name="Picture 23"/>
          <p:cNvPicPr>
            <a:picLocks noChangeAspect="1"/>
          </p:cNvPicPr>
          <p:nvPr/>
        </p:nvPicPr>
        <p:blipFill>
          <a:blip r:embed="rId5"/>
          <a:srcRect l="18009" t="14201" r="25410" b="13483"/>
          <a:stretch>
            <a:fillRect/>
          </a:stretch>
        </p:blipFill>
        <p:spPr>
          <a:xfrm>
            <a:off x="2670783" y="2588544"/>
            <a:ext cx="1027564" cy="86331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6862" y="4305676"/>
            <a:ext cx="1907487" cy="984443"/>
          </a:xfrm>
          <a:prstGeom prst="rect">
            <a:avLst/>
          </a:prstGeom>
        </p:spPr>
      </p:pic>
      <p:sp>
        <p:nvSpPr>
          <p:cNvPr id="19" name="文本框 44"/>
          <p:cNvSpPr txBox="1"/>
          <p:nvPr/>
        </p:nvSpPr>
        <p:spPr>
          <a:xfrm>
            <a:off x="3983086" y="4459122"/>
            <a:ext cx="5988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</a:rPr>
              <a:t>电价组成复杂</a:t>
            </a:r>
            <a:endParaRPr lang="zh-CN" alt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6047" y="4228903"/>
            <a:ext cx="1707447" cy="1137988"/>
          </a:xfrm>
          <a:prstGeom prst="rect">
            <a:avLst/>
          </a:prstGeom>
        </p:spPr>
      </p:pic>
      <p:sp>
        <p:nvSpPr>
          <p:cNvPr id="22" name="文本框 44"/>
          <p:cNvSpPr txBox="1"/>
          <p:nvPr/>
        </p:nvSpPr>
        <p:spPr>
          <a:xfrm>
            <a:off x="9433375" y="4412553"/>
            <a:ext cx="5988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</a:rPr>
              <a:t>领域知识众多</a:t>
            </a:r>
            <a:endParaRPr lang="zh-CN" alt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026" name="Picture 2" descr="span class=&quot;emphasis_bold&quot;&gt;基于多智能体混合调度的电网自愈系统&lt;/span&gt;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35" r="1875"/>
          <a:stretch>
            <a:fillRect/>
          </a:stretch>
        </p:blipFill>
        <p:spPr bwMode="auto">
          <a:xfrm>
            <a:off x="4978426" y="4195721"/>
            <a:ext cx="1484394" cy="1224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文本框 44"/>
          <p:cNvSpPr txBox="1"/>
          <p:nvPr/>
        </p:nvSpPr>
        <p:spPr>
          <a:xfrm>
            <a:off x="6301538" y="4586074"/>
            <a:ext cx="10173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</a:rPr>
              <a:t>调度逻辑不透明</a:t>
            </a:r>
            <a:endParaRPr lang="zh-CN" alt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箭头: 右 22"/>
          <p:cNvSpPr/>
          <p:nvPr/>
        </p:nvSpPr>
        <p:spPr>
          <a:xfrm>
            <a:off x="4555896" y="4539500"/>
            <a:ext cx="334370" cy="577101"/>
          </a:xfrm>
          <a:prstGeom prst="rightArrow">
            <a:avLst/>
          </a:prstGeom>
          <a:noFill/>
          <a:ln w="19050">
            <a:solidFill>
              <a:srgbClr val="8B00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25"/>
          <p:cNvSpPr/>
          <p:nvPr/>
        </p:nvSpPr>
        <p:spPr>
          <a:xfrm flipH="1">
            <a:off x="7297713" y="4539500"/>
            <a:ext cx="334370" cy="577101"/>
          </a:xfrm>
          <a:prstGeom prst="rightArrow">
            <a:avLst/>
          </a:prstGeom>
          <a:noFill/>
          <a:ln w="19050">
            <a:solidFill>
              <a:srgbClr val="8B00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881188" y="3514206"/>
            <a:ext cx="3907086" cy="744159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object 6"/>
          <p:cNvSpPr txBox="1"/>
          <p:nvPr/>
        </p:nvSpPr>
        <p:spPr>
          <a:xfrm>
            <a:off x="0" y="-1"/>
            <a:ext cx="8509210" cy="44307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5" dirty="0">
                <a:latin typeface="+mn-lt"/>
                <a:ea typeface="+mn-ea"/>
                <a:cs typeface="+mn-ea"/>
                <a:sym typeface="+mn-lt"/>
              </a:rPr>
              <a:t>研究内容</a:t>
            </a:r>
            <a:endParaRPr lang="zh-CN" altLang="en-US" sz="2800" spc="-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 rot="16200000">
            <a:off x="5706594" y="-2041931"/>
            <a:ext cx="450970" cy="568515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>
              <a:lnSpc>
                <a:spcPct val="13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+mn-lt"/>
              </a:rPr>
              <a:t>基于大模型的能量调度算法可解释性研究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33691" y="1116779"/>
            <a:ext cx="9325292" cy="5684520"/>
            <a:chOff x="787802" y="794050"/>
            <a:chExt cx="9325292" cy="5684520"/>
          </a:xfrm>
        </p:grpSpPr>
        <p:sp>
          <p:nvSpPr>
            <p:cNvPr id="9" name="文本框 8"/>
            <p:cNvSpPr txBox="1"/>
            <p:nvPr/>
          </p:nvSpPr>
          <p:spPr>
            <a:xfrm>
              <a:off x="1962011" y="5821216"/>
              <a:ext cx="1883741" cy="5847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600" dirty="0">
                  <a:latin typeface="+mj-ea"/>
                  <a:ea typeface="+mj-ea"/>
                  <a:sym typeface="+mn-ea"/>
                </a:rPr>
                <a:t> 解释数据集缺失，全人工标注成本高</a:t>
              </a:r>
              <a:endParaRPr lang="zh-CN" altLang="en-US" sz="1600" dirty="0"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440005" y="5821216"/>
              <a:ext cx="2355849" cy="5847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600" dirty="0">
                  <a:latin typeface="+mj-ea"/>
                  <a:ea typeface="+mj-ea"/>
                  <a:sym typeface="+mn-ea"/>
                </a:rPr>
                <a:t>用户专业水平不一致，统一解释方案难兼顾</a:t>
              </a:r>
              <a:endParaRPr lang="zh-CN" altLang="en-US" sz="1600" dirty="0"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11" name="矩形: 圆角 1"/>
            <p:cNvSpPr/>
            <p:nvPr/>
          </p:nvSpPr>
          <p:spPr bwMode="auto">
            <a:xfrm>
              <a:off x="1484079" y="5719110"/>
              <a:ext cx="8629015" cy="759460"/>
            </a:xfrm>
            <a:prstGeom prst="roundRect">
              <a:avLst>
                <a:gd name="adj" fmla="val 7016"/>
              </a:avLst>
            </a:prstGeom>
            <a:noFill/>
            <a:ln w="28575" cap="flat" cmpd="sng" algn="ctr">
              <a:solidFill>
                <a:schemeClr val="accent1">
                  <a:shade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787802" y="5733715"/>
              <a:ext cx="657225" cy="64516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8B0012"/>
                  </a:solidFill>
                  <a:latin typeface="+mj-ea"/>
                  <a:ea typeface="+mj-ea"/>
                  <a:sym typeface="+mn-ea"/>
                </a:rPr>
                <a:t>研究挑战</a:t>
              </a:r>
              <a:endParaRPr lang="zh-CN" altLang="en-US" b="1" dirty="0">
                <a:solidFill>
                  <a:srgbClr val="8B0012"/>
                </a:solidFill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13" name="虚尾箭头 40"/>
            <p:cNvSpPr/>
            <p:nvPr/>
          </p:nvSpPr>
          <p:spPr>
            <a:xfrm rot="16200000">
              <a:off x="5642377" y="5274610"/>
              <a:ext cx="400050" cy="431165"/>
            </a:xfrm>
            <a:prstGeom prst="striped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5" name="矩形: 圆角 1"/>
            <p:cNvSpPr/>
            <p:nvPr/>
          </p:nvSpPr>
          <p:spPr bwMode="auto">
            <a:xfrm>
              <a:off x="1476459" y="794050"/>
              <a:ext cx="8629015" cy="3232150"/>
            </a:xfrm>
            <a:prstGeom prst="roundRect">
              <a:avLst>
                <a:gd name="adj" fmla="val 7016"/>
              </a:avLst>
            </a:prstGeom>
            <a:noFill/>
            <a:ln w="28575" cap="flat" cmpd="sng" algn="ctr">
              <a:solidFill>
                <a:schemeClr val="accent1">
                  <a:shade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583283" y="2506118"/>
              <a:ext cx="4007905" cy="685360"/>
            </a:xfrm>
            <a:prstGeom prst="roundRect">
              <a:avLst>
                <a:gd name="adj" fmla="val 9584"/>
              </a:avLst>
            </a:prstGeom>
            <a:solidFill>
              <a:schemeClr val="accent4">
                <a:lumMod val="40000"/>
                <a:lumOff val="60000"/>
                <a:alpha val="70000"/>
              </a:schemeClr>
            </a:solidFill>
          </p:spPr>
          <p:txBody>
            <a:bodyPr wrap="square" rtlCol="0" anchor="t">
              <a:noAutofit/>
            </a:bodyPr>
            <a:lstStyle/>
            <a:p>
              <a:pPr indent="0" algn="ctr" fontAlgn="auto">
                <a:spcAft>
                  <a:spcPts val="600"/>
                </a:spcAft>
              </a:pPr>
              <a:r>
                <a:rPr lang="zh-CN" altLang="en-US" sz="1600" b="1" dirty="0">
                  <a:solidFill>
                    <a:schemeClr val="tx1"/>
                  </a:solidFill>
                  <a:latin typeface="+mj-ea"/>
                  <a:ea typeface="+mj-ea"/>
                  <a:sym typeface="+mn-ea"/>
                </a:rPr>
                <a:t>研究内容一</a:t>
              </a:r>
              <a:endPara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endParaRPr>
            </a:p>
            <a:p>
              <a:pPr indent="0" algn="ctr" fontAlgn="auto">
                <a:spcAft>
                  <a:spcPts val="600"/>
                </a:spcAft>
              </a:pPr>
              <a:r>
                <a:rPr lang="zh-CN" altLang="en-US" sz="1600" b="1" dirty="0">
                  <a:solidFill>
                    <a:schemeClr val="tx1"/>
                  </a:solidFill>
                  <a:latin typeface="+mj-ea"/>
                  <a:ea typeface="+mj-ea"/>
                  <a:sym typeface="+mn-ea"/>
                </a:rPr>
                <a:t>面向光伏监测数据的异常识别与特征构建</a:t>
              </a:r>
              <a:endPara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157838" y="2506118"/>
              <a:ext cx="3857625" cy="685359"/>
            </a:xfrm>
            <a:prstGeom prst="roundRect">
              <a:avLst>
                <a:gd name="adj" fmla="val 9584"/>
              </a:avLst>
            </a:prstGeom>
            <a:solidFill>
              <a:schemeClr val="accent6">
                <a:lumMod val="60000"/>
                <a:lumOff val="40000"/>
                <a:alpha val="70000"/>
              </a:schemeClr>
            </a:solidFill>
          </p:spPr>
          <p:txBody>
            <a:bodyPr wrap="square" rtlCol="0" anchor="t">
              <a:noAutofit/>
            </a:bodyPr>
            <a:lstStyle/>
            <a:p>
              <a:pPr algn="ctr">
                <a:spcAft>
                  <a:spcPts val="600"/>
                </a:spcAft>
                <a:buClrTx/>
                <a:buSzTx/>
                <a:buNone/>
              </a:pPr>
              <a:r>
                <a:rPr lang="zh-CN" altLang="en-US" sz="1600" b="1" dirty="0">
                  <a:solidFill>
                    <a:schemeClr val="tx1"/>
                  </a:solidFill>
                  <a:latin typeface="+mj-ea"/>
                  <a:ea typeface="+mj-ea"/>
                  <a:sym typeface="+mn-ea"/>
                </a:rPr>
                <a:t>研究内容二</a:t>
              </a:r>
              <a:endPara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endParaRPr>
            </a:p>
            <a:p>
              <a:pPr indent="0" algn="ctr">
                <a:buNone/>
              </a:pPr>
              <a:r>
                <a:rPr lang="zh-CN" altLang="en-US" sz="1600" b="1" dirty="0">
                  <a:solidFill>
                    <a:schemeClr val="tx1"/>
                  </a:solidFill>
                  <a:latin typeface="+mj-ea"/>
                  <a:ea typeface="+mj-ea"/>
                  <a:sym typeface="+mn-ea"/>
                </a:rPr>
                <a:t>面向能量调度算法的推理大模型训练</a:t>
              </a:r>
              <a:endPara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496341" y="926142"/>
              <a:ext cx="4692122" cy="681539"/>
            </a:xfrm>
            <a:prstGeom prst="roundRect">
              <a:avLst>
                <a:gd name="adj" fmla="val 7357"/>
              </a:avLst>
            </a:prstGeom>
            <a:solidFill>
              <a:schemeClr val="accent5">
                <a:lumMod val="60000"/>
                <a:lumOff val="40000"/>
                <a:alpha val="70000"/>
              </a:schemeClr>
            </a:solidFill>
          </p:spPr>
          <p:txBody>
            <a:bodyPr wrap="square" rtlCol="0" anchor="t">
              <a:noAutofit/>
            </a:bodyPr>
            <a:lstStyle/>
            <a:p>
              <a:pPr algn="ctr">
                <a:spcAft>
                  <a:spcPts val="600"/>
                </a:spcAft>
                <a:buClrTx/>
                <a:buSzTx/>
                <a:buNone/>
              </a:pPr>
              <a:endParaRPr lang="zh-CN" altLang="en-US" sz="1400" dirty="0"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19" name="上箭头 16"/>
            <p:cNvSpPr/>
            <p:nvPr/>
          </p:nvSpPr>
          <p:spPr>
            <a:xfrm rot="17460000">
              <a:off x="6726440" y="2191837"/>
              <a:ext cx="257810" cy="381635"/>
            </a:xfrm>
            <a:prstGeom prst="up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0" name="上箭头 20"/>
            <p:cNvSpPr/>
            <p:nvPr/>
          </p:nvSpPr>
          <p:spPr>
            <a:xfrm rot="4140000">
              <a:off x="4498742" y="2196130"/>
              <a:ext cx="257810" cy="385445"/>
            </a:xfrm>
            <a:prstGeom prst="up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1" name="上箭头 21"/>
            <p:cNvSpPr/>
            <p:nvPr/>
          </p:nvSpPr>
          <p:spPr>
            <a:xfrm rot="5400000">
              <a:off x="5748104" y="2968925"/>
              <a:ext cx="257810" cy="381635"/>
            </a:xfrm>
            <a:prstGeom prst="up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88119" y="1986898"/>
              <a:ext cx="656590" cy="64516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8B0012"/>
                  </a:solidFill>
                  <a:latin typeface="+mj-ea"/>
                  <a:ea typeface="+mj-ea"/>
                  <a:sym typeface="+mn-ea"/>
                </a:rPr>
                <a:t>研究内容</a:t>
              </a:r>
              <a:endParaRPr lang="zh-CN" altLang="en-US" b="1" dirty="0">
                <a:solidFill>
                  <a:srgbClr val="8B0012"/>
                </a:solidFill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91612" y="4523405"/>
              <a:ext cx="657225" cy="64516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8B0012"/>
                  </a:solidFill>
                  <a:latin typeface="+mj-ea"/>
                  <a:ea typeface="+mj-ea"/>
                  <a:sym typeface="+mn-ea"/>
                </a:rPr>
                <a:t>关键问题</a:t>
              </a:r>
              <a:endParaRPr lang="zh-CN" altLang="en-US" b="1" dirty="0">
                <a:solidFill>
                  <a:srgbClr val="8B0012"/>
                </a:solidFill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569929" y="4622873"/>
              <a:ext cx="3056762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+mj-ea"/>
                  <a:ea typeface="+mj-ea"/>
                </a:rPr>
                <a:t>如何自动</a:t>
              </a:r>
              <a:r>
                <a:rPr lang="zh-CN" altLang="en-US" sz="1600" b="1" dirty="0">
                  <a:latin typeface="+mj-ea"/>
                  <a:ea typeface="+mj-ea"/>
                </a:rPr>
                <a:t>识别异常</a:t>
              </a:r>
              <a:r>
                <a:rPr lang="zh-CN" altLang="en-US" sz="1600" dirty="0">
                  <a:latin typeface="+mj-ea"/>
                  <a:ea typeface="+mj-ea"/>
                </a:rPr>
                <a:t>并构建支撑解释的高质量时序特征</a:t>
              </a:r>
              <a:endParaRPr lang="zh-CN" altLang="en-US" sz="1600" dirty="0">
                <a:latin typeface="+mj-ea"/>
                <a:ea typeface="+mj-ea"/>
              </a:endParaRPr>
            </a:p>
          </p:txBody>
        </p:sp>
        <p:sp>
          <p:nvSpPr>
            <p:cNvPr id="25" name="矩形: 圆角 1"/>
            <p:cNvSpPr/>
            <p:nvPr/>
          </p:nvSpPr>
          <p:spPr bwMode="auto">
            <a:xfrm>
              <a:off x="1484079" y="4521500"/>
              <a:ext cx="8629015" cy="759460"/>
            </a:xfrm>
            <a:prstGeom prst="roundRect">
              <a:avLst>
                <a:gd name="adj" fmla="val 7016"/>
              </a:avLst>
            </a:prstGeom>
            <a:noFill/>
            <a:ln w="28575" cap="flat" cmpd="sng" algn="ctr">
              <a:solidFill>
                <a:schemeClr val="accent1">
                  <a:shade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335605" y="4609447"/>
              <a:ext cx="2460249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+mj-ea"/>
                  <a:ea typeface="+mj-ea"/>
                </a:rPr>
                <a:t>如何实现面向</a:t>
              </a:r>
              <a:r>
                <a:rPr lang="zh-CN" altLang="en-US" sz="1600" b="1" dirty="0">
                  <a:latin typeface="+mj-ea"/>
                  <a:ea typeface="+mj-ea"/>
                </a:rPr>
                <a:t>不同水平用户</a:t>
              </a:r>
              <a:r>
                <a:rPr lang="zh-CN" altLang="en-US" sz="1600" dirty="0">
                  <a:latin typeface="+mj-ea"/>
                  <a:ea typeface="+mj-ea"/>
                </a:rPr>
                <a:t>的个性化调度解释</a:t>
              </a:r>
              <a:endParaRPr lang="zh-CN" altLang="en-US" sz="1600" dirty="0">
                <a:latin typeface="+mj-ea"/>
                <a:ea typeface="+mj-ea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664374" y="4608842"/>
              <a:ext cx="2460249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+mj-ea"/>
                  <a:ea typeface="+mj-ea"/>
                </a:rPr>
                <a:t>如何结合</a:t>
              </a:r>
              <a:r>
                <a:rPr lang="zh-CN" altLang="en-US" sz="1600" b="1" dirty="0">
                  <a:latin typeface="+mj-ea"/>
                  <a:ea typeface="+mj-ea"/>
                </a:rPr>
                <a:t>领域知识</a:t>
              </a:r>
              <a:r>
                <a:rPr lang="zh-CN" altLang="en-US" sz="1600" dirty="0">
                  <a:latin typeface="+mj-ea"/>
                  <a:ea typeface="+mj-ea"/>
                </a:rPr>
                <a:t>构建具有解释能力的推理大模型</a:t>
              </a:r>
              <a:endParaRPr lang="zh-CN" altLang="en-US" sz="1600" dirty="0">
                <a:latin typeface="+mj-ea"/>
                <a:ea typeface="+mj-ea"/>
              </a:endParaRPr>
            </a:p>
          </p:txBody>
        </p:sp>
        <p:sp>
          <p:nvSpPr>
            <p:cNvPr id="28" name="虚尾箭头 45"/>
            <p:cNvSpPr/>
            <p:nvPr/>
          </p:nvSpPr>
          <p:spPr>
            <a:xfrm rot="16200000">
              <a:off x="5642377" y="4077000"/>
              <a:ext cx="400050" cy="431165"/>
            </a:xfrm>
            <a:prstGeom prst="striped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9" name="文本框 44"/>
            <p:cNvSpPr txBox="1"/>
            <p:nvPr/>
          </p:nvSpPr>
          <p:spPr>
            <a:xfrm>
              <a:off x="4775919" y="5821216"/>
              <a:ext cx="213296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+mj-ea"/>
                  <a:ea typeface="+mj-ea"/>
                </a:rPr>
                <a:t>传统求解器输出结果可解释性缺失</a:t>
              </a:r>
              <a:endParaRPr lang="zh-CN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4007719" y="1262483"/>
            <a:ext cx="422115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ClrTx/>
              <a:buSzTx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研究内容三</a:t>
            </a:r>
            <a:endParaRPr lang="zh-CN" altLang="en-US" sz="1600" b="1" dirty="0">
              <a:solidFill>
                <a:schemeClr val="tx1"/>
              </a:solidFill>
              <a:latin typeface="+mj-ea"/>
              <a:ea typeface="+mj-ea"/>
              <a:sym typeface="+mn-ea"/>
            </a:endParaRPr>
          </a:p>
          <a:p>
            <a:pPr algn="ctr">
              <a:spcAft>
                <a:spcPts val="600"/>
              </a:spcAft>
              <a:buClrTx/>
              <a:buSzTx/>
              <a:buNone/>
            </a:pPr>
            <a:r>
              <a:rPr lang="zh-CN" altLang="en-US" sz="1600" b="1" dirty="0">
                <a:latin typeface="+mj-ea"/>
                <a:ea typeface="+mj-ea"/>
                <a:sym typeface="+mn-ea"/>
              </a:rPr>
              <a:t>用户感知</a:t>
            </a: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的可解释性增强方法</a:t>
            </a:r>
            <a:endParaRPr lang="zh-CN" altLang="en-US" sz="1600" b="1" dirty="0">
              <a:solidFill>
                <a:schemeClr val="tx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978720" y="3563119"/>
            <a:ext cx="3708807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zh-CN" altLang="en-US" sz="1200" dirty="0">
                <a:latin typeface="+mj-ea"/>
                <a:ea typeface="+mj-ea"/>
                <a:sym typeface="+mn-ea"/>
              </a:rPr>
              <a:t>针对光伏监测数据中的噪声干扰、数据突变及传感器漂移等问题，构建</a:t>
            </a:r>
            <a:r>
              <a:rPr lang="zh-CN" altLang="en-US" sz="1200" u="sng" dirty="0">
                <a:latin typeface="+mj-ea"/>
                <a:ea typeface="+mj-ea"/>
                <a:sym typeface="+mn-ea"/>
              </a:rPr>
              <a:t>智能异常识别机制</a:t>
            </a:r>
            <a:r>
              <a:rPr lang="zh-CN" altLang="en-US" sz="1200" dirty="0">
                <a:latin typeface="+mj-ea"/>
                <a:ea typeface="+mj-ea"/>
                <a:sym typeface="+mn-ea"/>
              </a:rPr>
              <a:t>；结合轻量化深度特征建模方法，构建</a:t>
            </a:r>
            <a:r>
              <a:rPr lang="zh-CN" altLang="en-US" sz="1200" u="sng" dirty="0">
                <a:latin typeface="+mj-ea"/>
                <a:ea typeface="+mj-ea"/>
                <a:sym typeface="+mn-ea"/>
              </a:rPr>
              <a:t>高质量的时序特征表示</a:t>
            </a:r>
            <a:endParaRPr lang="zh-CN" altLang="en-US" sz="1200" u="sng" dirty="0">
              <a:latin typeface="+mj-ea"/>
              <a:ea typeface="+mj-ea"/>
              <a:sym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436720" y="3497496"/>
            <a:ext cx="3794483" cy="744159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482739" y="3554765"/>
            <a:ext cx="3708807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zh-CN" altLang="en-US" sz="1200" dirty="0">
                <a:latin typeface="+mj-ea"/>
                <a:ea typeface="+mj-ea"/>
                <a:sym typeface="+mn-ea"/>
              </a:rPr>
              <a:t>基于已构建的高质量特征，利用</a:t>
            </a:r>
            <a:r>
              <a:rPr lang="zh-CN" altLang="en-US" sz="1200" u="sng" dirty="0">
                <a:latin typeface="+mj-ea"/>
                <a:ea typeface="+mj-ea"/>
                <a:sym typeface="+mn-ea"/>
              </a:rPr>
              <a:t>有监督微调</a:t>
            </a:r>
            <a:r>
              <a:rPr lang="zh-CN" altLang="en-US" sz="1200" dirty="0">
                <a:latin typeface="+mj-ea"/>
                <a:ea typeface="+mj-ea"/>
                <a:sym typeface="+mn-ea"/>
              </a:rPr>
              <a:t>与</a:t>
            </a:r>
            <a:r>
              <a:rPr lang="zh-CN" altLang="en-US" sz="1200" u="sng" dirty="0">
                <a:latin typeface="+mj-ea"/>
                <a:ea typeface="+mj-ea"/>
                <a:sym typeface="+mn-ea"/>
              </a:rPr>
              <a:t>判别器联合训练</a:t>
            </a:r>
            <a:r>
              <a:rPr lang="zh-CN" altLang="en-US" sz="1200" dirty="0">
                <a:latin typeface="+mj-ea"/>
                <a:ea typeface="+mj-ea"/>
                <a:sym typeface="+mn-ea"/>
              </a:rPr>
              <a:t>，构建可解释推理大模型；大模型生成和小模型判别迭代进行</a:t>
            </a:r>
            <a:endParaRPr lang="zh-CN" altLang="en-US" sz="1200" dirty="0">
              <a:latin typeface="+mj-ea"/>
              <a:ea typeface="+mj-ea"/>
              <a:sym typeface="+mn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791585" y="1933575"/>
            <a:ext cx="4642485" cy="65151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3892463" y="1962535"/>
            <a:ext cx="4407074" cy="906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ClrTx/>
              <a:buSzTx/>
              <a:buNone/>
            </a:pPr>
            <a:r>
              <a:rPr lang="zh-CN" altLang="en-US" sz="1200" dirty="0">
                <a:latin typeface="+mj-ea"/>
                <a:ea typeface="+mj-ea"/>
                <a:sym typeface="+mn-ea"/>
              </a:rPr>
              <a:t>基于推理大模型构建领域知识库，实现知识的</a:t>
            </a:r>
            <a:r>
              <a:rPr lang="zh-CN" altLang="en-US" sz="1200" u="sng" dirty="0">
                <a:latin typeface="+mj-ea"/>
                <a:ea typeface="+mj-ea"/>
                <a:sym typeface="+mn-ea"/>
              </a:rPr>
              <a:t>高效存储、检索与复用</a:t>
            </a:r>
            <a:r>
              <a:rPr lang="zh-CN" altLang="en-US" sz="1200" dirty="0">
                <a:latin typeface="+mj-ea"/>
                <a:ea typeface="+mj-ea"/>
                <a:sym typeface="+mn-ea"/>
              </a:rPr>
              <a:t>；针对不同用户需求，构建</a:t>
            </a:r>
            <a:r>
              <a:rPr lang="zh-CN" altLang="en-US" sz="1200" u="sng" dirty="0">
                <a:latin typeface="+mj-ea"/>
                <a:ea typeface="+mj-ea"/>
                <a:sym typeface="+mn-ea"/>
              </a:rPr>
              <a:t>用户个性化记忆机制</a:t>
            </a:r>
            <a:r>
              <a:rPr lang="zh-CN" altLang="en-US" sz="1200" dirty="0">
                <a:latin typeface="+mj-ea"/>
                <a:ea typeface="+mj-ea"/>
                <a:sym typeface="+mn-ea"/>
              </a:rPr>
              <a:t>，实现面向不同用户的个性化能量调度方案解释</a:t>
            </a:r>
            <a:endParaRPr lang="zh-CN" altLang="en-US" sz="1200" dirty="0">
              <a:latin typeface="+mj-ea"/>
              <a:ea typeface="+mj-ea"/>
              <a:sym typeface="+mn-ea"/>
            </a:endParaRPr>
          </a:p>
          <a:p>
            <a:pPr algn="ctr">
              <a:spcAft>
                <a:spcPts val="600"/>
              </a:spcAft>
              <a:buClrTx/>
              <a:buSzTx/>
              <a:buNone/>
            </a:pPr>
            <a:endParaRPr lang="zh-CN" altLang="en-US" sz="1200" dirty="0"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6"/>
          <p:cNvSpPr txBox="1"/>
          <p:nvPr/>
        </p:nvSpPr>
        <p:spPr>
          <a:xfrm>
            <a:off x="0" y="-1"/>
            <a:ext cx="8509210" cy="44307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关键技术方案</a:t>
            </a:r>
            <a:endParaRPr lang="zh-CN" altLang="en-US" sz="2800" spc="-5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>
            <p:custDataLst>
              <p:tags r:id="rId1"/>
            </p:custDataLst>
          </p:nvPr>
        </p:nvSpPr>
        <p:spPr>
          <a:xfrm>
            <a:off x="538821" y="2440128"/>
            <a:ext cx="3363595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智能识别异常数据，构建可支撑调度与解释的高质量时序特征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基于通信异常、传感器漂移及数据突变规则，构建智能异常识别机制，实现高可靠数据筛选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结合轻量化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 Transformer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时序建模，通过自监督掩码训练构建高质量特征向量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2"/>
            </p:custDataLst>
          </p:nvPr>
        </p:nvSpPr>
        <p:spPr>
          <a:xfrm>
            <a:off x="7880711" y="2440128"/>
            <a:ext cx="3363595" cy="2999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构建用户个性化记忆机制，实现面向不同用户的个性化能量调度方案解释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基于推理大模型构建领域规则知识库，为用户解释提供底层数据支撑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基于对话建模用户专业水平，实现动态个性化记忆与需求分析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针对不同用户设计大模型快慢思考解释推理路径自适应优化，实现针对不同用户的“自然语言解释”生成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</p:txBody>
      </p:sp>
      <p:grpSp>
        <p:nvGrpSpPr>
          <p:cNvPr id="3" name="组合 2"/>
          <p:cNvGrpSpPr/>
          <p:nvPr>
            <p:custDataLst>
              <p:tags r:id="rId3"/>
            </p:custDataLst>
          </p:nvPr>
        </p:nvGrpSpPr>
        <p:grpSpPr>
          <a:xfrm>
            <a:off x="505437" y="1073328"/>
            <a:ext cx="3363595" cy="1171566"/>
            <a:chOff x="1119869" y="899366"/>
            <a:chExt cx="2714298" cy="1371371"/>
          </a:xfrm>
        </p:grpSpPr>
        <p:sp>
          <p:nvSpPr>
            <p:cNvPr id="46" name="矩形: 圆角 45"/>
            <p:cNvSpPr/>
            <p:nvPr>
              <p:custDataLst>
                <p:tags r:id="rId4"/>
              </p:custDataLst>
            </p:nvPr>
          </p:nvSpPr>
          <p:spPr>
            <a:xfrm>
              <a:off x="1130984" y="899366"/>
              <a:ext cx="2655094" cy="1371371"/>
            </a:xfrm>
            <a:prstGeom prst="roundRect">
              <a:avLst>
                <a:gd name="adj" fmla="val 106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文本框 46"/>
            <p:cNvSpPr txBox="1"/>
            <p:nvPr>
              <p:custDataLst>
                <p:tags r:id="rId5"/>
              </p:custDataLst>
            </p:nvPr>
          </p:nvSpPr>
          <p:spPr>
            <a:xfrm>
              <a:off x="1865481" y="993584"/>
              <a:ext cx="10803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技术方案一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6"/>
              </p:custDataLst>
            </p:nvPr>
          </p:nvSpPr>
          <p:spPr>
            <a:xfrm>
              <a:off x="1119869" y="1377010"/>
              <a:ext cx="2714298" cy="7551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面向光伏监测数据的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异常识别与特征构建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7"/>
            </p:custDataLst>
          </p:nvPr>
        </p:nvGrpSpPr>
        <p:grpSpPr>
          <a:xfrm>
            <a:off x="4226919" y="1073328"/>
            <a:ext cx="3326912" cy="1171566"/>
            <a:chOff x="4577624" y="899366"/>
            <a:chExt cx="2721373" cy="1371371"/>
          </a:xfrm>
        </p:grpSpPr>
        <p:sp>
          <p:nvSpPr>
            <p:cNvPr id="43" name="矩形: 圆角 42"/>
            <p:cNvSpPr/>
            <p:nvPr>
              <p:custDataLst>
                <p:tags r:id="rId8"/>
              </p:custDataLst>
            </p:nvPr>
          </p:nvSpPr>
          <p:spPr>
            <a:xfrm>
              <a:off x="4577625" y="899366"/>
              <a:ext cx="2655094" cy="1371371"/>
            </a:xfrm>
            <a:prstGeom prst="roundRect">
              <a:avLst>
                <a:gd name="adj" fmla="val 106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57616" y="1013516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技术方案二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10"/>
              </p:custDataLst>
            </p:nvPr>
          </p:nvSpPr>
          <p:spPr>
            <a:xfrm>
              <a:off x="4577624" y="1377010"/>
              <a:ext cx="27213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面向能量调度算法的</a:t>
              </a:r>
              <a:endPara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推理大模型构建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" name="组合 5"/>
          <p:cNvGrpSpPr/>
          <p:nvPr>
            <p:custDataLst>
              <p:tags r:id="rId11"/>
            </p:custDataLst>
          </p:nvPr>
        </p:nvGrpSpPr>
        <p:grpSpPr>
          <a:xfrm>
            <a:off x="7865549" y="1073328"/>
            <a:ext cx="3389578" cy="1171566"/>
            <a:chOff x="8090544" y="895419"/>
            <a:chExt cx="2735267" cy="1371371"/>
          </a:xfrm>
        </p:grpSpPr>
        <p:sp>
          <p:nvSpPr>
            <p:cNvPr id="40" name="矩形: 圆角 39"/>
            <p:cNvSpPr/>
            <p:nvPr>
              <p:custDataLst>
                <p:tags r:id="rId12"/>
              </p:custDataLst>
            </p:nvPr>
          </p:nvSpPr>
          <p:spPr>
            <a:xfrm>
              <a:off x="8090545" y="895419"/>
              <a:ext cx="2735266" cy="1371371"/>
            </a:xfrm>
            <a:prstGeom prst="roundRect">
              <a:avLst>
                <a:gd name="adj" fmla="val 106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13"/>
              </p:custDataLst>
            </p:nvPr>
          </p:nvSpPr>
          <p:spPr>
            <a:xfrm>
              <a:off x="8748678" y="984611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技术方案三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文本框 41"/>
            <p:cNvSpPr txBox="1"/>
            <p:nvPr>
              <p:custDataLst>
                <p:tags r:id="rId14"/>
              </p:custDataLst>
            </p:nvPr>
          </p:nvSpPr>
          <p:spPr>
            <a:xfrm>
              <a:off x="8090544" y="1377011"/>
              <a:ext cx="26100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用户感知的可解释性</a:t>
              </a:r>
              <a:endPara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增强方法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8" name="文本框 5"/>
          <p:cNvSpPr txBox="1"/>
          <p:nvPr/>
        </p:nvSpPr>
        <p:spPr>
          <a:xfrm>
            <a:off x="4457940" y="2440128"/>
            <a:ext cx="3363595" cy="700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1400" dirty="0">
              <a:latin typeface="微软雅黑" pitchFamily="34" charset="-122"/>
              <a:ea typeface="微软雅黑" pitchFamily="34" charset="-122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39" name="文本框 5"/>
          <p:cNvSpPr txBox="1"/>
          <p:nvPr>
            <p:custDataLst>
              <p:tags r:id="rId15"/>
            </p:custDataLst>
          </p:nvPr>
        </p:nvSpPr>
        <p:spPr>
          <a:xfrm>
            <a:off x="4240045" y="2440128"/>
            <a:ext cx="3363595" cy="3322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结合有监督微调与判别器联合训练，训练可解释推理大模型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基于已构建特征，结合有监督微调与小尺寸判别器联合训练，构建可解释推理大模型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判别结果反馈微调大模型，实现规则知识生成闭环，提高推理准确性。通过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“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大模型生成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—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小模型判别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”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迭代优化规则生成质量与可靠性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2" name="圆角矩形 1"/>
          <p:cNvSpPr/>
          <p:nvPr>
            <p:custDataLst>
              <p:tags r:id="rId16"/>
            </p:custDataLst>
          </p:nvPr>
        </p:nvSpPr>
        <p:spPr>
          <a:xfrm>
            <a:off x="519211" y="2268764"/>
            <a:ext cx="3290229" cy="3557878"/>
          </a:xfrm>
          <a:prstGeom prst="roundRect">
            <a:avLst>
              <a:gd name="adj" fmla="val 5033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圆角矩形 6"/>
          <p:cNvSpPr/>
          <p:nvPr>
            <p:custDataLst>
              <p:tags r:id="rId17"/>
            </p:custDataLst>
          </p:nvPr>
        </p:nvSpPr>
        <p:spPr>
          <a:xfrm>
            <a:off x="4217433" y="2268764"/>
            <a:ext cx="3290229" cy="3557878"/>
          </a:xfrm>
          <a:prstGeom prst="roundRect">
            <a:avLst>
              <a:gd name="adj" fmla="val 5033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圆角矩形 7"/>
          <p:cNvSpPr/>
          <p:nvPr>
            <p:custDataLst>
              <p:tags r:id="rId18"/>
            </p:custDataLst>
          </p:nvPr>
        </p:nvSpPr>
        <p:spPr>
          <a:xfrm>
            <a:off x="7891533" y="2268764"/>
            <a:ext cx="3363595" cy="3557878"/>
          </a:xfrm>
          <a:prstGeom prst="roundRect">
            <a:avLst>
              <a:gd name="adj" fmla="val 5033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右箭头 9"/>
          <p:cNvSpPr/>
          <p:nvPr>
            <p:custDataLst>
              <p:tags r:id="rId19"/>
            </p:custDataLst>
          </p:nvPr>
        </p:nvSpPr>
        <p:spPr>
          <a:xfrm>
            <a:off x="3836637" y="1490932"/>
            <a:ext cx="380796" cy="41121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右箭头 10"/>
          <p:cNvSpPr/>
          <p:nvPr>
            <p:custDataLst>
              <p:tags r:id="rId20"/>
            </p:custDataLst>
          </p:nvPr>
        </p:nvSpPr>
        <p:spPr>
          <a:xfrm>
            <a:off x="7502823" y="1483705"/>
            <a:ext cx="380796" cy="41121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 descr="images"/>
          <p:cNvPicPr>
            <a:picLocks noChangeAspect="1"/>
          </p:cNvPicPr>
          <p:nvPr/>
        </p:nvPicPr>
        <p:blipFill>
          <a:blip r:embed="rId21">
            <a:clrChange>
              <a:clrFrom>
                <a:srgbClr val="EAEAEA">
                  <a:alpha val="100000"/>
                </a:srgbClr>
              </a:clrFrom>
              <a:clrTo>
                <a:srgbClr val="EAEAE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81150" y="5850890"/>
            <a:ext cx="941705" cy="9417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6"/>
          <p:cNvSpPr txBox="1"/>
          <p:nvPr/>
        </p:nvSpPr>
        <p:spPr>
          <a:xfrm>
            <a:off x="0" y="318"/>
            <a:ext cx="9334500" cy="44259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技术方案一</a:t>
            </a:r>
            <a:r>
              <a:rPr lang="en-US" altLang="zh-CN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     </a:t>
            </a: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面向光伏监测数据的异常识别与特征构建</a:t>
            </a:r>
            <a:endParaRPr lang="zh-CN" altLang="en-US" sz="2800" spc="-5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86080" y="897255"/>
            <a:ext cx="1221105" cy="4070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原始数据</a:t>
            </a:r>
            <a:endParaRPr lang="zh-CN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6080" y="1531937"/>
            <a:ext cx="5080000" cy="1476375"/>
          </a:xfrm>
          <a:prstGeom prst="rect">
            <a:avLst/>
          </a:prstGeom>
        </p:spPr>
        <p:txBody>
          <a:bodyPr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800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PV和负载</a:t>
            </a:r>
            <a:endParaRPr lang="zh-CN" altLang="en-US" sz="1800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800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价格</a:t>
            </a:r>
            <a:endParaRPr lang="zh-CN" altLang="en-US" sz="1800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800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AI模式行为</a:t>
            </a:r>
            <a:endParaRPr lang="zh-CN" altLang="en-US" sz="1800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800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自发自用模式行为</a:t>
            </a:r>
            <a:endParaRPr lang="zh-CN" altLang="en-US" sz="1800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800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电网交互行为</a:t>
            </a:r>
            <a:endParaRPr lang="zh-CN" altLang="en-US" sz="1800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6080" y="3345815"/>
            <a:ext cx="1221105" cy="4070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数据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粒度</a:t>
            </a:r>
            <a:endParaRPr lang="zh-CN" altLang="en-US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pic>
        <p:nvPicPr>
          <p:cNvPr id="10" name="图片 9"/>
          <p:cNvPicPr/>
          <p:nvPr/>
        </p:nvPicPr>
        <p:blipFill>
          <a:blip r:embed="rId1"/>
          <a:stretch>
            <a:fillRect/>
          </a:stretch>
        </p:blipFill>
        <p:spPr>
          <a:xfrm>
            <a:off x="3088640" y="707390"/>
            <a:ext cx="5193665" cy="601472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86080" y="3884930"/>
            <a:ext cx="2702560" cy="2611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根据调度行为和后续的检索/用户提问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考虑将一天的数据切分成4-8个时间段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每个时间段提取相应描述字段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495665" y="897255"/>
            <a:ext cx="1221105" cy="4070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可用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数据</a:t>
            </a:r>
            <a:endParaRPr lang="zh-CN" altLang="en-US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423910" y="1417320"/>
            <a:ext cx="3536950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兼顾模型输入与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检索：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metadata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：用于过滤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的标签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context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：电价、光伏等条件</a:t>
            </a:r>
            <a:endParaRPr lang="en-US" altLang="zh-CN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action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：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ai_mode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、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self_mode</a:t>
            </a:r>
            <a:endParaRPr lang="en-US" altLang="zh-CN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</a:pP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495665" y="3477895"/>
            <a:ext cx="1221105" cy="4070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切分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方法</a:t>
            </a:r>
            <a:endParaRPr lang="zh-CN" altLang="en-US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423910" y="4071620"/>
            <a:ext cx="3536315" cy="2424430"/>
          </a:xfrm>
          <a:prstGeom prst="rect">
            <a:avLst/>
          </a:prstGeom>
        </p:spPr>
        <p:txBody>
          <a:bodyPr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使用人为设计的规则，比如根据电池的工作模式区分</a:t>
            </a:r>
            <a:endParaRPr lang="zh-CN" altLang="en-US" sz="16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使用序列数据的趋势分析工具、变化点检测、聚类等方法</a:t>
            </a:r>
            <a:endParaRPr lang="zh-CN" altLang="en-US" sz="16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使用预训练模型</a:t>
            </a:r>
            <a:endParaRPr lang="zh-CN" altLang="en-US" sz="16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6"/>
          <p:cNvSpPr txBox="1"/>
          <p:nvPr/>
        </p:nvSpPr>
        <p:spPr>
          <a:xfrm>
            <a:off x="0" y="318"/>
            <a:ext cx="9334500" cy="44259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技术方案一</a:t>
            </a:r>
            <a:r>
              <a:rPr lang="en-US" altLang="zh-CN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     </a:t>
            </a: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面向光伏监测数据的异常识别与特征构建</a:t>
            </a:r>
            <a:endParaRPr lang="zh-CN" altLang="en-US" sz="2800" spc="-5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86080" y="897255"/>
            <a:ext cx="1221105" cy="4070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原始数据</a:t>
            </a:r>
            <a:endParaRPr lang="zh-CN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49325" y="1465580"/>
            <a:ext cx="3012440" cy="43688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常规异常检测（规则脚本）</a:t>
            </a:r>
            <a:endParaRPr lang="zh-CN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372870" y="2036445"/>
            <a:ext cx="1242695" cy="60071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通信异常</a:t>
            </a:r>
            <a:endParaRPr lang="zh-CN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372870" y="2804795"/>
            <a:ext cx="1242695" cy="60071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存储异常</a:t>
            </a:r>
            <a:endParaRPr lang="zh-CN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372870" y="3573145"/>
            <a:ext cx="1242695" cy="60071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数据丢失</a:t>
            </a:r>
            <a:endParaRPr lang="zh-CN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49325" y="4385945"/>
            <a:ext cx="3012440" cy="436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特征编码器</a:t>
            </a:r>
            <a:endParaRPr lang="zh-CN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72870" y="5001260"/>
            <a:ext cx="2588260" cy="3416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原始数据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+</a:t>
            </a:r>
            <a:r>
              <a:rPr 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派生数据</a:t>
            </a:r>
            <a:endParaRPr lang="zh-CN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374140" y="5521325"/>
            <a:ext cx="2588260" cy="3416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Transformer 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语义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编码</a:t>
            </a:r>
            <a:endParaRPr lang="zh-CN" altLang="en-US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504190" y="1432560"/>
            <a:ext cx="0" cy="31591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534035" y="4579620"/>
            <a:ext cx="370840" cy="508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534035" y="1687830"/>
            <a:ext cx="36893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082675" y="1965960"/>
            <a:ext cx="1905" cy="196342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1103630" y="4919980"/>
            <a:ext cx="7620" cy="7835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1111250" y="2339340"/>
            <a:ext cx="217170" cy="6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1120140" y="3138170"/>
            <a:ext cx="217170" cy="6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V="1">
            <a:off x="1120140" y="3930650"/>
            <a:ext cx="217170" cy="6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V="1">
            <a:off x="1133475" y="5171440"/>
            <a:ext cx="217170" cy="6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V="1">
            <a:off x="1133475" y="5715635"/>
            <a:ext cx="217170" cy="6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4476750" y="721360"/>
            <a:ext cx="4420870" cy="56222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⚙ </a:t>
            </a: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常规异常（规则脚本）</a:t>
            </a:r>
            <a:endParaRPr lang="en-US" altLang="zh-CN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通信异常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丢包：相邻时间戳缺口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重复：相同时间戳多条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突发跳变：值瞬间极小或极大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存储异常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字段错位：列与含义不符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格式错误：负数或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NAN</a:t>
            </a:r>
            <a:endParaRPr lang="en-US" altLang="zh-CN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写入异常：不合理极值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数据丢失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时间戳缺失：序列断档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字段为空：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PV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Load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等缺失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长时间缺测：连续缺失超阈值</a:t>
            </a:r>
            <a:endParaRPr lang="zh-CN" altLang="en-US" sz="20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712200" y="775970"/>
            <a:ext cx="3361055" cy="2529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⚙</a:t>
            </a:r>
            <a:r>
              <a:rPr lang="en-US" altLang="zh-CN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   </a:t>
            </a: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特征</a:t>
            </a: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描述：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派生数据：</a:t>
            </a:r>
            <a:r>
              <a:rPr lang="en-US" altLang="zh-CN" dirty="0" err="1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pv_surplus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/ </a:t>
            </a:r>
            <a:r>
              <a:rPr lang="en-US" altLang="zh-CN" dirty="0" err="1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pv_self_consumption</a:t>
            </a:r>
            <a:endParaRPr lang="en-US" altLang="zh-CN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离散数据：</a:t>
            </a:r>
            <a:r>
              <a:rPr lang="en-US" altLang="zh-CN" dirty="0" err="1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time_bucket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/ </a:t>
            </a:r>
            <a:r>
              <a:rPr lang="en-US" altLang="zh-CN" dirty="0" err="1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price_bucket</a:t>
            </a:r>
            <a:endParaRPr lang="en-US" altLang="zh-CN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endParaRPr lang="en-US" altLang="zh-CN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12200" y="3305810"/>
            <a:ext cx="3573780" cy="2999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⚙</a:t>
            </a:r>
            <a:r>
              <a:rPr lang="en-US" altLang="zh-CN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   </a:t>
            </a: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特征</a:t>
            </a: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编码：</a:t>
            </a:r>
            <a:endParaRPr lang="zh-CN" altLang="en-US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更细粒度的洞察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encoder (</a:t>
            </a:r>
            <a:r>
              <a:rPr lang="en-US" altLang="zh-CN" dirty="0" err="1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state_raw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) </a:t>
            </a:r>
            <a:r>
              <a:rPr lang="en-US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→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Embedding</a:t>
            </a:r>
            <a:endParaRPr lang="en-US" altLang="zh-CN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输入：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  <a:p>
            <a:pPr lvl="1" indent="0" algn="l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context</a:t>
            </a:r>
            <a:endParaRPr lang="en-US" altLang="zh-CN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  <a:p>
            <a:pPr lvl="1" indent="0" algn="l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action</a:t>
            </a:r>
            <a:endParaRPr lang="en-US" altLang="zh-CN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  <a:p>
            <a:pPr lvl="1" indent="0" algn="l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Embedding</a:t>
            </a:r>
            <a:endParaRPr lang="en-US" altLang="zh-CN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6"/>
          <p:cNvSpPr txBox="1"/>
          <p:nvPr/>
        </p:nvSpPr>
        <p:spPr>
          <a:xfrm>
            <a:off x="0" y="-1"/>
            <a:ext cx="8509210" cy="44307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关键技术方案</a:t>
            </a:r>
            <a:endParaRPr lang="zh-CN" altLang="en-US" sz="2800" spc="-5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>
            <p:custDataLst>
              <p:tags r:id="rId1"/>
            </p:custDataLst>
          </p:nvPr>
        </p:nvSpPr>
        <p:spPr>
          <a:xfrm>
            <a:off x="538821" y="2440128"/>
            <a:ext cx="3363595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智能识别异常数据，构建可支撑调度与解释的高质量时序特征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基于通信异常、传感器漂移及数据突变规则，构建智能异常识别机制，实现高可靠数据筛选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结合轻量化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 Transformer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时序建模，通过自监督掩码训练构建高质量特征向量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2"/>
            </p:custDataLst>
          </p:nvPr>
        </p:nvSpPr>
        <p:spPr>
          <a:xfrm>
            <a:off x="7880711" y="2440128"/>
            <a:ext cx="3363595" cy="2999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构建用户个性化记忆机制，实现面向不同用户的个性化能量调度方案解释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基于推理大模型构建领域规则知识库，为用户解释提供底层数据支撑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基于对话建模用户专业水平，实现动态个性化记忆与需求分析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针对不同用户设计大模型快慢思考解释推理路径自适应优化，实现针对不同用户的“自然语言解释”生成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</p:txBody>
      </p:sp>
      <p:grpSp>
        <p:nvGrpSpPr>
          <p:cNvPr id="3" name="组合 2"/>
          <p:cNvGrpSpPr/>
          <p:nvPr>
            <p:custDataLst>
              <p:tags r:id="rId3"/>
            </p:custDataLst>
          </p:nvPr>
        </p:nvGrpSpPr>
        <p:grpSpPr>
          <a:xfrm>
            <a:off x="505437" y="1073328"/>
            <a:ext cx="3363595" cy="1171566"/>
            <a:chOff x="1119869" y="899366"/>
            <a:chExt cx="2714298" cy="1371371"/>
          </a:xfrm>
        </p:grpSpPr>
        <p:sp>
          <p:nvSpPr>
            <p:cNvPr id="46" name="矩形: 圆角 45"/>
            <p:cNvSpPr/>
            <p:nvPr>
              <p:custDataLst>
                <p:tags r:id="rId4"/>
              </p:custDataLst>
            </p:nvPr>
          </p:nvSpPr>
          <p:spPr>
            <a:xfrm>
              <a:off x="1130984" y="899366"/>
              <a:ext cx="2655094" cy="1371371"/>
            </a:xfrm>
            <a:prstGeom prst="roundRect">
              <a:avLst>
                <a:gd name="adj" fmla="val 106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文本框 46"/>
            <p:cNvSpPr txBox="1"/>
            <p:nvPr>
              <p:custDataLst>
                <p:tags r:id="rId5"/>
              </p:custDataLst>
            </p:nvPr>
          </p:nvSpPr>
          <p:spPr>
            <a:xfrm>
              <a:off x="1865481" y="993584"/>
              <a:ext cx="10803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技术方案一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6"/>
              </p:custDataLst>
            </p:nvPr>
          </p:nvSpPr>
          <p:spPr>
            <a:xfrm>
              <a:off x="1119869" y="1377010"/>
              <a:ext cx="2714298" cy="7551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面向光伏监测数据的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异常识别与特征构建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7"/>
            </p:custDataLst>
          </p:nvPr>
        </p:nvGrpSpPr>
        <p:grpSpPr>
          <a:xfrm>
            <a:off x="4226919" y="1073328"/>
            <a:ext cx="3326912" cy="1171566"/>
            <a:chOff x="4577624" y="899366"/>
            <a:chExt cx="2721373" cy="1371371"/>
          </a:xfrm>
        </p:grpSpPr>
        <p:sp>
          <p:nvSpPr>
            <p:cNvPr id="43" name="矩形: 圆角 42"/>
            <p:cNvSpPr/>
            <p:nvPr>
              <p:custDataLst>
                <p:tags r:id="rId8"/>
              </p:custDataLst>
            </p:nvPr>
          </p:nvSpPr>
          <p:spPr>
            <a:xfrm>
              <a:off x="4577625" y="899366"/>
              <a:ext cx="2655094" cy="1371371"/>
            </a:xfrm>
            <a:prstGeom prst="roundRect">
              <a:avLst>
                <a:gd name="adj" fmla="val 106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57616" y="1013516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技术方案二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10"/>
              </p:custDataLst>
            </p:nvPr>
          </p:nvSpPr>
          <p:spPr>
            <a:xfrm>
              <a:off x="4577624" y="1377010"/>
              <a:ext cx="27213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面向能量调度算法的</a:t>
              </a:r>
              <a:endPara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推理大模型构建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" name="组合 5"/>
          <p:cNvGrpSpPr/>
          <p:nvPr>
            <p:custDataLst>
              <p:tags r:id="rId11"/>
            </p:custDataLst>
          </p:nvPr>
        </p:nvGrpSpPr>
        <p:grpSpPr>
          <a:xfrm>
            <a:off x="7865549" y="1073328"/>
            <a:ext cx="3389578" cy="1171566"/>
            <a:chOff x="8090544" y="895419"/>
            <a:chExt cx="2735267" cy="1371371"/>
          </a:xfrm>
        </p:grpSpPr>
        <p:sp>
          <p:nvSpPr>
            <p:cNvPr id="40" name="矩形: 圆角 39"/>
            <p:cNvSpPr/>
            <p:nvPr>
              <p:custDataLst>
                <p:tags r:id="rId12"/>
              </p:custDataLst>
            </p:nvPr>
          </p:nvSpPr>
          <p:spPr>
            <a:xfrm>
              <a:off x="8090545" y="895419"/>
              <a:ext cx="2735266" cy="1371371"/>
            </a:xfrm>
            <a:prstGeom prst="roundRect">
              <a:avLst>
                <a:gd name="adj" fmla="val 106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13"/>
              </p:custDataLst>
            </p:nvPr>
          </p:nvSpPr>
          <p:spPr>
            <a:xfrm>
              <a:off x="8748678" y="984611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技术方案三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文本框 41"/>
            <p:cNvSpPr txBox="1"/>
            <p:nvPr>
              <p:custDataLst>
                <p:tags r:id="rId14"/>
              </p:custDataLst>
            </p:nvPr>
          </p:nvSpPr>
          <p:spPr>
            <a:xfrm>
              <a:off x="8090544" y="1377011"/>
              <a:ext cx="26100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用户感知的可解释性</a:t>
              </a:r>
              <a:endPara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增强方法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8" name="文本框 5"/>
          <p:cNvSpPr txBox="1"/>
          <p:nvPr/>
        </p:nvSpPr>
        <p:spPr>
          <a:xfrm>
            <a:off x="4457940" y="2440128"/>
            <a:ext cx="3363595" cy="700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1400" dirty="0">
              <a:latin typeface="微软雅黑" pitchFamily="34" charset="-122"/>
              <a:ea typeface="微软雅黑" pitchFamily="34" charset="-122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39" name="文本框 5"/>
          <p:cNvSpPr txBox="1"/>
          <p:nvPr>
            <p:custDataLst>
              <p:tags r:id="rId15"/>
            </p:custDataLst>
          </p:nvPr>
        </p:nvSpPr>
        <p:spPr>
          <a:xfrm>
            <a:off x="4240045" y="2440128"/>
            <a:ext cx="3363595" cy="3322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结合有监督微调与判别器联合训练，训练可解释推理大模型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基于已构建特征，结合有监督微调与小尺寸判别器联合训练，构建可解释推理大模型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判别结果反馈微调大模型，实现规则知识生成闭环，提高推理准确性。通过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“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大模型生成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—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小模型判别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”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迭代优化规则生成质量与可靠性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2" name="圆角矩形 1"/>
          <p:cNvSpPr/>
          <p:nvPr>
            <p:custDataLst>
              <p:tags r:id="rId16"/>
            </p:custDataLst>
          </p:nvPr>
        </p:nvSpPr>
        <p:spPr>
          <a:xfrm>
            <a:off x="519211" y="2268764"/>
            <a:ext cx="3290229" cy="3557878"/>
          </a:xfrm>
          <a:prstGeom prst="roundRect">
            <a:avLst>
              <a:gd name="adj" fmla="val 5033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圆角矩形 6"/>
          <p:cNvSpPr/>
          <p:nvPr>
            <p:custDataLst>
              <p:tags r:id="rId17"/>
            </p:custDataLst>
          </p:nvPr>
        </p:nvSpPr>
        <p:spPr>
          <a:xfrm>
            <a:off x="4217433" y="2268764"/>
            <a:ext cx="3290229" cy="3557878"/>
          </a:xfrm>
          <a:prstGeom prst="roundRect">
            <a:avLst>
              <a:gd name="adj" fmla="val 5033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圆角矩形 7"/>
          <p:cNvSpPr/>
          <p:nvPr>
            <p:custDataLst>
              <p:tags r:id="rId18"/>
            </p:custDataLst>
          </p:nvPr>
        </p:nvSpPr>
        <p:spPr>
          <a:xfrm>
            <a:off x="7891533" y="2268764"/>
            <a:ext cx="3363595" cy="3557878"/>
          </a:xfrm>
          <a:prstGeom prst="roundRect">
            <a:avLst>
              <a:gd name="adj" fmla="val 5033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右箭头 9"/>
          <p:cNvSpPr/>
          <p:nvPr>
            <p:custDataLst>
              <p:tags r:id="rId19"/>
            </p:custDataLst>
          </p:nvPr>
        </p:nvSpPr>
        <p:spPr>
          <a:xfrm>
            <a:off x="3836637" y="1490932"/>
            <a:ext cx="380796" cy="41121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右箭头 10"/>
          <p:cNvSpPr/>
          <p:nvPr>
            <p:custDataLst>
              <p:tags r:id="rId20"/>
            </p:custDataLst>
          </p:nvPr>
        </p:nvSpPr>
        <p:spPr>
          <a:xfrm>
            <a:off x="7502823" y="1483705"/>
            <a:ext cx="380796" cy="41121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 descr="images"/>
          <p:cNvPicPr>
            <a:picLocks noChangeAspect="1"/>
          </p:cNvPicPr>
          <p:nvPr/>
        </p:nvPicPr>
        <p:blipFill>
          <a:blip r:embed="rId21">
            <a:clrChange>
              <a:clrFrom>
                <a:srgbClr val="EAEAEA">
                  <a:alpha val="100000"/>
                </a:srgbClr>
              </a:clrFrom>
              <a:clrTo>
                <a:srgbClr val="EAEAE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14950" y="5850890"/>
            <a:ext cx="941705" cy="9417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>
            <p:custDataLst>
              <p:tags r:id="rId1"/>
            </p:custDataLst>
          </p:nvPr>
        </p:nvSpPr>
        <p:spPr>
          <a:xfrm>
            <a:off x="109855" y="776605"/>
            <a:ext cx="11951335" cy="5985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4" name="矩形 33"/>
          <p:cNvSpPr/>
          <p:nvPr>
            <p:custDataLst>
              <p:tags r:id="rId2"/>
            </p:custDataLst>
          </p:nvPr>
        </p:nvSpPr>
        <p:spPr>
          <a:xfrm>
            <a:off x="747395" y="815975"/>
            <a:ext cx="2781300" cy="6648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LLM 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规范化规则表示</a:t>
            </a:r>
            <a:endParaRPr lang="zh-CN" altLang="en-US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35" name="矩形 34"/>
          <p:cNvSpPr/>
          <p:nvPr>
            <p:custDataLst>
              <p:tags r:id="rId3"/>
            </p:custDataLst>
          </p:nvPr>
        </p:nvSpPr>
        <p:spPr>
          <a:xfrm>
            <a:off x="732790" y="2142490"/>
            <a:ext cx="2781935" cy="6311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SLM 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规则判别器</a:t>
            </a:r>
            <a:endParaRPr lang="zh-CN" altLang="en-US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</p:txBody>
      </p:sp>
      <p:cxnSp>
        <p:nvCxnSpPr>
          <p:cNvPr id="9" name="直接箭头连接符 8"/>
          <p:cNvCxnSpPr/>
          <p:nvPr>
            <p:custDataLst>
              <p:tags r:id="rId4"/>
            </p:custDataLst>
          </p:nvPr>
        </p:nvCxnSpPr>
        <p:spPr>
          <a:xfrm flipH="1">
            <a:off x="2081530" y="1608455"/>
            <a:ext cx="6350" cy="4451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2157730" y="1497330"/>
            <a:ext cx="1447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规则数据</a:t>
            </a:r>
            <a:endParaRPr lang="zh-CN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r>
              <a:rPr lang="en-US" altLang="zh-CN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(</a:t>
            </a:r>
            <a:r>
              <a:rPr lang="zh-CN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不准确</a:t>
            </a:r>
            <a:r>
              <a:rPr lang="en-US" altLang="zh-CN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)</a:t>
            </a:r>
            <a:endParaRPr lang="en-US" altLang="zh-CN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57785" y="636905"/>
            <a:ext cx="7588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>
                <a:latin typeface="Times New Roman" panose="02020503050405090304" pitchFamily="18" charset="0"/>
                <a:ea typeface="微软雅黑" pitchFamily="34" charset="-122"/>
              </a:rPr>
              <a:t>特征表示</a:t>
            </a:r>
            <a:endParaRPr lang="zh-CN">
              <a:latin typeface="Times New Roman" panose="02020503050405090304" pitchFamily="18" charset="0"/>
              <a:ea typeface="微软雅黑" pitchFamily="34" charset="-122"/>
            </a:endParaRPr>
          </a:p>
        </p:txBody>
      </p:sp>
      <p:cxnSp>
        <p:nvCxnSpPr>
          <p:cNvPr id="12" name="直接箭头连接符 11"/>
          <p:cNvCxnSpPr/>
          <p:nvPr>
            <p:custDataLst>
              <p:tags r:id="rId7"/>
            </p:custDataLst>
          </p:nvPr>
        </p:nvCxnSpPr>
        <p:spPr>
          <a:xfrm flipV="1">
            <a:off x="200660" y="1273810"/>
            <a:ext cx="401320" cy="82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>
            <p:custDataLst>
              <p:tags r:id="rId8"/>
            </p:custDataLst>
          </p:nvPr>
        </p:nvCxnSpPr>
        <p:spPr>
          <a:xfrm flipH="1">
            <a:off x="1463040" y="2885440"/>
            <a:ext cx="6350" cy="4451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肘形连接符 13"/>
          <p:cNvCxnSpPr/>
          <p:nvPr/>
        </p:nvCxnSpPr>
        <p:spPr>
          <a:xfrm rot="5400000" flipV="1">
            <a:off x="2826385" y="2901950"/>
            <a:ext cx="423545" cy="324485"/>
          </a:xfrm>
          <a:prstGeom prst="bentConnector3">
            <a:avLst>
              <a:gd name="adj1" fmla="val 100599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469390" y="2885440"/>
            <a:ext cx="504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√</a:t>
            </a:r>
            <a:endParaRPr lang="en-US" altLang="zh-CN" b="1">
              <a:solidFill>
                <a:srgbClr val="C00000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166745" y="3027680"/>
            <a:ext cx="347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Times New Roman" panose="02020503050405090304" pitchFamily="18" charset="0"/>
                <a:ea typeface="微软雅黑" pitchFamily="34" charset="-122"/>
              </a:rPr>
              <a:t>×</a:t>
            </a:r>
            <a:endParaRPr lang="zh-CN" altLang="en-US" b="1">
              <a:solidFill>
                <a:srgbClr val="C00000"/>
              </a:solidFill>
              <a:latin typeface="Times New Roman" panose="02020503050405090304" pitchFamily="18" charset="0"/>
              <a:ea typeface="微软雅黑" pitchFamily="34" charset="-122"/>
            </a:endParaRPr>
          </a:p>
        </p:txBody>
      </p:sp>
      <p:sp>
        <p:nvSpPr>
          <p:cNvPr id="22" name="矩形 21"/>
          <p:cNvSpPr/>
          <p:nvPr>
            <p:custDataLst>
              <p:tags r:id="rId9"/>
            </p:custDataLst>
          </p:nvPr>
        </p:nvSpPr>
        <p:spPr>
          <a:xfrm>
            <a:off x="732790" y="3396615"/>
            <a:ext cx="2781935" cy="631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回流微调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 LLM</a:t>
            </a:r>
            <a:endParaRPr lang="en-US" altLang="zh-CN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0"/>
            </p:custDataLst>
          </p:nvPr>
        </p:nvSpPr>
        <p:spPr>
          <a:xfrm>
            <a:off x="723265" y="4493895"/>
            <a:ext cx="2781935" cy="6311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SLM 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规则判别器</a:t>
            </a:r>
            <a:endParaRPr lang="zh-CN" altLang="en-US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</p:txBody>
      </p:sp>
      <p:cxnSp>
        <p:nvCxnSpPr>
          <p:cNvPr id="24" name="直接箭头连接符 23"/>
          <p:cNvCxnSpPr/>
          <p:nvPr>
            <p:custDataLst>
              <p:tags r:id="rId11"/>
            </p:custDataLst>
          </p:nvPr>
        </p:nvCxnSpPr>
        <p:spPr>
          <a:xfrm flipH="1">
            <a:off x="2081530" y="4130040"/>
            <a:ext cx="12700" cy="2781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1974215" y="5197475"/>
            <a:ext cx="474345" cy="616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0000"/>
              </a:lnSpc>
            </a:pPr>
            <a:r>
              <a:rPr lang="en-US" altLang="zh-CN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·</a:t>
            </a:r>
            <a:endParaRPr lang="en-US" altLang="zh-CN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>
              <a:lnSpc>
                <a:spcPct val="30000"/>
              </a:lnSpc>
            </a:pPr>
            <a:r>
              <a:rPr lang="en-US" altLang="zh-CN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·</a:t>
            </a:r>
            <a:endParaRPr lang="en-US" altLang="zh-CN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>
              <a:lnSpc>
                <a:spcPct val="30000"/>
              </a:lnSpc>
            </a:pPr>
            <a:r>
              <a:rPr lang="en-US" altLang="zh-CN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·</a:t>
            </a:r>
            <a:endParaRPr lang="en-US" altLang="zh-CN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endParaRPr lang="en-US" altLang="zh-CN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18" name="矩形 17"/>
          <p:cNvSpPr/>
          <p:nvPr>
            <p:custDataLst>
              <p:tags r:id="rId12"/>
            </p:custDataLst>
          </p:nvPr>
        </p:nvSpPr>
        <p:spPr>
          <a:xfrm>
            <a:off x="732790" y="5542915"/>
            <a:ext cx="2781935" cy="631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LLM 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规范化规则表示</a:t>
            </a:r>
            <a:endParaRPr lang="en-US" altLang="zh-CN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</p:txBody>
      </p:sp>
      <p:cxnSp>
        <p:nvCxnSpPr>
          <p:cNvPr id="20" name="直接箭头连接符 19"/>
          <p:cNvCxnSpPr/>
          <p:nvPr>
            <p:custDataLst>
              <p:tags r:id="rId13"/>
            </p:custDataLst>
          </p:nvPr>
        </p:nvCxnSpPr>
        <p:spPr>
          <a:xfrm flipH="1">
            <a:off x="2075180" y="6209665"/>
            <a:ext cx="6350" cy="4451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>
            <p:custDataLst>
              <p:tags r:id="rId14"/>
            </p:custDataLst>
          </p:nvPr>
        </p:nvSpPr>
        <p:spPr>
          <a:xfrm>
            <a:off x="6096635" y="769620"/>
            <a:ext cx="5963920" cy="59855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15"/>
            </p:custDataLst>
          </p:nvPr>
        </p:nvSpPr>
        <p:spPr>
          <a:xfrm>
            <a:off x="2157730" y="6109970"/>
            <a:ext cx="1447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规则数据</a:t>
            </a:r>
            <a:endParaRPr lang="zh-CN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r>
              <a:rPr lang="en-US" altLang="zh-CN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(</a:t>
            </a:r>
            <a:r>
              <a:rPr lang="zh-CN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准确</a:t>
            </a:r>
            <a:r>
              <a:rPr lang="en-US" altLang="zh-CN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)</a:t>
            </a:r>
            <a:endParaRPr lang="en-US" altLang="zh-CN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430395" y="591227"/>
            <a:ext cx="3903980" cy="56222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⚙ </a:t>
            </a: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规则生成</a:t>
            </a:r>
            <a:endParaRPr lang="en-US" altLang="zh-CN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输出结构化候选规则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⚙</a:t>
            </a:r>
            <a:r>
              <a:rPr lang="en-US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️</a:t>
            </a:r>
            <a:r>
              <a:rPr lang="en-US" altLang="zh-CN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SLM </a:t>
            </a: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规则判别器</a:t>
            </a:r>
            <a:endParaRPr lang="zh-CN" altLang="en-US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实时判断规则好坏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输入：候选规则及其历史数据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输出：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valid/invalid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判定</a:t>
            </a:r>
            <a:endParaRPr lang="en-US" altLang="zh-CN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⚙ 规则回流</a:t>
            </a:r>
            <a:r>
              <a:rPr lang="zh-CN" altLang="en-US" sz="2000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（</a:t>
            </a:r>
            <a:r>
              <a:rPr lang="en-US" altLang="zh-CN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LLM </a:t>
            </a: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微调）</a:t>
            </a:r>
            <a:endParaRPr lang="zh-CN" altLang="en-US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将判别通过的规则作为正例样本，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      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未通过的用作负样本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采用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SFT 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方式</a:t>
            </a:r>
            <a:r>
              <a:rPr 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更新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LLM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，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     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稳定输出符合格式的规则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采用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Preference Tuning 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方式更新，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     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优先生成能被判别器接受的规则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lvl="1" indent="0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sz="20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329930" y="487538"/>
            <a:ext cx="3903980" cy="56222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⚙</a:t>
            </a:r>
            <a:r>
              <a:rPr lang="en-US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️</a:t>
            </a:r>
            <a:r>
              <a:rPr lang="en-US" altLang="zh-CN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SLM </a:t>
            </a: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规则判别器训练</a:t>
            </a:r>
            <a:endParaRPr lang="zh-CN" altLang="en-US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输入准备：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时序运行数据（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5 min / 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条）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“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规则片段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”</a:t>
            </a:r>
            <a:endParaRPr lang="en-US" altLang="zh-CN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标签构造：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SOC 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越界率，功率越界率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Bill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Revenue...</a:t>
            </a:r>
            <a:endParaRPr lang="en-US" altLang="zh-CN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自动标签：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valid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invalid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lvl="1" indent="0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sz="20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30" name="object 6"/>
          <p:cNvSpPr txBox="1"/>
          <p:nvPr/>
        </p:nvSpPr>
        <p:spPr>
          <a:xfrm>
            <a:off x="0" y="318"/>
            <a:ext cx="9334500" cy="44259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技术方案二</a:t>
            </a:r>
            <a:r>
              <a:rPr lang="en-US" altLang="zh-CN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     </a:t>
            </a: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面向能量调度算法的推理大模型构建</a:t>
            </a:r>
            <a:endParaRPr lang="zh-CN" altLang="en-US" sz="2800" spc="-5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>
            <p:custDataLst>
              <p:tags r:id="rId1"/>
            </p:custDataLst>
          </p:nvPr>
        </p:nvSpPr>
        <p:spPr>
          <a:xfrm>
            <a:off x="109855" y="776605"/>
            <a:ext cx="11951335" cy="5985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1" name="矩形 20"/>
          <p:cNvSpPr/>
          <p:nvPr>
            <p:custDataLst>
              <p:tags r:id="rId2"/>
            </p:custDataLst>
          </p:nvPr>
        </p:nvSpPr>
        <p:spPr>
          <a:xfrm>
            <a:off x="6096635" y="769620"/>
            <a:ext cx="5963920" cy="59855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0" name="object 6"/>
          <p:cNvSpPr txBox="1"/>
          <p:nvPr/>
        </p:nvSpPr>
        <p:spPr>
          <a:xfrm>
            <a:off x="0" y="318"/>
            <a:ext cx="9334500" cy="44259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技术方案二</a:t>
            </a:r>
            <a:r>
              <a:rPr lang="en-US" altLang="zh-CN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     </a:t>
            </a: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面向能量调度算法的推理大模型构建</a:t>
            </a:r>
            <a:endParaRPr lang="zh-CN" altLang="en-US" sz="2800" spc="-5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19"/>
          <a:stretch>
            <a:fillRect/>
          </a:stretch>
        </p:blipFill>
        <p:spPr>
          <a:xfrm>
            <a:off x="109855" y="1496060"/>
            <a:ext cx="5475605" cy="526605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008630" y="1584325"/>
            <a:ext cx="248920" cy="50018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02910" y="590550"/>
            <a:ext cx="6558280" cy="6240780"/>
          </a:xfrm>
          <a:prstGeom prst="rect">
            <a:avLst/>
          </a:prstGeom>
        </p:spPr>
        <p:txBody>
          <a:bodyPr wrap="square">
            <a:noAutofit/>
          </a:bodyPr>
          <a:p>
            <a:pPr indent="0" fontAlgn="auto">
              <a:lnSpc>
                <a:spcPct val="120000"/>
              </a:lnSpc>
            </a:pPr>
            <a:r>
              <a:rPr lang="en-US" altLang="zh-CN" sz="1400"/>
              <a:t>    {</a:t>
            </a:r>
            <a:endParaRPr lang="en-US" altLang="zh-CN" sz="1400"/>
          </a:p>
          <a:p>
            <a:pPr indent="0" fontAlgn="auto">
              <a:lnSpc>
                <a:spcPct val="120000"/>
              </a:lnSpc>
            </a:pPr>
            <a:r>
              <a:rPr lang="en-US" altLang="zh-CN" sz="1400"/>
              <a:t>      "rule_id": "RULE_ARBITRAGE_PV_ONLY_CHARGE",</a:t>
            </a:r>
            <a:endParaRPr lang="en-US" altLang="zh-CN" sz="1400"/>
          </a:p>
          <a:p>
            <a:pPr indent="0" fontAlgn="auto">
              <a:lnSpc>
                <a:spcPct val="120000"/>
              </a:lnSpc>
            </a:pPr>
            <a:r>
              <a:rPr lang="en-US" altLang="zh-CN" sz="1400"/>
              <a:t>      "name": "</a:t>
            </a:r>
            <a:r>
              <a:rPr lang="zh-CN" altLang="en-US" sz="1400"/>
              <a:t>光伏直充优先策略</a:t>
            </a:r>
            <a:r>
              <a:rPr lang="en-US" altLang="zh-CN" sz="1400"/>
              <a:t>",</a:t>
            </a:r>
            <a:endParaRPr lang="en-US" altLang="zh-CN" sz="1400"/>
          </a:p>
          <a:p>
            <a:pPr indent="0" fontAlgn="auto">
              <a:lnSpc>
                <a:spcPct val="120000"/>
              </a:lnSpc>
            </a:pPr>
            <a:r>
              <a:rPr lang="en-US" altLang="zh-CN" sz="1400"/>
              <a:t>      "category": "arbitrage",</a:t>
            </a:r>
            <a:endParaRPr lang="en-US" altLang="zh-CN" sz="1400"/>
          </a:p>
          <a:p>
            <a:pPr indent="0" fontAlgn="auto">
              <a:lnSpc>
                <a:spcPct val="120000"/>
              </a:lnSpc>
            </a:pPr>
            <a:r>
              <a:rPr lang="en-US" altLang="zh-CN" sz="1400"/>
              <a:t>      "priority": 65,</a:t>
            </a:r>
            <a:endParaRPr lang="en-US" altLang="zh-CN" sz="1400"/>
          </a:p>
          <a:p>
            <a:pPr indent="0" fontAlgn="auto">
              <a:lnSpc>
                <a:spcPct val="120000"/>
              </a:lnSpc>
            </a:pPr>
            <a:r>
              <a:rPr lang="en-US" altLang="zh-CN" sz="1400"/>
              <a:t>      "scenario_context": "</a:t>
            </a:r>
            <a:r>
              <a:rPr lang="zh-CN" altLang="en-US" sz="1400"/>
              <a:t>在电价为零的中午时段，光伏出力充沛（</a:t>
            </a:r>
            <a:r>
              <a:rPr lang="en-US" altLang="zh-CN" sz="1400"/>
              <a:t>7000W</a:t>
            </a:r>
            <a:r>
              <a:rPr lang="zh-CN" altLang="en-US" sz="1400"/>
              <a:t>），负载需求低（</a:t>
            </a:r>
            <a:r>
              <a:rPr lang="en-US" altLang="zh-CN" sz="1400"/>
              <a:t>850W</a:t>
            </a:r>
            <a:r>
              <a:rPr lang="zh-CN" altLang="en-US" sz="1400"/>
              <a:t>），</a:t>
            </a:r>
            <a:r>
              <a:rPr lang="en-US" altLang="zh-CN" sz="1400"/>
              <a:t>AI </a:t>
            </a:r>
            <a:r>
              <a:rPr lang="zh-CN" altLang="en-US" sz="1400"/>
              <a:t>利用多余光伏对电池进行深度充电，显著高于自发自用模式。</a:t>
            </a:r>
            <a:r>
              <a:rPr lang="en-US" altLang="zh-CN" sz="1400"/>
              <a:t>",</a:t>
            </a:r>
            <a:endParaRPr lang="en-US" altLang="zh-CN" sz="1400"/>
          </a:p>
          <a:p>
            <a:pPr indent="0" fontAlgn="auto">
              <a:lnSpc>
                <a:spcPct val="120000"/>
              </a:lnSpc>
            </a:pPr>
            <a:r>
              <a:rPr lang="en-US" altLang="zh-CN" sz="1400"/>
              <a:t>      "reasoning_comparison": "</a:t>
            </a:r>
            <a:r>
              <a:rPr lang="zh-CN" altLang="en-US" sz="1400"/>
              <a:t>尽管处于零电价时段，自发自用模式仅将部分多余光伏用于充电（</a:t>
            </a:r>
            <a:r>
              <a:rPr lang="en-US" altLang="zh-CN" sz="1400"/>
              <a:t>-2800W</a:t>
            </a:r>
            <a:r>
              <a:rPr lang="zh-CN" altLang="en-US" sz="1400"/>
              <a:t>），而</a:t>
            </a:r>
            <a:r>
              <a:rPr lang="en-US" altLang="zh-CN" sz="1400"/>
              <a:t> AI </a:t>
            </a:r>
            <a:r>
              <a:rPr lang="zh-CN" altLang="en-US" sz="1400"/>
              <a:t>模式大幅提升了光伏到电池的充电功率（</a:t>
            </a:r>
            <a:r>
              <a:rPr lang="en-US" altLang="zh-CN" sz="1400"/>
              <a:t>-6267W</a:t>
            </a:r>
            <a:r>
              <a:rPr lang="zh-CN" altLang="en-US" sz="1400"/>
              <a:t>），使</a:t>
            </a:r>
            <a:r>
              <a:rPr lang="en-US" altLang="zh-CN" sz="1400"/>
              <a:t> SOC </a:t>
            </a:r>
            <a:r>
              <a:rPr lang="zh-CN" altLang="en-US" sz="1400"/>
              <a:t>从</a:t>
            </a:r>
            <a:r>
              <a:rPr lang="en-US" altLang="zh-CN" sz="1400"/>
              <a:t> 0.18 </a:t>
            </a:r>
            <a:r>
              <a:rPr lang="zh-CN" altLang="en-US" sz="1400"/>
              <a:t>快速提升至</a:t>
            </a:r>
            <a:r>
              <a:rPr lang="en-US" altLang="zh-CN" sz="1400"/>
              <a:t> 0.32</a:t>
            </a:r>
            <a:r>
              <a:rPr lang="zh-CN" altLang="en-US" sz="1400"/>
              <a:t>。相比之下，自发自用模式</a:t>
            </a:r>
            <a:r>
              <a:rPr lang="en-US" altLang="zh-CN" sz="1400"/>
              <a:t> SOC </a:t>
            </a:r>
            <a:r>
              <a:rPr lang="zh-CN" altLang="en-US" sz="1400"/>
              <a:t>已接近满电（</a:t>
            </a:r>
            <a:r>
              <a:rPr lang="en-US" altLang="zh-CN" sz="1400"/>
              <a:t>0.89</a:t>
            </a:r>
            <a:r>
              <a:rPr lang="en-US" altLang="en-US" sz="1400"/>
              <a:t>→</a:t>
            </a:r>
            <a:r>
              <a:rPr lang="en-US" altLang="zh-CN" sz="1400"/>
              <a:t>0.96</a:t>
            </a:r>
            <a:r>
              <a:rPr lang="zh-CN" altLang="en-US" sz="1400"/>
              <a:t>），但</a:t>
            </a:r>
            <a:r>
              <a:rPr lang="en-US" altLang="zh-CN" sz="1400"/>
              <a:t> AI </a:t>
            </a:r>
            <a:r>
              <a:rPr lang="zh-CN" altLang="en-US" sz="1400"/>
              <a:t>明显在主动补电以准备应对后续可能的放电窗口。</a:t>
            </a:r>
            <a:r>
              <a:rPr lang="en-US" altLang="zh-CN" sz="1400"/>
              <a:t>AI </a:t>
            </a:r>
            <a:r>
              <a:rPr lang="zh-CN" altLang="en-US" sz="1400"/>
              <a:t>行为表明其在</a:t>
            </a:r>
            <a:r>
              <a:rPr lang="en-US" altLang="zh-CN" sz="1400"/>
              <a:t>‘</a:t>
            </a:r>
            <a:r>
              <a:rPr lang="zh-CN" altLang="en-US" sz="1400"/>
              <a:t>储备能量</a:t>
            </a:r>
            <a:r>
              <a:rPr lang="en-US" altLang="zh-CN" sz="1400"/>
              <a:t>’</a:t>
            </a:r>
            <a:r>
              <a:rPr lang="zh-CN" altLang="en-US" sz="1400"/>
              <a:t>而非简单自发自用。</a:t>
            </a:r>
            <a:r>
              <a:rPr lang="en-US" altLang="zh-CN" sz="1400"/>
              <a:t>",</a:t>
            </a:r>
            <a:endParaRPr lang="en-US" altLang="zh-CN" sz="1400"/>
          </a:p>
          <a:p>
            <a:pPr indent="0" fontAlgn="auto">
              <a:lnSpc>
                <a:spcPct val="120000"/>
              </a:lnSpc>
            </a:pPr>
            <a:r>
              <a:rPr lang="en-US" altLang="zh-CN" sz="1400"/>
              <a:t>      "logic_condition": "price_price_buy_avg == 0 AND pv_real_avg &gt; load_real_avg AND ai_mode_battery_from_pv_avg &gt; self_mode_total_power",</a:t>
            </a:r>
            <a:endParaRPr lang="en-US" altLang="zh-CN" sz="1400"/>
          </a:p>
          <a:p>
            <a:pPr indent="0" fontAlgn="auto">
              <a:lnSpc>
                <a:spcPct val="120000"/>
              </a:lnSpc>
            </a:pPr>
            <a:r>
              <a:rPr lang="en-US" altLang="zh-CN" sz="1400"/>
              <a:t>      "templates": {</a:t>
            </a:r>
            <a:endParaRPr lang="en-US" altLang="zh-CN" sz="1400"/>
          </a:p>
          <a:p>
            <a:pPr indent="0" fontAlgn="auto">
              <a:lnSpc>
                <a:spcPct val="120000"/>
              </a:lnSpc>
            </a:pPr>
            <a:r>
              <a:rPr lang="en-US" altLang="zh-CN" sz="1400"/>
              <a:t>        "user_narrative": "</a:t>
            </a:r>
            <a:r>
              <a:rPr lang="zh-CN" altLang="en-US" sz="1400"/>
              <a:t>在</a:t>
            </a:r>
            <a:r>
              <a:rPr lang="en-US" altLang="zh-CN" sz="1400"/>
              <a:t> {time_begin} </a:t>
            </a:r>
            <a:r>
              <a:rPr lang="zh-CN" altLang="en-US" sz="1400"/>
              <a:t>时段，光伏发电充足而电价为零，</a:t>
            </a:r>
            <a:r>
              <a:rPr lang="en-US" altLang="zh-CN" sz="1400"/>
              <a:t>AI </a:t>
            </a:r>
            <a:r>
              <a:rPr lang="zh-CN" altLang="en-US" sz="1400"/>
              <a:t>控制器启动光伏优先充电策略，将电池电量从</a:t>
            </a:r>
            <a:r>
              <a:rPr lang="en-US" altLang="zh-CN" sz="1400"/>
              <a:t> {ai_mode_soc_begin} </a:t>
            </a:r>
            <a:r>
              <a:rPr lang="zh-CN" altLang="en-US" sz="1400"/>
              <a:t>提升至</a:t>
            </a:r>
            <a:r>
              <a:rPr lang="en-US" altLang="zh-CN" sz="1400"/>
              <a:t> {ai_mode_soc_end}</a:t>
            </a:r>
            <a:r>
              <a:rPr lang="zh-CN" altLang="en-US" sz="1400"/>
              <a:t>，为后续高电价时段放电做好准备。</a:t>
            </a:r>
            <a:r>
              <a:rPr lang="en-US" altLang="zh-CN" sz="1400"/>
              <a:t>"</a:t>
            </a:r>
            <a:endParaRPr lang="en-US" altLang="zh-CN" sz="1400"/>
          </a:p>
          <a:p>
            <a:pPr indent="0" fontAlgn="auto">
              <a:lnSpc>
                <a:spcPct val="120000"/>
              </a:lnSpc>
            </a:pPr>
            <a:r>
              <a:rPr lang="en-US" altLang="zh-CN" sz="1400"/>
              <a:t>      },</a:t>
            </a:r>
            <a:endParaRPr lang="en-US" altLang="zh-CN" sz="1400"/>
          </a:p>
          <a:p>
            <a:pPr indent="0" fontAlgn="auto">
              <a:lnSpc>
                <a:spcPct val="120000"/>
              </a:lnSpc>
            </a:pPr>
            <a:r>
              <a:rPr lang="en-US" altLang="zh-CN" sz="1400"/>
              <a:t>      "required_slots": [</a:t>
            </a:r>
            <a:endParaRPr lang="en-US" altLang="zh-CN" sz="1400"/>
          </a:p>
          <a:p>
            <a:pPr indent="0" fontAlgn="auto">
              <a:lnSpc>
                <a:spcPct val="120000"/>
              </a:lnSpc>
            </a:pPr>
            <a:r>
              <a:rPr lang="en-US" altLang="zh-CN" sz="1400"/>
              <a:t>        "time_begin", "ai_mode_soc_begin",   "ai_mode_soc_end"</a:t>
            </a:r>
            <a:endParaRPr lang="en-US" altLang="zh-CN" sz="1400"/>
          </a:p>
          <a:p>
            <a:pPr indent="0" fontAlgn="auto">
              <a:lnSpc>
                <a:spcPct val="120000"/>
              </a:lnSpc>
            </a:pPr>
            <a:r>
              <a:rPr lang="en-US" altLang="zh-CN" sz="1400"/>
              <a:t>      ]</a:t>
            </a:r>
            <a:endParaRPr lang="en-US" altLang="zh-CN" sz="1400"/>
          </a:p>
          <a:p>
            <a:pPr indent="0" fontAlgn="auto">
              <a:lnSpc>
                <a:spcPct val="120000"/>
              </a:lnSpc>
            </a:pPr>
            <a:r>
              <a:rPr lang="en-US" altLang="zh-CN" sz="1400"/>
              <a:t>    }</a:t>
            </a:r>
            <a:endParaRPr lang="en-US" altLang="zh-CN" sz="1400"/>
          </a:p>
        </p:txBody>
      </p:sp>
      <p:sp>
        <p:nvSpPr>
          <p:cNvPr id="28" name="文本框 27"/>
          <p:cNvSpPr txBox="1"/>
          <p:nvPr/>
        </p:nvSpPr>
        <p:spPr>
          <a:xfrm>
            <a:off x="109855" y="590550"/>
            <a:ext cx="5476240" cy="6267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规则的形式</a:t>
            </a:r>
            <a:r>
              <a:rPr lang="en-US" altLang="zh-CN" sz="2000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?</a:t>
            </a:r>
            <a:endParaRPr lang="en-US" altLang="zh-CN" sz="2000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>
            <p:custDataLst>
              <p:tags r:id="rId1"/>
            </p:custDataLst>
          </p:nvPr>
        </p:nvSpPr>
        <p:spPr>
          <a:xfrm>
            <a:off x="109855" y="776605"/>
            <a:ext cx="11951335" cy="5985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4" name="矩形 33"/>
          <p:cNvSpPr/>
          <p:nvPr>
            <p:custDataLst>
              <p:tags r:id="rId2"/>
            </p:custDataLst>
          </p:nvPr>
        </p:nvSpPr>
        <p:spPr>
          <a:xfrm>
            <a:off x="8945880" y="815975"/>
            <a:ext cx="2781300" cy="6648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LLM 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规范化规则表示</a:t>
            </a:r>
            <a:endParaRPr lang="zh-CN" altLang="en-US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3"/>
            </p:custDataLst>
          </p:nvPr>
        </p:nvSpPr>
        <p:spPr>
          <a:xfrm>
            <a:off x="8256270" y="636905"/>
            <a:ext cx="7588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>
                <a:latin typeface="Times New Roman" panose="02020503050405090304" pitchFamily="18" charset="0"/>
                <a:ea typeface="微软雅黑" pitchFamily="34" charset="-122"/>
              </a:rPr>
              <a:t>特征表示</a:t>
            </a:r>
            <a:endParaRPr lang="zh-CN">
              <a:latin typeface="Times New Roman" panose="02020503050405090304" pitchFamily="18" charset="0"/>
              <a:ea typeface="微软雅黑" pitchFamily="34" charset="-122"/>
            </a:endParaRPr>
          </a:p>
        </p:txBody>
      </p:sp>
      <p:cxnSp>
        <p:nvCxnSpPr>
          <p:cNvPr id="12" name="直接箭头连接符 11"/>
          <p:cNvCxnSpPr/>
          <p:nvPr>
            <p:custDataLst>
              <p:tags r:id="rId4"/>
            </p:custDataLst>
          </p:nvPr>
        </p:nvCxnSpPr>
        <p:spPr>
          <a:xfrm flipV="1">
            <a:off x="8399145" y="1273810"/>
            <a:ext cx="401320" cy="82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6096635" y="769620"/>
            <a:ext cx="5963920" cy="59855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9855" y="636905"/>
            <a:ext cx="9224010" cy="4976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如何生成</a:t>
            </a:r>
            <a:r>
              <a:rPr lang="en-US" altLang="zh-CN" sz="2000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? </a:t>
            </a:r>
            <a:r>
              <a:rPr lang="zh-CN" altLang="en-US" sz="2000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基于什么生成</a:t>
            </a:r>
            <a:r>
              <a:rPr lang="en-US" altLang="zh-CN" sz="2000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?</a:t>
            </a:r>
            <a:endParaRPr lang="en-US" altLang="zh-CN" sz="2000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LLM</a:t>
            </a:r>
            <a:r>
              <a:rPr lang="zh-CN" altLang="en-US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针对时序数据的理解能力受限</a:t>
            </a:r>
            <a:r>
              <a:rPr lang="en-US" altLang="zh-CN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(</a:t>
            </a:r>
            <a:r>
              <a:rPr lang="zh-CN" altLang="en-US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长上下文</a:t>
            </a:r>
            <a:r>
              <a:rPr lang="en-US" altLang="zh-CN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+ </a:t>
            </a:r>
            <a:r>
              <a:rPr lang="zh-CN" altLang="en-US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推理难度</a:t>
            </a:r>
            <a:r>
              <a:rPr lang="en-US" altLang="zh-CN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)</a:t>
            </a:r>
            <a:endParaRPr lang="en-US" altLang="zh-CN" sz="16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规则一定是某一个时间段内的表现行为的基础</a:t>
            </a:r>
            <a:endParaRPr lang="zh-CN" altLang="en-US" sz="16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分段数据压缩总结的方式</a:t>
            </a:r>
            <a:endParaRPr lang="zh-CN" altLang="en-US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分段</a:t>
            </a:r>
            <a:r>
              <a:rPr lang="en-US" altLang="zh-CN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: </a:t>
            </a:r>
            <a:r>
              <a:rPr lang="zh-CN" altLang="en-US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把一天内的整体数据进行分段</a:t>
            </a:r>
            <a:r>
              <a:rPr lang="en-US" altLang="zh-CN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, </a:t>
            </a:r>
            <a:r>
              <a:rPr lang="zh-CN" altLang="en-US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把连续相似的行为段聚合成一个简要的</a:t>
            </a:r>
            <a:r>
              <a:rPr lang="zh-CN" altLang="en-US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数据段</a:t>
            </a:r>
            <a:endParaRPr lang="zh-CN" altLang="en-US" sz="16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数据压缩</a:t>
            </a:r>
            <a:r>
              <a:rPr lang="en-US" altLang="zh-CN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: </a:t>
            </a:r>
            <a:r>
              <a:rPr lang="zh-CN" altLang="en-US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数据段会统计段内的平均数据</a:t>
            </a:r>
            <a:r>
              <a:rPr lang="en-US" altLang="zh-CN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, load, pv</a:t>
            </a:r>
            <a:r>
              <a:rPr lang="zh-CN" altLang="en-US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等</a:t>
            </a:r>
            <a:endParaRPr lang="zh-CN" altLang="en-US" sz="16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sz="16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30" name="object 6"/>
          <p:cNvSpPr txBox="1"/>
          <p:nvPr/>
        </p:nvSpPr>
        <p:spPr>
          <a:xfrm>
            <a:off x="0" y="318"/>
            <a:ext cx="9334500" cy="44259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技术方案二</a:t>
            </a:r>
            <a:r>
              <a:rPr lang="en-US" altLang="zh-CN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     </a:t>
            </a: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面向能量调度算法的推理大模型构建</a:t>
            </a:r>
            <a:endParaRPr lang="zh-CN" altLang="en-US" sz="2800" spc="-5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1" b="54350"/>
          <a:stretch>
            <a:fillRect/>
          </a:stretch>
        </p:blipFill>
        <p:spPr>
          <a:xfrm>
            <a:off x="396875" y="3032760"/>
            <a:ext cx="6301105" cy="3348990"/>
          </a:xfrm>
          <a:prstGeom prst="rect">
            <a:avLst/>
          </a:prstGeom>
        </p:spPr>
      </p:pic>
      <p:pic>
        <p:nvPicPr>
          <p:cNvPr id="7" name="图片 6" descr="1766716100496"/>
          <p:cNvPicPr>
            <a:picLocks noChangeAspect="1"/>
          </p:cNvPicPr>
          <p:nvPr/>
        </p:nvPicPr>
        <p:blipFill>
          <a:blip r:embed="rId7"/>
          <a:srcRect b="47621"/>
          <a:stretch>
            <a:fillRect/>
          </a:stretch>
        </p:blipFill>
        <p:spPr>
          <a:xfrm>
            <a:off x="7346950" y="3688080"/>
            <a:ext cx="4126230" cy="22809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601075" y="61347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</a:t>
            </a:r>
            <a:r>
              <a:rPr lang="zh-CN" altLang="en-US"/>
              <a:t>压缩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835910" y="6393815"/>
            <a:ext cx="1293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</a:t>
            </a:r>
            <a:r>
              <a:rPr lang="zh-CN" altLang="en-US"/>
              <a:t>分段</a:t>
            </a:r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81380" y="3281045"/>
            <a:ext cx="1353185" cy="297243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2319655" y="3281045"/>
            <a:ext cx="992505" cy="2972435"/>
          </a:xfrm>
          <a:prstGeom prst="rect">
            <a:avLst/>
          </a:prstGeom>
          <a:noFill/>
          <a:ln w="28575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3396615" y="3281045"/>
            <a:ext cx="172720" cy="2972435"/>
          </a:xfrm>
          <a:prstGeom prst="rect">
            <a:avLst/>
          </a:prstGeom>
          <a:noFill/>
          <a:ln w="28575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3608070" y="3281045"/>
            <a:ext cx="172720" cy="2972435"/>
          </a:xfrm>
          <a:prstGeom prst="rect">
            <a:avLst/>
          </a:prstGeom>
          <a:noFill/>
          <a:ln w="28575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>
            <p:custDataLst>
              <p:tags r:id="rId1"/>
            </p:custDataLst>
          </p:nvPr>
        </p:nvSpPr>
        <p:spPr>
          <a:xfrm>
            <a:off x="109855" y="776605"/>
            <a:ext cx="11951335" cy="5985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1" name="矩形 20"/>
          <p:cNvSpPr/>
          <p:nvPr>
            <p:custDataLst>
              <p:tags r:id="rId2"/>
            </p:custDataLst>
          </p:nvPr>
        </p:nvSpPr>
        <p:spPr>
          <a:xfrm>
            <a:off x="6096635" y="769620"/>
            <a:ext cx="5963920" cy="59855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0" name="object 6"/>
          <p:cNvSpPr txBox="1"/>
          <p:nvPr/>
        </p:nvSpPr>
        <p:spPr>
          <a:xfrm>
            <a:off x="0" y="318"/>
            <a:ext cx="9334500" cy="44259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技术方案二</a:t>
            </a:r>
            <a:r>
              <a:rPr lang="en-US" altLang="zh-CN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     </a:t>
            </a: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面向能量调度算法的推理大模型构建</a:t>
            </a:r>
            <a:endParaRPr lang="zh-CN" altLang="en-US" sz="2800" spc="-5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9415" y="2925445"/>
            <a:ext cx="5588635" cy="329184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 anchor="t">
            <a:spAutoFit/>
          </a:bodyPr>
          <a:p>
            <a:r>
              <a:rPr lang="en-US" altLang="zh-CN" sz="1600"/>
              <a:t>LLM_GENERATOR_SYSTEM_PROMPT = """</a:t>
            </a:r>
            <a:endParaRPr lang="en-US" altLang="zh-CN" sz="1600"/>
          </a:p>
          <a:p>
            <a:r>
              <a:rPr lang="zh-CN" altLang="en-US" sz="1600"/>
              <a:t>你是一位精通能源与算法策略的数据分析专家。</a:t>
            </a:r>
            <a:endParaRPr lang="zh-CN" altLang="en-US" sz="1600"/>
          </a:p>
          <a:p>
            <a:r>
              <a:rPr lang="zh-CN" altLang="en-US" sz="1600"/>
              <a:t>你的任务是分析一段特定的能源运行数据，通过</a:t>
            </a:r>
            <a:r>
              <a:rPr lang="en-US" altLang="zh-CN" sz="1600"/>
              <a:t>**</a:t>
            </a:r>
            <a:r>
              <a:rPr lang="zh-CN" altLang="en-US" sz="1600"/>
              <a:t>对比分析</a:t>
            </a:r>
            <a:r>
              <a:rPr lang="en-US" altLang="zh-CN" sz="1600"/>
              <a:t>** </a:t>
            </a:r>
            <a:r>
              <a:rPr lang="zh-CN" altLang="en-US" sz="1600"/>
              <a:t>的方法，逆向推导</a:t>
            </a:r>
            <a:r>
              <a:rPr lang="en-US" altLang="zh-CN" sz="1600"/>
              <a:t> AI </a:t>
            </a:r>
            <a:r>
              <a:rPr lang="zh-CN" altLang="en-US" sz="1600"/>
              <a:t>控制器（</a:t>
            </a:r>
            <a:r>
              <a:rPr lang="en-US" altLang="zh-CN" sz="1600"/>
              <a:t>`ai_mode`</a:t>
            </a:r>
            <a:r>
              <a:rPr lang="zh-CN" altLang="en-US" sz="1600"/>
              <a:t>）的行为逻辑。</a:t>
            </a:r>
            <a:endParaRPr lang="zh-CN" altLang="en-US" sz="1600"/>
          </a:p>
          <a:p>
            <a:endParaRPr lang="en-US" altLang="zh-CN" sz="1600"/>
          </a:p>
          <a:p>
            <a:r>
              <a:rPr lang="en-US" altLang="zh-CN" sz="1600"/>
              <a:t>### </a:t>
            </a:r>
            <a:r>
              <a:rPr lang="zh-CN" altLang="en-US" sz="1600"/>
              <a:t>核心任务</a:t>
            </a:r>
            <a:endParaRPr lang="zh-CN" altLang="en-US" sz="1600"/>
          </a:p>
          <a:p>
            <a:r>
              <a:rPr lang="zh-CN" altLang="en-US" sz="1600"/>
              <a:t>你将接收到一个包含</a:t>
            </a:r>
            <a:r>
              <a:rPr lang="en-US" altLang="zh-CN" sz="1600"/>
              <a:t> `ai_mode`</a:t>
            </a:r>
            <a:r>
              <a:rPr lang="zh-CN" altLang="en-US" sz="1600"/>
              <a:t>（</a:t>
            </a:r>
            <a:r>
              <a:rPr lang="en-US" altLang="zh-CN" sz="1600"/>
              <a:t>AI</a:t>
            </a:r>
            <a:r>
              <a:rPr lang="zh-CN" altLang="en-US" sz="1600"/>
              <a:t>策略）与</a:t>
            </a:r>
            <a:r>
              <a:rPr lang="en-US" altLang="zh-CN" sz="1600"/>
              <a:t> `self_mode`</a:t>
            </a:r>
            <a:r>
              <a:rPr lang="zh-CN" altLang="en-US" sz="1600"/>
              <a:t>（传统自发自用策略）运行数据的</a:t>
            </a:r>
            <a:r>
              <a:rPr lang="en-US" altLang="zh-CN" sz="1600"/>
              <a:t> JSON/</a:t>
            </a:r>
            <a:r>
              <a:rPr lang="zh-CN" altLang="en-US" sz="1600"/>
              <a:t>字典对象。</a:t>
            </a:r>
            <a:endParaRPr lang="zh-CN" altLang="en-US" sz="1600"/>
          </a:p>
          <a:p>
            <a:r>
              <a:rPr lang="zh-CN" altLang="en-US" sz="1600"/>
              <a:t>请根据</a:t>
            </a:r>
            <a:r>
              <a:rPr lang="en-US" altLang="zh-CN" sz="1600"/>
              <a:t>**</a:t>
            </a:r>
            <a:r>
              <a:rPr lang="zh-CN" altLang="en-US" sz="1600"/>
              <a:t>环境参数</a:t>
            </a:r>
            <a:r>
              <a:rPr lang="en-US" altLang="zh-CN" sz="1600"/>
              <a:t>**</a:t>
            </a:r>
            <a:r>
              <a:rPr lang="zh-CN" altLang="en-US" sz="1600"/>
              <a:t>（电价、光伏）和</a:t>
            </a:r>
            <a:r>
              <a:rPr lang="en-US" altLang="zh-CN" sz="1600"/>
              <a:t>**AI </a:t>
            </a:r>
            <a:r>
              <a:rPr lang="zh-CN" altLang="en-US" sz="1600"/>
              <a:t>与</a:t>
            </a:r>
            <a:r>
              <a:rPr lang="en-US" altLang="zh-CN" sz="1600"/>
              <a:t> Self </a:t>
            </a:r>
            <a:r>
              <a:rPr lang="zh-CN" altLang="en-US" sz="1600"/>
              <a:t>模式的行为差异</a:t>
            </a:r>
            <a:r>
              <a:rPr lang="en-US" altLang="zh-CN" sz="1600"/>
              <a:t>**</a:t>
            </a:r>
            <a:r>
              <a:rPr lang="zh-CN" altLang="en-US" sz="1600"/>
              <a:t>，生成一个解释</a:t>
            </a:r>
            <a:r>
              <a:rPr lang="en-US" altLang="zh-CN" sz="1600"/>
              <a:t> AI </a:t>
            </a:r>
            <a:r>
              <a:rPr lang="zh-CN" altLang="en-US" sz="1600"/>
              <a:t>决策逻辑的</a:t>
            </a:r>
            <a:r>
              <a:rPr lang="en-US" altLang="zh-CN" sz="1600"/>
              <a:t> JSON </a:t>
            </a:r>
            <a:r>
              <a:rPr lang="zh-CN" altLang="en-US" sz="1600"/>
              <a:t>规则。</a:t>
            </a:r>
            <a:endParaRPr lang="zh-CN" altLang="en-US" sz="1600"/>
          </a:p>
          <a:p>
            <a:endParaRPr lang="en-US" altLang="zh-CN" sz="1600"/>
          </a:p>
          <a:p>
            <a:r>
              <a:rPr lang="en-US" altLang="zh-CN" sz="1600"/>
              <a:t>### </a:t>
            </a:r>
            <a:r>
              <a:rPr lang="zh-CN" altLang="en-US" sz="1600"/>
              <a:t>输入数据字段说明</a:t>
            </a:r>
            <a:endParaRPr lang="en-US" altLang="zh-CN" sz="1600"/>
          </a:p>
          <a:p>
            <a:r>
              <a:rPr lang="en-US" altLang="zh-CN" sz="1600"/>
              <a:t>### </a:t>
            </a:r>
            <a:r>
              <a:rPr lang="zh-CN" altLang="en-US" sz="1600"/>
              <a:t>输出数据字段说明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1924050" y="63868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LLM </a:t>
            </a:r>
            <a:r>
              <a:rPr lang="zh-CN" altLang="en-US"/>
              <a:t>规则生成</a:t>
            </a:r>
            <a:r>
              <a:rPr lang="en-US" altLang="zh-CN"/>
              <a:t> </a:t>
            </a:r>
            <a:r>
              <a:rPr lang="en-US" altLang="zh-CN"/>
              <a:t>Prompt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668770" y="3569335"/>
            <a:ext cx="5177790" cy="206121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 anchor="t">
            <a:spAutoFit/>
          </a:bodyPr>
          <a:p>
            <a:r>
              <a:rPr lang="en-US" altLang="zh-CN" sz="1600"/>
              <a:t>SLM_VALIDATOR_SYSTEM_PROMPT = """</a:t>
            </a:r>
            <a:endParaRPr lang="en-US" altLang="zh-CN" sz="1600"/>
          </a:p>
          <a:p>
            <a:r>
              <a:rPr lang="zh-CN" altLang="en-US" sz="1600"/>
              <a:t>你是一名能源系统的</a:t>
            </a:r>
            <a:r>
              <a:rPr lang="en-US" altLang="zh-CN" sz="1600"/>
              <a:t> QA </a:t>
            </a:r>
            <a:r>
              <a:rPr lang="zh-CN" altLang="en-US" sz="1600"/>
              <a:t>逻辑验证器。你的唯一职责是验证生成的</a:t>
            </a:r>
            <a:r>
              <a:rPr lang="en-US" altLang="zh-CN" sz="1600"/>
              <a:t>“</a:t>
            </a:r>
            <a:r>
              <a:rPr lang="zh-CN" altLang="en-US" sz="1600"/>
              <a:t>策略规则</a:t>
            </a:r>
            <a:r>
              <a:rPr lang="en-US" altLang="zh-CN" sz="1600"/>
              <a:t>”</a:t>
            </a:r>
            <a:r>
              <a:rPr lang="zh-CN" altLang="en-US" sz="1600"/>
              <a:t>是否与实际数据一致。</a:t>
            </a:r>
            <a:endParaRPr lang="zh-CN" altLang="en-US" sz="1600"/>
          </a:p>
          <a:p>
            <a:endParaRPr lang="en-US" altLang="zh-CN" sz="1600"/>
          </a:p>
          <a:p>
            <a:r>
              <a:rPr lang="en-US" altLang="zh-CN" sz="1600"/>
              <a:t>### </a:t>
            </a:r>
            <a:r>
              <a:rPr lang="zh-CN" altLang="en-US" sz="1600"/>
              <a:t>输入数据</a:t>
            </a:r>
            <a:endParaRPr lang="zh-CN" altLang="en-US" sz="1600"/>
          </a:p>
          <a:p>
            <a:r>
              <a:rPr lang="en-US" altLang="zh-CN" sz="1600"/>
              <a:t>1. **</a:t>
            </a:r>
            <a:r>
              <a:rPr lang="zh-CN" altLang="en-US" sz="1600"/>
              <a:t>实际数据</a:t>
            </a:r>
            <a:r>
              <a:rPr lang="en-US" altLang="zh-CN" sz="1600"/>
              <a:t>**</a:t>
            </a:r>
            <a:r>
              <a:rPr lang="zh-CN" altLang="en-US" sz="1600"/>
              <a:t>：包含电价、光伏、负载，以及两种模式（</a:t>
            </a:r>
            <a:r>
              <a:rPr lang="en-US" altLang="zh-CN" sz="1600"/>
              <a:t>AI </a:t>
            </a:r>
            <a:r>
              <a:rPr lang="zh-CN" altLang="en-US" sz="1600"/>
              <a:t>模式</a:t>
            </a:r>
            <a:r>
              <a:rPr lang="en-US" altLang="zh-CN" sz="1600"/>
              <a:t> vs </a:t>
            </a:r>
            <a:r>
              <a:rPr lang="zh-CN" altLang="en-US" sz="1600"/>
              <a:t>自发自用模式）的详细行为数据。</a:t>
            </a:r>
            <a:endParaRPr lang="zh-CN" altLang="en-US" sz="1600"/>
          </a:p>
          <a:p>
            <a:r>
              <a:rPr lang="en-US" altLang="zh-CN" sz="1600"/>
              <a:t>2. **</a:t>
            </a:r>
            <a:r>
              <a:rPr lang="zh-CN" altLang="en-US" sz="1600"/>
              <a:t>待验证的规则</a:t>
            </a:r>
            <a:r>
              <a:rPr lang="en-US" altLang="zh-CN" sz="1600"/>
              <a:t>**</a:t>
            </a:r>
            <a:r>
              <a:rPr lang="zh-CN" altLang="en-US" sz="1600"/>
              <a:t>：一个解释</a:t>
            </a:r>
            <a:r>
              <a:rPr lang="en-US" altLang="zh-CN" sz="1600"/>
              <a:t> AI </a:t>
            </a:r>
            <a:r>
              <a:rPr lang="zh-CN" altLang="en-US" sz="1600"/>
              <a:t>行为的</a:t>
            </a:r>
            <a:r>
              <a:rPr lang="en-US" altLang="zh-CN" sz="1600"/>
              <a:t> JSON </a:t>
            </a:r>
            <a:r>
              <a:rPr lang="zh-CN" altLang="en-US" sz="1600"/>
              <a:t>对象。</a:t>
            </a:r>
            <a:endParaRPr lang="zh-CN" altLang="en-US" sz="1600"/>
          </a:p>
        </p:txBody>
      </p:sp>
      <p:sp>
        <p:nvSpPr>
          <p:cNvPr id="5" name="文本框 4"/>
          <p:cNvSpPr txBox="1"/>
          <p:nvPr/>
        </p:nvSpPr>
        <p:spPr>
          <a:xfrm>
            <a:off x="8256270" y="63868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SLM  </a:t>
            </a:r>
            <a:r>
              <a:rPr lang="zh-CN" altLang="en-US"/>
              <a:t>判别</a:t>
            </a:r>
            <a:r>
              <a:rPr lang="en-US" altLang="zh-CN"/>
              <a:t> </a:t>
            </a:r>
            <a:r>
              <a:rPr lang="en-US" altLang="zh-CN"/>
              <a:t>Prompt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109855" y="636905"/>
            <a:ext cx="9224010" cy="4976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如何生成以及验证有效性</a:t>
            </a:r>
            <a:r>
              <a:rPr lang="en-US" altLang="zh-CN" sz="2000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?</a:t>
            </a:r>
            <a:endParaRPr lang="en-US" altLang="zh-CN" sz="2000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LLM </a:t>
            </a:r>
            <a:r>
              <a:rPr lang="zh-CN" altLang="en-US" sz="20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生成</a:t>
            </a:r>
            <a:r>
              <a:rPr lang="en-US" altLang="zh-CN" sz="20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 -&gt; SLM</a:t>
            </a:r>
            <a:r>
              <a:rPr lang="zh-CN" altLang="en-US" sz="20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判别</a:t>
            </a:r>
            <a:r>
              <a:rPr lang="en-US" altLang="zh-CN" sz="20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</a:t>
            </a:r>
            <a:endParaRPr lang="en-US" altLang="zh-CN" sz="20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valid -&gt; </a:t>
            </a:r>
            <a:r>
              <a:rPr lang="zh-CN" altLang="en-US" sz="20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收录规则库</a:t>
            </a:r>
            <a:endParaRPr lang="zh-CN" altLang="en-US" sz="20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invalid -&gt; </a:t>
            </a:r>
            <a:r>
              <a:rPr lang="zh-CN" altLang="en-US" sz="20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给出失败的原因解释以及</a:t>
            </a:r>
            <a:r>
              <a:rPr lang="en-US" altLang="zh-CN" sz="20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LLM</a:t>
            </a:r>
            <a:r>
              <a:rPr lang="zh-CN" altLang="en-US" sz="20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重新生成</a:t>
            </a:r>
            <a:r>
              <a:rPr lang="en-US" altLang="zh-CN" sz="20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(</a:t>
            </a:r>
            <a:r>
              <a:rPr lang="zh-CN" altLang="en-US" sz="20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最大重试次数</a:t>
            </a:r>
            <a:r>
              <a:rPr lang="en-US" altLang="zh-CN" sz="20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)</a:t>
            </a:r>
            <a:endParaRPr lang="en-US" altLang="zh-CN" sz="20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sz="16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>
            <p:custDataLst>
              <p:tags r:id="rId1"/>
            </p:custDataLst>
          </p:nvPr>
        </p:nvSpPr>
        <p:spPr>
          <a:xfrm>
            <a:off x="109855" y="776605"/>
            <a:ext cx="11951335" cy="5985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503050405090304" pitchFamily="18" charset="0"/>
                <a:cs typeface="Times New Roman" panose="02020503050405090304" pitchFamily="18" charset="0"/>
              </a:rPr>
              <a:t>[</a:t>
            </a:r>
            <a:r>
              <a:rPr lang="zh-CN" altLang="en-US">
                <a:latin typeface="Times New Roman" panose="02020503050405090304" pitchFamily="18" charset="0"/>
                <a:cs typeface="Times New Roman" panose="02020503050405090304" pitchFamily="18" charset="0"/>
              </a:rPr>
              <a:t>图片</a:t>
            </a:r>
            <a:r>
              <a:rPr lang="en-US" altLang="zh-CN">
                <a:latin typeface="Times New Roman" panose="02020503050405090304" pitchFamily="18" charset="0"/>
                <a:cs typeface="Times New Roman" panose="02020503050405090304" pitchFamily="18" charset="0"/>
              </a:rPr>
              <a:t>]</a:t>
            </a:r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1" name="矩形 20"/>
          <p:cNvSpPr/>
          <p:nvPr>
            <p:custDataLst>
              <p:tags r:id="rId2"/>
            </p:custDataLst>
          </p:nvPr>
        </p:nvSpPr>
        <p:spPr>
          <a:xfrm>
            <a:off x="6096635" y="769620"/>
            <a:ext cx="5963920" cy="59855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0" name="object 6"/>
          <p:cNvSpPr txBox="1"/>
          <p:nvPr/>
        </p:nvSpPr>
        <p:spPr>
          <a:xfrm>
            <a:off x="0" y="318"/>
            <a:ext cx="9334500" cy="44259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技术方案二</a:t>
            </a:r>
            <a:r>
              <a:rPr lang="en-US" altLang="zh-CN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     </a:t>
            </a: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面向能量调度算法的推理大模型构建</a:t>
            </a:r>
            <a:endParaRPr lang="zh-CN" altLang="en-US" sz="2800" spc="-5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9855" y="636905"/>
            <a:ext cx="9224010" cy="4976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如何生成以及验证有效性</a:t>
            </a:r>
            <a:r>
              <a:rPr lang="en-US" altLang="zh-CN" sz="2000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?</a:t>
            </a:r>
            <a:endParaRPr lang="en-US" altLang="zh-CN" sz="2000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sz="16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109855" y="1652270"/>
            <a:ext cx="5380990" cy="497586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4"/>
          <a:stretch>
            <a:fillRect/>
          </a:stretch>
        </p:blipFill>
        <p:spPr>
          <a:xfrm>
            <a:off x="6012815" y="2560320"/>
            <a:ext cx="6047740" cy="36201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6"/>
          <p:cNvSpPr txBox="1"/>
          <p:nvPr/>
        </p:nvSpPr>
        <p:spPr>
          <a:xfrm>
            <a:off x="0" y="-1"/>
            <a:ext cx="8509210" cy="44307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关键技术方案</a:t>
            </a:r>
            <a:endParaRPr lang="zh-CN" altLang="en-US" sz="2800" spc="-5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>
            <p:custDataLst>
              <p:tags r:id="rId1"/>
            </p:custDataLst>
          </p:nvPr>
        </p:nvSpPr>
        <p:spPr>
          <a:xfrm>
            <a:off x="538821" y="2440128"/>
            <a:ext cx="3363595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智能识别异常数据，构建可支撑调度与解释的高质量时序特征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基于通信异常、传感器漂移及数据突变规则，构建智能异常识别机制，实现高可靠数据筛选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结合轻量化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 Transformer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时序建模，通过自监督掩码训练构建高质量特征向量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2"/>
            </p:custDataLst>
          </p:nvPr>
        </p:nvSpPr>
        <p:spPr>
          <a:xfrm>
            <a:off x="7880711" y="2440128"/>
            <a:ext cx="3363595" cy="2999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构建用户个性化记忆机制，实现面向不同用户的个性化能量调度方案解释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基于推理大模型构建领域规则知识库，为用户解释提供底层数据支撑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基于对话建模用户专业水平，实现动态个性化记忆与需求分析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针对不同用户设计大模型快慢思考解释推理路径自适应优化，实现针对不同用户的“自然语言解释”生成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</p:txBody>
      </p:sp>
      <p:grpSp>
        <p:nvGrpSpPr>
          <p:cNvPr id="3" name="组合 2"/>
          <p:cNvGrpSpPr/>
          <p:nvPr>
            <p:custDataLst>
              <p:tags r:id="rId3"/>
            </p:custDataLst>
          </p:nvPr>
        </p:nvGrpSpPr>
        <p:grpSpPr>
          <a:xfrm>
            <a:off x="505437" y="1073328"/>
            <a:ext cx="3363595" cy="1171566"/>
            <a:chOff x="1119869" y="899366"/>
            <a:chExt cx="2714298" cy="1371371"/>
          </a:xfrm>
        </p:grpSpPr>
        <p:sp>
          <p:nvSpPr>
            <p:cNvPr id="46" name="矩形: 圆角 45"/>
            <p:cNvSpPr/>
            <p:nvPr>
              <p:custDataLst>
                <p:tags r:id="rId4"/>
              </p:custDataLst>
            </p:nvPr>
          </p:nvSpPr>
          <p:spPr>
            <a:xfrm>
              <a:off x="1130984" y="899366"/>
              <a:ext cx="2655094" cy="1371371"/>
            </a:xfrm>
            <a:prstGeom prst="roundRect">
              <a:avLst>
                <a:gd name="adj" fmla="val 106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文本框 46"/>
            <p:cNvSpPr txBox="1"/>
            <p:nvPr>
              <p:custDataLst>
                <p:tags r:id="rId5"/>
              </p:custDataLst>
            </p:nvPr>
          </p:nvSpPr>
          <p:spPr>
            <a:xfrm>
              <a:off x="1865481" y="993584"/>
              <a:ext cx="10803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技术方案一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6"/>
              </p:custDataLst>
            </p:nvPr>
          </p:nvSpPr>
          <p:spPr>
            <a:xfrm>
              <a:off x="1119869" y="1377010"/>
              <a:ext cx="2714298" cy="7551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面向光伏监测数据的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异常识别与特征构建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7"/>
            </p:custDataLst>
          </p:nvPr>
        </p:nvGrpSpPr>
        <p:grpSpPr>
          <a:xfrm>
            <a:off x="4226919" y="1073328"/>
            <a:ext cx="3326912" cy="1171566"/>
            <a:chOff x="4577624" y="899366"/>
            <a:chExt cx="2721373" cy="1371371"/>
          </a:xfrm>
        </p:grpSpPr>
        <p:sp>
          <p:nvSpPr>
            <p:cNvPr id="43" name="矩形: 圆角 42"/>
            <p:cNvSpPr/>
            <p:nvPr>
              <p:custDataLst>
                <p:tags r:id="rId8"/>
              </p:custDataLst>
            </p:nvPr>
          </p:nvSpPr>
          <p:spPr>
            <a:xfrm>
              <a:off x="4577625" y="899366"/>
              <a:ext cx="2655094" cy="1371371"/>
            </a:xfrm>
            <a:prstGeom prst="roundRect">
              <a:avLst>
                <a:gd name="adj" fmla="val 106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57616" y="1013516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技术方案二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10"/>
              </p:custDataLst>
            </p:nvPr>
          </p:nvSpPr>
          <p:spPr>
            <a:xfrm>
              <a:off x="4577624" y="1377010"/>
              <a:ext cx="27213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面向能量调度算法的</a:t>
              </a:r>
              <a:endPara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推理大模型构建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" name="组合 5"/>
          <p:cNvGrpSpPr/>
          <p:nvPr>
            <p:custDataLst>
              <p:tags r:id="rId11"/>
            </p:custDataLst>
          </p:nvPr>
        </p:nvGrpSpPr>
        <p:grpSpPr>
          <a:xfrm>
            <a:off x="7865549" y="1073328"/>
            <a:ext cx="3389578" cy="1171566"/>
            <a:chOff x="8090544" y="895419"/>
            <a:chExt cx="2735267" cy="1371371"/>
          </a:xfrm>
        </p:grpSpPr>
        <p:sp>
          <p:nvSpPr>
            <p:cNvPr id="40" name="矩形: 圆角 39"/>
            <p:cNvSpPr/>
            <p:nvPr>
              <p:custDataLst>
                <p:tags r:id="rId12"/>
              </p:custDataLst>
            </p:nvPr>
          </p:nvSpPr>
          <p:spPr>
            <a:xfrm>
              <a:off x="8090545" y="895419"/>
              <a:ext cx="2735266" cy="1371371"/>
            </a:xfrm>
            <a:prstGeom prst="roundRect">
              <a:avLst>
                <a:gd name="adj" fmla="val 106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13"/>
              </p:custDataLst>
            </p:nvPr>
          </p:nvSpPr>
          <p:spPr>
            <a:xfrm>
              <a:off x="8748678" y="984611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技术方案三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文本框 41"/>
            <p:cNvSpPr txBox="1"/>
            <p:nvPr>
              <p:custDataLst>
                <p:tags r:id="rId14"/>
              </p:custDataLst>
            </p:nvPr>
          </p:nvSpPr>
          <p:spPr>
            <a:xfrm>
              <a:off x="8090544" y="1377011"/>
              <a:ext cx="26100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用户感知的可解释性</a:t>
              </a:r>
              <a:endPara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增强方法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8" name="文本框 5"/>
          <p:cNvSpPr txBox="1"/>
          <p:nvPr/>
        </p:nvSpPr>
        <p:spPr>
          <a:xfrm>
            <a:off x="4457940" y="2440128"/>
            <a:ext cx="3363595" cy="700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1400" dirty="0">
              <a:latin typeface="微软雅黑" pitchFamily="34" charset="-122"/>
              <a:ea typeface="微软雅黑" pitchFamily="34" charset="-122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39" name="文本框 5"/>
          <p:cNvSpPr txBox="1"/>
          <p:nvPr>
            <p:custDataLst>
              <p:tags r:id="rId15"/>
            </p:custDataLst>
          </p:nvPr>
        </p:nvSpPr>
        <p:spPr>
          <a:xfrm>
            <a:off x="4240045" y="2440128"/>
            <a:ext cx="3363595" cy="3322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结合有监督微调与判别器联合训练，训练可解释推理大模型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基于已构建特征，结合有监督微调与小尺寸判别器联合训练，构建可解释推理大模型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判别结果反馈微调大模型，实现规则知识生成闭环，提高推理准确性。通过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“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大模型生成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—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小模型判别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”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迭代优化规则生成质量与可靠性</a:t>
            </a:r>
            <a:endParaRPr lang="zh-CN" altLang="en-US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400" dirty="0"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2" name="圆角矩形 1"/>
          <p:cNvSpPr/>
          <p:nvPr>
            <p:custDataLst>
              <p:tags r:id="rId16"/>
            </p:custDataLst>
          </p:nvPr>
        </p:nvSpPr>
        <p:spPr>
          <a:xfrm>
            <a:off x="519211" y="2268764"/>
            <a:ext cx="3290229" cy="3557878"/>
          </a:xfrm>
          <a:prstGeom prst="roundRect">
            <a:avLst>
              <a:gd name="adj" fmla="val 5033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圆角矩形 6"/>
          <p:cNvSpPr/>
          <p:nvPr>
            <p:custDataLst>
              <p:tags r:id="rId17"/>
            </p:custDataLst>
          </p:nvPr>
        </p:nvSpPr>
        <p:spPr>
          <a:xfrm>
            <a:off x="4217433" y="2268764"/>
            <a:ext cx="3290229" cy="3557878"/>
          </a:xfrm>
          <a:prstGeom prst="roundRect">
            <a:avLst>
              <a:gd name="adj" fmla="val 5033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圆角矩形 7"/>
          <p:cNvSpPr/>
          <p:nvPr>
            <p:custDataLst>
              <p:tags r:id="rId18"/>
            </p:custDataLst>
          </p:nvPr>
        </p:nvSpPr>
        <p:spPr>
          <a:xfrm>
            <a:off x="7891533" y="2268764"/>
            <a:ext cx="3363595" cy="3557878"/>
          </a:xfrm>
          <a:prstGeom prst="roundRect">
            <a:avLst>
              <a:gd name="adj" fmla="val 5033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右箭头 9"/>
          <p:cNvSpPr/>
          <p:nvPr>
            <p:custDataLst>
              <p:tags r:id="rId19"/>
            </p:custDataLst>
          </p:nvPr>
        </p:nvSpPr>
        <p:spPr>
          <a:xfrm>
            <a:off x="3836637" y="1490932"/>
            <a:ext cx="380796" cy="41121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右箭头 10"/>
          <p:cNvSpPr/>
          <p:nvPr>
            <p:custDataLst>
              <p:tags r:id="rId20"/>
            </p:custDataLst>
          </p:nvPr>
        </p:nvSpPr>
        <p:spPr>
          <a:xfrm>
            <a:off x="7502823" y="1483705"/>
            <a:ext cx="380796" cy="41121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 descr="images"/>
          <p:cNvPicPr>
            <a:picLocks noChangeAspect="1"/>
          </p:cNvPicPr>
          <p:nvPr/>
        </p:nvPicPr>
        <p:blipFill>
          <a:blip r:embed="rId21">
            <a:clrChange>
              <a:clrFrom>
                <a:srgbClr val="EAEAEA">
                  <a:alpha val="100000"/>
                </a:srgbClr>
              </a:clrFrom>
              <a:clrTo>
                <a:srgbClr val="EAEAE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56700" y="5850890"/>
            <a:ext cx="941705" cy="9417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2763520" y="824230"/>
            <a:ext cx="1725295" cy="8934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用户提问</a:t>
            </a:r>
            <a:endParaRPr lang="zh-CN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763520" y="2131695"/>
            <a:ext cx="1725295" cy="8934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抓取对应时段</a:t>
            </a:r>
            <a:r>
              <a:rPr 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数据</a:t>
            </a:r>
            <a:endParaRPr lang="zh-CN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80060" y="863600"/>
            <a:ext cx="1725295" cy="8934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数据分段</a:t>
            </a:r>
            <a:r>
              <a:rPr 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分析</a:t>
            </a:r>
            <a:endParaRPr lang="zh-CN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algn="ctr"/>
            <a:r>
              <a:rPr 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获取数据</a:t>
            </a:r>
            <a:r>
              <a:rPr 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趋势</a:t>
            </a:r>
            <a:endParaRPr lang="zh-CN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80060" y="2171065"/>
            <a:ext cx="1725295" cy="8934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F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AISS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规则库</a:t>
            </a:r>
            <a:endParaRPr lang="zh-CN" altLang="en-US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cxnSp>
        <p:nvCxnSpPr>
          <p:cNvPr id="17" name="直接箭头连接符 16"/>
          <p:cNvCxnSpPr>
            <a:stCxn id="13" idx="2"/>
            <a:endCxn id="14" idx="0"/>
          </p:cNvCxnSpPr>
          <p:nvPr/>
        </p:nvCxnSpPr>
        <p:spPr>
          <a:xfrm>
            <a:off x="3626485" y="1717675"/>
            <a:ext cx="0" cy="41402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4" idx="1"/>
            <a:endCxn id="15" idx="3"/>
          </p:cNvCxnSpPr>
          <p:nvPr/>
        </p:nvCxnSpPr>
        <p:spPr>
          <a:xfrm flipH="1" flipV="1">
            <a:off x="2205355" y="1310640"/>
            <a:ext cx="558165" cy="126809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3563620" y="1740535"/>
            <a:ext cx="1298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Agent </a:t>
            </a:r>
            <a:r>
              <a:rPr lang="zh-CN" altLang="en-US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调用</a:t>
            </a:r>
            <a:endParaRPr lang="zh-CN" altLang="en-US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91870" y="1764665"/>
            <a:ext cx="896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Times New Roman" panose="02020503050405090304" pitchFamily="18" charset="0"/>
                <a:ea typeface="微软雅黑" pitchFamily="34" charset="-122"/>
              </a:rPr>
              <a:t>匹</a:t>
            </a:r>
            <a:r>
              <a:rPr lang="en-US" altLang="zh-CN">
                <a:latin typeface="Times New Roman" panose="02020503050405090304" pitchFamily="18" charset="0"/>
                <a:ea typeface="微软雅黑" pitchFamily="34" charset="-122"/>
              </a:rPr>
              <a:t> </a:t>
            </a:r>
            <a:r>
              <a:rPr lang="zh-CN" altLang="en-US">
                <a:latin typeface="Times New Roman" panose="02020503050405090304" pitchFamily="18" charset="0"/>
                <a:ea typeface="微软雅黑" pitchFamily="34" charset="-122"/>
              </a:rPr>
              <a:t>配</a:t>
            </a:r>
            <a:endParaRPr lang="zh-CN" altLang="en-US">
              <a:latin typeface="Times New Roman" panose="02020503050405090304" pitchFamily="18" charset="0"/>
              <a:ea typeface="微软雅黑" pitchFamily="34" charset="-122"/>
            </a:endParaRPr>
          </a:p>
          <a:p>
            <a:endParaRPr lang="zh-CN" altLang="en-US">
              <a:latin typeface="Times New Roman" panose="02020503050405090304" pitchFamily="18" charset="0"/>
              <a:ea typeface="微软雅黑" pitchFamily="34" charset="-122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1342390" y="1757045"/>
            <a:ext cx="0" cy="41402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1342390" y="3064510"/>
            <a:ext cx="0" cy="41402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480060" y="3478530"/>
            <a:ext cx="1725295" cy="8934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LLM</a:t>
            </a:r>
            <a:endParaRPr lang="en-US" altLang="zh-CN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（可解释输出）</a:t>
            </a:r>
            <a:endParaRPr lang="zh-CN" altLang="en-US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763520" y="4478655"/>
            <a:ext cx="1725295" cy="4146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763520" y="5021580"/>
            <a:ext cx="1725295" cy="4146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763520" y="5564505"/>
            <a:ext cx="1725295" cy="4146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763520" y="6107430"/>
            <a:ext cx="1725295" cy="4146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763520" y="4470400"/>
            <a:ext cx="1811655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完整性与多样性</a:t>
            </a:r>
            <a:endParaRPr lang="zh-CN" altLang="en-US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endParaRPr lang="zh-CN" altLang="en-US">
              <a:latin typeface="Times New Roman" panose="02020503050405090304" pitchFamily="18" charset="0"/>
              <a:ea typeface="微软雅黑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763520" y="6131560"/>
            <a:ext cx="17252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事实正确性</a:t>
            </a:r>
            <a:endParaRPr lang="zh-CN" altLang="en-US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700020" y="5043805"/>
            <a:ext cx="19431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决策合理性</a:t>
            </a:r>
            <a:endParaRPr lang="zh-CN" altLang="en-US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532380" y="5575300"/>
            <a:ext cx="21894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可理解与可用性</a:t>
            </a:r>
            <a:endParaRPr lang="zh-CN" altLang="en-US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6" name="左大括号 35"/>
          <p:cNvSpPr/>
          <p:nvPr/>
        </p:nvSpPr>
        <p:spPr>
          <a:xfrm flipV="1">
            <a:off x="2451735" y="4471035"/>
            <a:ext cx="207010" cy="2051050"/>
          </a:xfrm>
          <a:prstGeom prst="leftBrace">
            <a:avLst>
              <a:gd name="adj1" fmla="val 283282"/>
              <a:gd name="adj2" fmla="val 66236"/>
            </a:avLst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125085" y="457200"/>
            <a:ext cx="6362700" cy="10934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📦</a:t>
            </a:r>
            <a:r>
              <a:rPr lang="en-US" altLang="zh-CN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  </a:t>
            </a:r>
            <a:r>
              <a:rPr lang="zh-CN" altLang="en-US" b="1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规则库构建</a:t>
            </a:r>
            <a:endParaRPr lang="en-US" altLang="zh-CN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457200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收集推理大模型生成的规则对，并存入向量数据库</a:t>
            </a:r>
            <a:endParaRPr lang="zh-CN" altLang="en-US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52" name="object 6"/>
          <p:cNvSpPr txBox="1"/>
          <p:nvPr/>
        </p:nvSpPr>
        <p:spPr>
          <a:xfrm>
            <a:off x="0" y="318"/>
            <a:ext cx="9334500" cy="44259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用户感知的可解释性增强方法（</a:t>
            </a:r>
            <a:r>
              <a:rPr lang="en-US" altLang="zh-CN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demo</a:t>
            </a: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）</a:t>
            </a:r>
            <a:endParaRPr lang="zh-CN" altLang="en-US" sz="2800" spc="-5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2763520" y="3465830"/>
            <a:ext cx="1725295" cy="8934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用户画像库</a:t>
            </a:r>
            <a:endParaRPr lang="zh-CN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cxnSp>
        <p:nvCxnSpPr>
          <p:cNvPr id="2" name="直接箭头连接符 1"/>
          <p:cNvCxnSpPr>
            <a:stCxn id="54" idx="1"/>
            <a:endCxn id="25" idx="3"/>
          </p:cNvCxnSpPr>
          <p:nvPr/>
        </p:nvCxnSpPr>
        <p:spPr>
          <a:xfrm flipH="1">
            <a:off x="2205355" y="3912870"/>
            <a:ext cx="558165" cy="12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80060" y="5043170"/>
            <a:ext cx="1725295" cy="8934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自动评判</a:t>
            </a:r>
            <a:endParaRPr lang="zh-CN" altLang="en-US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cxnSp>
        <p:nvCxnSpPr>
          <p:cNvPr id="4" name="直接箭头连接符 3"/>
          <p:cNvCxnSpPr>
            <a:stCxn id="25" idx="2"/>
            <a:endCxn id="3" idx="0"/>
          </p:cNvCxnSpPr>
          <p:nvPr/>
        </p:nvCxnSpPr>
        <p:spPr>
          <a:xfrm>
            <a:off x="1343025" y="4371975"/>
            <a:ext cx="0" cy="67119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125085" y="1240790"/>
            <a:ext cx="6362700" cy="1392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⚡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  </a:t>
            </a: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时段数据抓取</a:t>
            </a:r>
            <a:endParaRPr lang="zh-CN" altLang="en-US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LLM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解析用户问题，提取对应时间范围，依据时间范围提取对应的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数据。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457200">
              <a:lnSpc>
                <a:spcPct val="150000"/>
              </a:lnSpc>
            </a:pPr>
            <a:endParaRPr lang="zh-CN" altLang="en-US" sz="16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25085" y="2409825"/>
            <a:ext cx="6362700" cy="1392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⚡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  </a:t>
            </a: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数据分段总结</a:t>
            </a:r>
            <a:endParaRPr lang="zh-CN" altLang="en-US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对时段数据进行分析，基于规则对抓取的数据进行阶段划分，将连续表现相似的时间段归并为一个阶段并，同时计算阶段性的</a:t>
            </a:r>
            <a:r>
              <a:rPr lang="zh-CN" altLang="en-US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派生数据。</a:t>
            </a:r>
            <a:endParaRPr lang="zh-CN" altLang="en-US" sz="16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22545" y="5078095"/>
            <a:ext cx="6362700" cy="1605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⚡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  </a:t>
            </a:r>
            <a:r>
              <a:rPr lang="en-US" altLang="zh-CN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LLM</a:t>
            </a: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可解释输出</a:t>
            </a:r>
            <a:endParaRPr lang="zh-CN" altLang="en-US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综合用户原始问题、整理的阶段数据、匹配的规则以及用户画像进行回复。回复不会直接贴出规则条目，而是基于规则的寓意与阶段数据的事实进行说明，强调</a:t>
            </a:r>
            <a:r>
              <a:rPr lang="en-US" altLang="zh-CN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“</a:t>
            </a:r>
            <a:r>
              <a:rPr lang="zh-CN" altLang="en-US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为什么如此</a:t>
            </a:r>
            <a:r>
              <a:rPr lang="en-US" altLang="zh-CN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”</a:t>
            </a:r>
            <a:r>
              <a:rPr lang="zh-CN" altLang="en-US" sz="16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。</a:t>
            </a:r>
            <a:endParaRPr lang="zh-CN" altLang="en-US" sz="16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22545" y="3876675"/>
            <a:ext cx="6362700" cy="1392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⚡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  </a:t>
            </a: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规则</a:t>
            </a:r>
            <a:r>
              <a:rPr lang="zh-CN" altLang="en-US" b="1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  <a:sym typeface="+mn-ea"/>
              </a:rPr>
              <a:t>匹配</a:t>
            </a:r>
            <a:endParaRPr lang="zh-CN" altLang="en-US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根据用户的问题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+ 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对应数据分段的总结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, 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基于向量匹配查询对应的规则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, 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召回给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LLM </a:t>
            </a:r>
            <a:endParaRPr lang="zh-CN" altLang="en-US" sz="16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100965" y="457200"/>
            <a:ext cx="6362700" cy="10934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📦</a:t>
            </a:r>
            <a:r>
              <a:rPr lang="en-US" altLang="zh-CN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  </a:t>
            </a:r>
            <a:r>
              <a:rPr lang="en-US" altLang="zh-CN" b="1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Demo</a:t>
            </a:r>
            <a:r>
              <a:rPr lang="zh-CN" altLang="en-US" b="1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演示</a:t>
            </a:r>
            <a:endParaRPr lang="en-US" altLang="zh-CN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457200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52" name="object 6"/>
          <p:cNvSpPr txBox="1"/>
          <p:nvPr/>
        </p:nvSpPr>
        <p:spPr>
          <a:xfrm>
            <a:off x="0" y="318"/>
            <a:ext cx="9334500" cy="44259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用户感知的可解释性增强方法（</a:t>
            </a:r>
            <a:r>
              <a:rPr lang="en-US" altLang="zh-CN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Demo</a:t>
            </a: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）</a:t>
            </a:r>
            <a:endParaRPr lang="zh-CN" altLang="en-US" sz="2800" spc="-5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2270125" y="3841115"/>
            <a:ext cx="1725295" cy="6299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52" name="object 6"/>
          <p:cNvSpPr txBox="1"/>
          <p:nvPr/>
        </p:nvSpPr>
        <p:spPr>
          <a:xfrm>
            <a:off x="0" y="318"/>
            <a:ext cx="9334500" cy="44259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用户感知的可解释性增强方法（后续</a:t>
            </a:r>
            <a:r>
              <a:rPr lang="zh-CN" altLang="en-US" sz="2800" spc="-5" dirty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方案）</a:t>
            </a:r>
            <a:endParaRPr lang="zh-CN" altLang="en-US" sz="2800" spc="-5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71395" y="823595"/>
            <a:ext cx="1724660" cy="574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规划智能体</a:t>
            </a:r>
            <a:endParaRPr lang="zh-CN" sz="1600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algn="ctr"/>
            <a:r>
              <a:rPr lang="zh-CN" sz="1600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（</a:t>
            </a:r>
            <a:r>
              <a:rPr lang="en-US" altLang="zh-CN" sz="1600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LLM</a:t>
            </a:r>
            <a:r>
              <a:rPr lang="zh-CN" altLang="en-US" sz="1600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）</a:t>
            </a:r>
            <a:endParaRPr lang="zh-CN" altLang="en-US" sz="1600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cxnSp>
        <p:nvCxnSpPr>
          <p:cNvPr id="5" name="直接箭头连接符 4"/>
          <p:cNvCxnSpPr>
            <a:stCxn id="3" idx="2"/>
          </p:cNvCxnSpPr>
          <p:nvPr/>
        </p:nvCxnSpPr>
        <p:spPr>
          <a:xfrm>
            <a:off x="3133725" y="1397635"/>
            <a:ext cx="0" cy="380365"/>
          </a:xfrm>
          <a:prstGeom prst="straightConnector1">
            <a:avLst/>
          </a:prstGeom>
          <a:ln w="19050">
            <a:solidFill>
              <a:schemeClr val="tx1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15570" y="2788285"/>
            <a:ext cx="1779905" cy="6299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600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答案生成智能体</a:t>
            </a:r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5570" y="1778000"/>
            <a:ext cx="1779905" cy="6305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600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检索智能体</a:t>
            </a:r>
            <a:endParaRPr lang="zh-CN" altLang="zh-CN" sz="1600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70760" y="2786380"/>
            <a:ext cx="1725295" cy="6330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600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检索智能体</a:t>
            </a:r>
            <a:endParaRPr lang="zh-CN" altLang="zh-CN" sz="1600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346960" y="3936365"/>
            <a:ext cx="1725295" cy="6299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449195" y="4013200"/>
            <a:ext cx="1725295" cy="6299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600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答案生成智能体</a:t>
            </a:r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270760" y="1778000"/>
            <a:ext cx="1725295" cy="6299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并行分解</a:t>
            </a:r>
            <a:r>
              <a:rPr lang="zh-CN" altLang="en-US" sz="1600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智能体</a:t>
            </a:r>
            <a:endParaRPr lang="zh-CN" altLang="en-US" sz="1600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2270125" y="4956810"/>
            <a:ext cx="1725295" cy="5016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600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答案</a:t>
            </a:r>
            <a:r>
              <a:rPr lang="zh-CN" altLang="zh-CN" sz="1600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总结</a:t>
            </a:r>
            <a:endParaRPr lang="zh-CN" altLang="zh-CN" sz="1600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270760" y="5848985"/>
            <a:ext cx="1725295" cy="5016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600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最终</a:t>
            </a:r>
            <a:r>
              <a:rPr lang="zh-CN" altLang="zh-CN" sz="1600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答案</a:t>
            </a:r>
            <a:endParaRPr lang="zh-CN" altLang="zh-CN" sz="1600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441825" y="1778000"/>
            <a:ext cx="1725295" cy="6299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串行分解</a:t>
            </a:r>
            <a:r>
              <a:rPr lang="zh-CN" altLang="en-US" sz="1600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智能体</a:t>
            </a:r>
            <a:endParaRPr lang="zh-CN" altLang="en-US" sz="1600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441825" y="2788285"/>
            <a:ext cx="1725295" cy="5016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600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检索智能体</a:t>
            </a:r>
            <a:endParaRPr lang="zh-CN" altLang="zh-CN" sz="1600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441825" y="3670300"/>
            <a:ext cx="1725295" cy="6299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600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答案生成智能体</a:t>
            </a:r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45" name="流程图: 决策 44"/>
          <p:cNvSpPr/>
          <p:nvPr/>
        </p:nvSpPr>
        <p:spPr>
          <a:xfrm>
            <a:off x="4406265" y="4680585"/>
            <a:ext cx="1814830" cy="836930"/>
          </a:xfrm>
          <a:prstGeom prst="flowChartDecision">
            <a:avLst/>
          </a:prstGeom>
          <a:solidFill>
            <a:srgbClr val="FFEDB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600">
                <a:solidFill>
                  <a:schemeClr val="tx1"/>
                </a:solidFill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步骤&lt;总数</a:t>
            </a:r>
            <a:endParaRPr lang="zh-CN" altLang="zh-CN" sz="1600">
              <a:solidFill>
                <a:schemeClr val="tx1"/>
              </a:solidFill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cxnSp>
        <p:nvCxnSpPr>
          <p:cNvPr id="46" name="直接箭头连接符 45"/>
          <p:cNvCxnSpPr>
            <a:stCxn id="39" idx="2"/>
            <a:endCxn id="11" idx="0"/>
          </p:cNvCxnSpPr>
          <p:nvPr/>
        </p:nvCxnSpPr>
        <p:spPr>
          <a:xfrm>
            <a:off x="3133725" y="2407920"/>
            <a:ext cx="0" cy="37846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肘形连接符 46"/>
          <p:cNvCxnSpPr>
            <a:stCxn id="3" idx="1"/>
            <a:endCxn id="10" idx="0"/>
          </p:cNvCxnSpPr>
          <p:nvPr/>
        </p:nvCxnSpPr>
        <p:spPr>
          <a:xfrm rot="10800000" flipV="1">
            <a:off x="1005840" y="1110615"/>
            <a:ext cx="1265555" cy="667385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10" idx="2"/>
            <a:endCxn id="7" idx="0"/>
          </p:cNvCxnSpPr>
          <p:nvPr/>
        </p:nvCxnSpPr>
        <p:spPr>
          <a:xfrm>
            <a:off x="1005840" y="2408555"/>
            <a:ext cx="0" cy="37973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42" idx="2"/>
            <a:endCxn id="43" idx="0"/>
          </p:cNvCxnSpPr>
          <p:nvPr/>
        </p:nvCxnSpPr>
        <p:spPr>
          <a:xfrm>
            <a:off x="5304790" y="2407920"/>
            <a:ext cx="0" cy="38036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11" idx="2"/>
            <a:endCxn id="38" idx="0"/>
          </p:cNvCxnSpPr>
          <p:nvPr/>
        </p:nvCxnSpPr>
        <p:spPr>
          <a:xfrm flipH="1">
            <a:off x="3133090" y="3419475"/>
            <a:ext cx="635" cy="42164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43" idx="2"/>
            <a:endCxn id="44" idx="0"/>
          </p:cNvCxnSpPr>
          <p:nvPr/>
        </p:nvCxnSpPr>
        <p:spPr>
          <a:xfrm>
            <a:off x="5304790" y="3289935"/>
            <a:ext cx="0" cy="38036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44" idx="2"/>
            <a:endCxn id="45" idx="0"/>
          </p:cNvCxnSpPr>
          <p:nvPr/>
        </p:nvCxnSpPr>
        <p:spPr>
          <a:xfrm>
            <a:off x="5304790" y="4300220"/>
            <a:ext cx="8890" cy="38036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 flipH="1">
            <a:off x="3263900" y="4643120"/>
            <a:ext cx="5080" cy="3009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40" idx="2"/>
            <a:endCxn id="41" idx="0"/>
          </p:cNvCxnSpPr>
          <p:nvPr/>
        </p:nvCxnSpPr>
        <p:spPr>
          <a:xfrm>
            <a:off x="3133090" y="5458460"/>
            <a:ext cx="635" cy="39052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肘形连接符 63"/>
          <p:cNvCxnSpPr>
            <a:stCxn id="45" idx="2"/>
            <a:endCxn id="41" idx="3"/>
          </p:cNvCxnSpPr>
          <p:nvPr/>
        </p:nvCxnSpPr>
        <p:spPr>
          <a:xfrm rot="5400000">
            <a:off x="4363720" y="5149850"/>
            <a:ext cx="582295" cy="1317625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肘形连接符 64"/>
          <p:cNvCxnSpPr>
            <a:stCxn id="7" idx="2"/>
            <a:endCxn id="41" idx="1"/>
          </p:cNvCxnSpPr>
          <p:nvPr/>
        </p:nvCxnSpPr>
        <p:spPr>
          <a:xfrm rot="5400000" flipV="1">
            <a:off x="297498" y="4126548"/>
            <a:ext cx="2681605" cy="1264920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肘形连接符 65"/>
          <p:cNvCxnSpPr>
            <a:stCxn id="3" idx="3"/>
            <a:endCxn id="42" idx="0"/>
          </p:cNvCxnSpPr>
          <p:nvPr/>
        </p:nvCxnSpPr>
        <p:spPr>
          <a:xfrm>
            <a:off x="3996055" y="1110615"/>
            <a:ext cx="1308735" cy="667385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/>
        </p:nvSpPr>
        <p:spPr>
          <a:xfrm>
            <a:off x="1005840" y="742315"/>
            <a:ext cx="10807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简单路径</a:t>
            </a:r>
            <a:endParaRPr lang="zh-CN" altLang="en-US"/>
          </a:p>
        </p:txBody>
      </p:sp>
      <p:sp>
        <p:nvSpPr>
          <p:cNvPr id="69" name="文本框 68"/>
          <p:cNvSpPr txBox="1"/>
          <p:nvPr/>
        </p:nvSpPr>
        <p:spPr>
          <a:xfrm>
            <a:off x="2086610" y="1419225"/>
            <a:ext cx="10807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并行</a:t>
            </a:r>
            <a:r>
              <a:rPr lang="zh-CN" sz="160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路径</a:t>
            </a:r>
            <a:endParaRPr lang="zh-CN" sz="160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4180840" y="773430"/>
            <a:ext cx="10807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串行</a:t>
            </a:r>
            <a:r>
              <a:rPr lang="zh-CN" sz="160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路径</a:t>
            </a:r>
            <a:endParaRPr lang="zh-CN" sz="160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221095" y="474980"/>
            <a:ext cx="5723890" cy="1697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⚡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  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路径规划</a:t>
            </a:r>
            <a:endParaRPr lang="zh-CN" altLang="en-US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微调</a:t>
            </a:r>
            <a:r>
              <a:rPr 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LLM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实现低成本路径规划，以解决用户问题多样化问题，增强回复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质量。根据用户提问规划执行路径：分为简单问题、并行问题与串行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问题。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457200">
              <a:lnSpc>
                <a:spcPct val="150000"/>
              </a:lnSpc>
            </a:pP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457200">
              <a:lnSpc>
                <a:spcPct val="150000"/>
              </a:lnSpc>
            </a:pPr>
            <a:endParaRPr lang="zh-CN" altLang="en-US" sz="16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cxnSp>
        <p:nvCxnSpPr>
          <p:cNvPr id="72" name="肘形连接符 71"/>
          <p:cNvCxnSpPr>
            <a:stCxn id="11" idx="1"/>
            <a:endCxn id="38" idx="1"/>
          </p:cNvCxnSpPr>
          <p:nvPr/>
        </p:nvCxnSpPr>
        <p:spPr>
          <a:xfrm rot="10800000" flipV="1">
            <a:off x="2269490" y="3103245"/>
            <a:ext cx="3175" cy="1052830"/>
          </a:xfrm>
          <a:prstGeom prst="bentConnector3">
            <a:avLst>
              <a:gd name="adj1" fmla="val 882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6275070" y="2104390"/>
            <a:ext cx="5723890" cy="1392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⚡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  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简单路径</a:t>
            </a:r>
            <a:endParaRPr lang="zh-CN" altLang="en-US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用户问题为最小单元问题，不可拆分。此时根据标准流程进行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解答。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457200">
              <a:lnSpc>
                <a:spcPct val="150000"/>
              </a:lnSpc>
            </a:pP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457200">
              <a:lnSpc>
                <a:spcPct val="150000"/>
              </a:lnSpc>
            </a:pPr>
            <a:endParaRPr lang="zh-CN" altLang="en-US" sz="16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275070" y="3363595"/>
            <a:ext cx="5723890" cy="1392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⚡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  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并行路径</a:t>
            </a:r>
            <a:endParaRPr lang="zh-CN" altLang="en-US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用户问题可拆分为多个单元问题，但是各个单元问题之前无依赖。此时将拆分的单元问题分别解答，最后合并全部解答生成最终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回复。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457200">
              <a:lnSpc>
                <a:spcPct val="150000"/>
              </a:lnSpc>
            </a:pP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457200">
              <a:lnSpc>
                <a:spcPct val="150000"/>
              </a:lnSpc>
            </a:pPr>
            <a:endParaRPr lang="zh-CN" altLang="en-US" sz="16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275070" y="5028565"/>
            <a:ext cx="5723890" cy="1392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⚡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   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串行路径</a:t>
            </a:r>
            <a:endParaRPr lang="zh-CN" altLang="en-US" b="1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用户问题可拆分为多个单元问题，但是各个单元问题存在依赖。此时规划为串行解决。第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N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个问题解答需要前</a:t>
            </a:r>
            <a:r>
              <a:rPr lang="en-US" altLang="zh-CN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N-1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个问题的答案，生成最终</a:t>
            </a:r>
            <a:r>
              <a:rPr lang="zh-CN" altLang="en-US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回复。</a:t>
            </a: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457200">
              <a:lnSpc>
                <a:spcPct val="150000"/>
              </a:lnSpc>
            </a:pPr>
            <a:endParaRPr lang="zh-CN" altLang="en-US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  <a:p>
            <a:pPr indent="457200">
              <a:lnSpc>
                <a:spcPct val="150000"/>
              </a:lnSpc>
            </a:pPr>
            <a:endParaRPr lang="zh-CN" altLang="en-US" sz="16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  <p:cxnSp>
        <p:nvCxnSpPr>
          <p:cNvPr id="80" name="肘形连接符 79"/>
          <p:cNvCxnSpPr/>
          <p:nvPr/>
        </p:nvCxnSpPr>
        <p:spPr>
          <a:xfrm rot="10800000" flipH="1">
            <a:off x="4406265" y="3039110"/>
            <a:ext cx="35560" cy="2059940"/>
          </a:xfrm>
          <a:prstGeom prst="bentConnector3">
            <a:avLst>
              <a:gd name="adj1" fmla="val -382142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4441825" y="5755640"/>
            <a:ext cx="6540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160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否</a:t>
            </a:r>
            <a:endParaRPr lang="zh-CN" altLang="en-US"/>
          </a:p>
        </p:txBody>
      </p:sp>
      <p:sp>
        <p:nvSpPr>
          <p:cNvPr id="83" name="文本框 82"/>
          <p:cNvSpPr txBox="1"/>
          <p:nvPr/>
        </p:nvSpPr>
        <p:spPr>
          <a:xfrm>
            <a:off x="4262120" y="4491990"/>
            <a:ext cx="6540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160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是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6"/>
          <p:cNvSpPr txBox="1"/>
          <p:nvPr/>
        </p:nvSpPr>
        <p:spPr>
          <a:xfrm>
            <a:off x="0" y="-1"/>
            <a:ext cx="8509210" cy="44307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5" dirty="0">
                <a:latin typeface="+mn-lt"/>
                <a:ea typeface="+mn-ea"/>
                <a:cs typeface="+mn-ea"/>
                <a:sym typeface="+mn-lt"/>
              </a:rPr>
              <a:t>预期成果</a:t>
            </a:r>
            <a:endParaRPr lang="zh-CN" altLang="en-US" sz="2800" spc="-5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6386" y="887560"/>
            <a:ext cx="10574385" cy="5390783"/>
            <a:chOff x="62803" y="842218"/>
            <a:chExt cx="10574385" cy="5390783"/>
          </a:xfrm>
        </p:grpSpPr>
        <p:sp>
          <p:nvSpPr>
            <p:cNvPr id="29" name="矩形: 圆角 1"/>
            <p:cNvSpPr/>
            <p:nvPr/>
          </p:nvSpPr>
          <p:spPr bwMode="auto">
            <a:xfrm>
              <a:off x="420390" y="842219"/>
              <a:ext cx="10216798" cy="1538118"/>
            </a:xfrm>
            <a:prstGeom prst="roundRect">
              <a:avLst>
                <a:gd name="adj" fmla="val 2521"/>
              </a:avLst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+mn-ea"/>
                <a:sym typeface="+mn-lt"/>
              </a:endParaRPr>
            </a:p>
          </p:txBody>
        </p:sp>
        <p:sp>
          <p:nvSpPr>
            <p:cNvPr id="33" name="矩形 58"/>
            <p:cNvSpPr>
              <a:spLocks noChangeArrowheads="1"/>
            </p:cNvSpPr>
            <p:nvPr/>
          </p:nvSpPr>
          <p:spPr bwMode="auto">
            <a:xfrm>
              <a:off x="420389" y="842218"/>
              <a:ext cx="4709068" cy="378651"/>
            </a:xfrm>
            <a:prstGeom prst="roundRect">
              <a:avLst>
                <a:gd name="adj" fmla="val 6742"/>
              </a:avLst>
            </a:prstGeom>
            <a:solidFill>
              <a:srgbClr val="8B0012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r>
                <a:rPr lang="zh-CN" altLang="en-US" sz="2000" kern="0" dirty="0">
                  <a:solidFill>
                    <a:sysClr val="window" lastClr="FFFFFF"/>
                  </a:solidFill>
                  <a:latin typeface="+mj-ea"/>
                  <a:ea typeface="+mj-ea"/>
                  <a:cs typeface="+mn-ea"/>
                  <a:sym typeface="+mn-lt"/>
                </a:rPr>
                <a:t>面向能量调度场景的推理大模型</a:t>
              </a:r>
              <a:endParaRPr lang="zh-CN" altLang="en-US" sz="2000" kern="0" dirty="0">
                <a:solidFill>
                  <a:sysClr val="window" lastClr="FFFFFF"/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  <p:sp>
          <p:nvSpPr>
            <p:cNvPr id="34" name="矩形: 圆角 1"/>
            <p:cNvSpPr/>
            <p:nvPr/>
          </p:nvSpPr>
          <p:spPr bwMode="auto">
            <a:xfrm>
              <a:off x="420390" y="2652037"/>
              <a:ext cx="10216798" cy="1538118"/>
            </a:xfrm>
            <a:prstGeom prst="roundRect">
              <a:avLst>
                <a:gd name="adj" fmla="val 2521"/>
              </a:avLst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+mn-ea"/>
                <a:sym typeface="+mn-lt"/>
              </a:endParaRPr>
            </a:p>
          </p:txBody>
        </p:sp>
        <p:sp>
          <p:nvSpPr>
            <p:cNvPr id="35" name="矩形 58"/>
            <p:cNvSpPr>
              <a:spLocks noChangeArrowheads="1"/>
            </p:cNvSpPr>
            <p:nvPr/>
          </p:nvSpPr>
          <p:spPr bwMode="auto">
            <a:xfrm>
              <a:off x="420389" y="2652036"/>
              <a:ext cx="4709067" cy="378651"/>
            </a:xfrm>
            <a:prstGeom prst="roundRect">
              <a:avLst>
                <a:gd name="adj" fmla="val 6742"/>
              </a:avLst>
            </a:prstGeom>
            <a:solidFill>
              <a:srgbClr val="8B0012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r>
                <a:rPr lang="zh-CN" altLang="en-US" sz="2000" kern="0" dirty="0">
                  <a:solidFill>
                    <a:sysClr val="window" lastClr="FFFFFF"/>
                  </a:solidFill>
                  <a:latin typeface="+mj-ea"/>
                  <a:ea typeface="+mj-ea"/>
                  <a:cs typeface="+mn-ea"/>
                  <a:sym typeface="+mn-lt"/>
                </a:rPr>
                <a:t>关键指标</a:t>
              </a:r>
              <a:endParaRPr lang="zh-CN" altLang="en-US" sz="2000" kern="0" dirty="0">
                <a:solidFill>
                  <a:sysClr val="window" lastClr="FFFFFF"/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  <p:sp>
          <p:nvSpPr>
            <p:cNvPr id="50" name="矩形: 圆角 1"/>
            <p:cNvSpPr/>
            <p:nvPr/>
          </p:nvSpPr>
          <p:spPr bwMode="auto">
            <a:xfrm>
              <a:off x="420390" y="4461854"/>
              <a:ext cx="10216798" cy="1771147"/>
            </a:xfrm>
            <a:prstGeom prst="roundRect">
              <a:avLst>
                <a:gd name="adj" fmla="val 2521"/>
              </a:avLst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+mn-ea"/>
                <a:sym typeface="+mn-lt"/>
              </a:endParaRPr>
            </a:p>
          </p:txBody>
        </p:sp>
        <p:sp>
          <p:nvSpPr>
            <p:cNvPr id="51" name="矩形 58"/>
            <p:cNvSpPr>
              <a:spLocks noChangeArrowheads="1"/>
            </p:cNvSpPr>
            <p:nvPr/>
          </p:nvSpPr>
          <p:spPr bwMode="auto">
            <a:xfrm>
              <a:off x="420390" y="4461854"/>
              <a:ext cx="4709066" cy="378651"/>
            </a:xfrm>
            <a:prstGeom prst="roundRect">
              <a:avLst>
                <a:gd name="adj" fmla="val 6742"/>
              </a:avLst>
            </a:prstGeom>
            <a:solidFill>
              <a:srgbClr val="8B0012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r>
                <a:rPr lang="zh-CN" altLang="en-US" sz="2000" kern="0" dirty="0">
                  <a:solidFill>
                    <a:sysClr val="window" lastClr="FFFFFF"/>
                  </a:solidFill>
                  <a:latin typeface="+mj-ea"/>
                  <a:ea typeface="+mj-ea"/>
                  <a:cs typeface="+mn-ea"/>
                  <a:sym typeface="+mn-lt"/>
                </a:rPr>
                <a:t>知识产权与学术产出</a:t>
              </a:r>
              <a:endParaRPr lang="zh-CN" altLang="en-US" sz="2000" kern="0" dirty="0">
                <a:solidFill>
                  <a:sysClr val="window" lastClr="FFFFFF"/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496818" y="3032025"/>
              <a:ext cx="7625200" cy="1158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latin typeface="+mj-ea"/>
                  <a:ea typeface="+mj-ea"/>
                  <a:cs typeface="+mj-ea"/>
                </a:rPr>
                <a:t>解释准确率≥</a:t>
              </a:r>
              <a:r>
                <a:rPr lang="en-US" altLang="zh-CN" sz="1600" dirty="0">
                  <a:latin typeface="+mj-ea"/>
                  <a:ea typeface="+mj-ea"/>
                  <a:cs typeface="+mj-ea"/>
                </a:rPr>
                <a:t>80%</a:t>
              </a:r>
              <a:r>
                <a:rPr lang="zh-CN" altLang="en-US" sz="1600" dirty="0">
                  <a:latin typeface="+mj-ea"/>
                  <a:ea typeface="+mj-ea"/>
                  <a:cs typeface="+mj-ea"/>
                </a:rPr>
                <a:t>（包含中文和英文，由经验丰富的工程师打分）</a:t>
              </a:r>
              <a:endParaRPr lang="en-US" altLang="zh-CN" sz="1600" dirty="0">
                <a:latin typeface="+mj-ea"/>
                <a:ea typeface="+mj-ea"/>
                <a:cs typeface="+mj-ea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latin typeface="+mj-ea"/>
                  <a:ea typeface="+mj-ea"/>
                  <a:cs typeface="+mj-ea"/>
                </a:rPr>
                <a:t>明显错误率≤</a:t>
              </a:r>
              <a:r>
                <a:rPr lang="en-US" altLang="zh-CN" sz="1600" dirty="0">
                  <a:latin typeface="+mj-ea"/>
                  <a:ea typeface="+mj-ea"/>
                  <a:cs typeface="+mj-ea"/>
                </a:rPr>
                <a:t>5%</a:t>
              </a:r>
              <a:r>
                <a:rPr lang="zh-CN" altLang="en-US" sz="1600" dirty="0">
                  <a:latin typeface="+mj-ea"/>
                  <a:ea typeface="+mj-ea"/>
                  <a:cs typeface="+mj-ea"/>
                </a:rPr>
                <a:t>（不存在非事实性的错误）</a:t>
              </a:r>
              <a:endParaRPr lang="en-US" altLang="zh-CN" sz="1600" dirty="0">
                <a:latin typeface="+mj-ea"/>
                <a:ea typeface="+mj-ea"/>
                <a:cs typeface="+mj-ea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latin typeface="+mj-ea"/>
                  <a:ea typeface="+mj-ea"/>
                  <a:cs typeface="+mj-ea"/>
                </a:rPr>
                <a:t>分析完整性≥</a:t>
              </a:r>
              <a:r>
                <a:rPr lang="en-US" altLang="zh-CN" sz="1600" dirty="0">
                  <a:latin typeface="+mj-ea"/>
                  <a:ea typeface="+mj-ea"/>
                  <a:cs typeface="+mj-ea"/>
                </a:rPr>
                <a:t>80% </a:t>
              </a:r>
              <a:r>
                <a:rPr lang="zh-CN" altLang="en-US" sz="1600" dirty="0">
                  <a:latin typeface="+mj-ea"/>
                  <a:ea typeface="+mj-ea"/>
                  <a:cs typeface="+mj-ea"/>
                </a:rPr>
                <a:t>（完整性指全面回答了用户提出的问题）</a:t>
              </a:r>
              <a:endParaRPr lang="zh-CN" altLang="en-US" sz="1600" dirty="0">
                <a:latin typeface="+mj-ea"/>
                <a:ea typeface="+mj-ea"/>
                <a:cs typeface="+mj-ea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2803" y="1182667"/>
              <a:ext cx="5127614" cy="10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lvl="1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effectLst/>
                  <a:latin typeface="+mj-ea"/>
                  <a:ea typeface="+mj-ea"/>
                </a:rPr>
                <a:t>构建融合电力领域知识的推理大模型：</a:t>
              </a:r>
              <a:endParaRPr lang="en-US" altLang="zh-CN" sz="1600" dirty="0">
                <a:effectLst/>
                <a:latin typeface="+mj-ea"/>
                <a:ea typeface="+mj-ea"/>
              </a:endParaRPr>
            </a:p>
            <a:p>
              <a:pPr marL="1200150" lvl="2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effectLst/>
                  <a:latin typeface="+mj-ea"/>
                  <a:ea typeface="+mj-ea"/>
                </a:rPr>
                <a:t>大模型的领域微调与高效推理方法</a:t>
              </a:r>
              <a:endParaRPr lang="en-US" altLang="zh-CN" sz="1400" dirty="0">
                <a:effectLst/>
                <a:latin typeface="+mj-ea"/>
                <a:ea typeface="+mj-ea"/>
              </a:endParaRPr>
            </a:p>
            <a:p>
              <a:pPr marL="1200150" lvl="2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effectLst/>
                  <a:latin typeface="+mj-ea"/>
                  <a:ea typeface="+mj-ea"/>
                </a:rPr>
                <a:t>基于大模型的个性化解释生成方法</a:t>
              </a:r>
              <a:endParaRPr lang="en-US" altLang="zh-CN" sz="1400" dirty="0">
                <a:effectLst/>
                <a:latin typeface="+mj-ea"/>
                <a:ea typeface="+mj-ea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4725487" y="1230069"/>
            <a:ext cx="5552201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effectLst/>
                <a:latin typeface="+mj-ea"/>
                <a:ea typeface="+mj-ea"/>
              </a:rPr>
              <a:t>基于用户感知的可解释增强方法：</a:t>
            </a:r>
            <a:endParaRPr lang="en-US" altLang="zh-CN" sz="1600" dirty="0">
              <a:effectLst/>
              <a:latin typeface="+mj-ea"/>
              <a:ea typeface="+mj-ea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用户专业水平诊断方法与</a:t>
            </a:r>
            <a:r>
              <a:rPr lang="zh-CN" altLang="en-US" sz="1400" dirty="0">
                <a:effectLst/>
                <a:latin typeface="+mj-ea"/>
                <a:ea typeface="+mj-ea"/>
              </a:rPr>
              <a:t>个性化记忆机制构建框架</a:t>
            </a:r>
            <a:endParaRPr lang="en-US" altLang="zh-CN" sz="1400" dirty="0">
              <a:effectLst/>
              <a:latin typeface="+mj-ea"/>
              <a:ea typeface="+mj-ea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effectLst/>
                <a:latin typeface="+mj-ea"/>
                <a:ea typeface="+mj-ea"/>
              </a:rPr>
              <a:t>用户感知的个性化解释增强方法</a:t>
            </a:r>
            <a:endParaRPr lang="en-US" altLang="zh-CN" sz="1400" dirty="0">
              <a:effectLst/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8341" y="5012847"/>
            <a:ext cx="76252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+mj-ea"/>
                <a:ea typeface="+mj-ea"/>
                <a:cs typeface="+mj-ea"/>
              </a:rPr>
              <a:t>计划申请并实审</a:t>
            </a:r>
            <a:r>
              <a:rPr lang="en-US" altLang="zh-CN" sz="1600" dirty="0">
                <a:latin typeface="+mj-ea"/>
                <a:ea typeface="+mj-ea"/>
                <a:cs typeface="+mj-ea"/>
              </a:rPr>
              <a:t>1-2 </a:t>
            </a:r>
            <a:r>
              <a:rPr lang="zh-CN" altLang="en-US" sz="1600" dirty="0">
                <a:latin typeface="+mj-ea"/>
                <a:ea typeface="+mj-ea"/>
                <a:cs typeface="+mj-ea"/>
              </a:rPr>
              <a:t>项发明或实用新型专利</a:t>
            </a:r>
            <a:endParaRPr lang="zh-CN" altLang="en-US" sz="16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+mj-ea"/>
                <a:ea typeface="+mj-ea"/>
                <a:cs typeface="+mj-ea"/>
              </a:rPr>
              <a:t>计划在领域认可的高水平学术期刊或会议上发表论文</a:t>
            </a:r>
            <a:r>
              <a:rPr lang="en-US" altLang="zh-CN" sz="1600" dirty="0">
                <a:latin typeface="+mj-ea"/>
                <a:ea typeface="+mj-ea"/>
                <a:cs typeface="+mj-ea"/>
              </a:rPr>
              <a:t> 1-2 </a:t>
            </a:r>
            <a:r>
              <a:rPr lang="zh-CN" altLang="en-US" sz="1600" dirty="0">
                <a:latin typeface="+mj-ea"/>
                <a:ea typeface="+mj-ea"/>
                <a:cs typeface="+mj-ea"/>
              </a:rPr>
              <a:t>篇</a:t>
            </a:r>
            <a:endParaRPr lang="zh-CN" altLang="en-US" sz="1600" dirty="0"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C6D3-133E-4A51-8F1C-F484242B8F05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650" y="1898650"/>
            <a:ext cx="1046163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3137058" y="4387850"/>
            <a:ext cx="72053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latin typeface="Times New Roman" panose="02020503050405090304" pitchFamily="18" charset="0"/>
                <a:ea typeface="微软雅黑" pitchFamily="34" charset="-122"/>
                <a:cs typeface="Times New Roman" panose="02020503050405090304" pitchFamily="18" charset="0"/>
              </a:rPr>
              <a:t>Thanks</a:t>
            </a:r>
            <a:endParaRPr lang="en-US" altLang="zh-CN" sz="4400" dirty="0">
              <a:latin typeface="Times New Roman" panose="02020503050405090304" pitchFamily="18" charset="0"/>
              <a:ea typeface="微软雅黑" pitchFamily="34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6"/>
          <p:cNvSpPr txBox="1"/>
          <p:nvPr/>
        </p:nvSpPr>
        <p:spPr>
          <a:xfrm>
            <a:off x="0" y="236"/>
            <a:ext cx="8509210" cy="44259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5" dirty="0">
                <a:latin typeface="+mn-lt"/>
                <a:ea typeface="+mn-ea"/>
                <a:cs typeface="+mn-ea"/>
                <a:sym typeface="+mn-lt"/>
              </a:rPr>
              <a:t>实施计划</a:t>
            </a:r>
            <a:endParaRPr lang="zh-CN" altLang="en-US" sz="2800" spc="-5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2942" y="975360"/>
          <a:ext cx="10826115" cy="4907280"/>
        </p:xfrm>
        <a:graphic>
          <a:graphicData uri="http://schemas.openxmlformats.org/drawingml/2006/table">
            <a:tbl>
              <a:tblPr firstRow="1" bandRow="1">
                <a:tableStyleId>{59B7E32E-12F9-479A-A7D7-5D8221EC04A4}</a:tableStyleId>
              </a:tblPr>
              <a:tblGrid>
                <a:gridCol w="1432560"/>
                <a:gridCol w="1702435"/>
                <a:gridCol w="2959735"/>
                <a:gridCol w="2795270"/>
              </a:tblGrid>
              <a:tr h="7340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200" spc="120">
                          <a:latin typeface="Times New Roman" panose="02020503050405090304" pitchFamily="18" charset="0"/>
                          <a:ea typeface="黑体" panose="02010609060101010101" charset="-122"/>
                        </a:rPr>
                        <a:t>阶段</a:t>
                      </a:r>
                      <a:endParaRPr lang="zh-CN" sz="1200" spc="120">
                        <a:latin typeface="Times New Roman" panose="02020503050405090304" pitchFamily="18" charset="0"/>
                        <a:ea typeface="黑体" panose="02010609060101010101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200" spc="120">
                          <a:latin typeface="Times New Roman" panose="02020503050405090304" pitchFamily="18" charset="0"/>
                          <a:ea typeface="黑体" panose="02010609060101010101" charset="-122"/>
                        </a:rPr>
                        <a:t>时间周期</a:t>
                      </a:r>
                      <a:endParaRPr lang="zh-CN" sz="1200" spc="120">
                        <a:latin typeface="Times New Roman" panose="02020503050405090304" pitchFamily="18" charset="0"/>
                        <a:ea typeface="黑体" panose="02010609060101010101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200" spc="120">
                          <a:latin typeface="Times New Roman" panose="02020503050405090304" pitchFamily="18" charset="0"/>
                          <a:ea typeface="黑体" panose="02010609060101010101" charset="-122"/>
                        </a:rPr>
                        <a:t>主要任务</a:t>
                      </a:r>
                      <a:endParaRPr lang="zh-CN" sz="1200" spc="120">
                        <a:latin typeface="Times New Roman" panose="02020503050405090304" pitchFamily="18" charset="0"/>
                        <a:ea typeface="黑体" panose="02010609060101010101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200" spc="120">
                          <a:latin typeface="Times New Roman" panose="02020503050405090304" pitchFamily="18" charset="0"/>
                          <a:ea typeface="黑体" panose="02010609060101010101" charset="-122"/>
                        </a:rPr>
                        <a:t>交付物</a:t>
                      </a:r>
                      <a:endParaRPr lang="zh-CN" sz="1200" spc="120">
                        <a:latin typeface="Times New Roman" panose="02020503050405090304" pitchFamily="18" charset="0"/>
                        <a:ea typeface="黑体" panose="02010609060101010101" charset="-122"/>
                      </a:endParaRPr>
                    </a:p>
                  </a:txBody>
                  <a:tcPr marL="254000" marR="254000" marT="177800" marB="177800" anchor="ctr"/>
                </a:tc>
              </a:tr>
              <a:tr h="12160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Demo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阶段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2025.11-2025.11</a:t>
                      </a:r>
                      <a:endParaRPr lang="en-US" alt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 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搭建数据输入与异常检测模块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 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实现初步的规则生成与判别逻辑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 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构建演示版规则库及用户问题检索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 Demo 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版系统原型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 Demo  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演示视频及技术说明文档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 marL="254000" marR="254000" marT="177800" marB="177800" anchor="ctr"/>
                </a:tc>
              </a:tr>
              <a:tr h="147828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</a:rPr>
                        <a:t>技术实现阶段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2025.12-2026.05</a:t>
                      </a:r>
                      <a:endParaRPr lang="en-US" alt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 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构建完整的数据构造与处理流程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 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完成模型微调与验证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 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实现完整的规则生成与判别流程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 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整合系统各模块，确保流程打通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 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完整版系统功能模块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 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使用手册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 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申请并实审专利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 marL="254000" marR="254000" marT="177800" marB="177800" anchor="ctr"/>
                </a:tc>
              </a:tr>
              <a:tr h="147891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</a:rPr>
                        <a:t>上线与优化阶段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2026.06-2026.10</a:t>
                      </a:r>
                      <a:endParaRPr lang="en-US" alt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 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上线系统并收集用户反馈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 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分析反馈，进行系统优化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 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定期更新与维护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  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系统正式上线版本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  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用户反馈分析报告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  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系统维护与运行监控文档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 </a:t>
                      </a:r>
                      <a:r>
                        <a:rPr lang="zh-CN" sz="120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发表领域认可的高水平论文</a:t>
                      </a:r>
                      <a:endParaRPr lang="zh-CN" sz="120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 marL="254000" marR="254000" marT="177800" marB="177800" anchor="ctr"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4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5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6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7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8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9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10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11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12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13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14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15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16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17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18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19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20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21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22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23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24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25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26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27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28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29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30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31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32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33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34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35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36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37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38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39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40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41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42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43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44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45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46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47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48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49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50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51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52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53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54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55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56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57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58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59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60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61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62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63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64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65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66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67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68.xml><?xml version="1.0" encoding="utf-8"?>
<p:tagLst xmlns:p="http://schemas.openxmlformats.org/presentationml/2006/main">
  <p:tag name="KSO_WM_DIAGRAM_VIRTUALLY_FRAME" val="{&quot;height&quot;:479.05,&quot;left&quot;:5.9,&quot;top&quot;:53.4,&quot;width&quot;:638.5}"/>
</p:tagLst>
</file>

<file path=ppt/tags/tag69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70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71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72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73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74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75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76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77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78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79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80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81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82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83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84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85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86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87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88.xml><?xml version="1.0" encoding="utf-8"?>
<p:tagLst xmlns:p="http://schemas.openxmlformats.org/presentationml/2006/main">
  <p:tag name="KSO_WM_DIAGRAM_VIRTUALLY_FRAME" val="{&quot;height&quot;:445.62204724409446,&quot;left&quot;:39.79818897637795,&quot;top&quot;:84.5140157480315,&quot;width&quot;:846.4323622047244}"/>
</p:tagLst>
</file>

<file path=ppt/tags/tag89.xml><?xml version="1.0" encoding="utf-8"?>
<p:tagLst xmlns:p="http://schemas.openxmlformats.org/presentationml/2006/main">
  <p:tag name="COMMONDATA" val="eyJoZGlkIjoiMmM4ZjdkYmQ2Nzk0ZTIzYThjMTRlNTk4YWVkZGI0ZTAifQ=="/>
  <p:tag name="ISLIDE.GUIDESSETTING" val="{&quot;Id&quot;:&quot;50a8f2ac-a530-4dbf-b790-da70ed11fa34&quot;,&quot;Name&quot;:null,&quot;Kind&quot;:1,&quot;OldGuidesSetting&quot;:{&quot;HeaderHeight&quot;:0.0,&quot;FooterHeight&quot;:0.0,&quot;SideMargin&quot;:0.0,&quot;TopMargin&quot;:0.0,&quot;BottomMargin&quot;:0.0,&quot;IntervalMargin&quot;:0.0}}"/>
  <p:tag name="RESOURCE_RECORD_KEY" val="{&quot;29&quot;:[50053264]}"/>
</p:tagLst>
</file>

<file path=ppt/theme/theme1.xml><?xml version="1.0" encoding="utf-8"?>
<a:theme xmlns:a="http://schemas.openxmlformats.org/drawingml/2006/main" name="Office 主题​​">
  <a:themeElements>
    <a:clrScheme name="北大红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B001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igawuup">
      <a:majorFont>
        <a:latin typeface="Times New Roman"/>
        <a:ea typeface="微软雅黑"/>
        <a:cs typeface=""/>
      </a:majorFont>
      <a:minorFont>
        <a:latin typeface="Times New Roman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5981</Words>
  <Application>WPS 演示</Application>
  <PresentationFormat>宽屏</PresentationFormat>
  <Paragraphs>567</Paragraphs>
  <Slides>20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Times New Roman</vt:lpstr>
      <vt:lpstr>宋体</vt:lpstr>
      <vt:lpstr>汉仪书宋二KW</vt:lpstr>
      <vt:lpstr>Arial Unicode MS</vt:lpstr>
      <vt:lpstr>微软雅黑 Light</vt:lpstr>
      <vt:lpstr>汉仪中黑KW</vt:lpstr>
      <vt:lpstr>等线</vt:lpstr>
      <vt:lpstr>黑体</vt:lpstr>
      <vt:lpstr>Calibri</vt:lpstr>
      <vt:lpstr>Helvetica Neue</vt:lpstr>
      <vt:lpstr>Wingdings</vt:lpstr>
      <vt:lpstr>微软雅黑</vt:lpstr>
      <vt:lpstr>黑体</vt:lpstr>
      <vt:lpstr>Apple Color Emoji</vt:lpstr>
      <vt:lpstr>Office 主题​​</vt:lpstr>
      <vt:lpstr>基于大模型的能量优化调度算法可解释性研究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合工大计算机学院数据挖掘组介绍</dc:title>
  <dc:creator>周家宝</dc:creator>
  <cp:lastModifiedBy>李靖龙</cp:lastModifiedBy>
  <cp:revision>440</cp:revision>
  <dcterms:created xsi:type="dcterms:W3CDTF">2025-12-26T06:04:12Z</dcterms:created>
  <dcterms:modified xsi:type="dcterms:W3CDTF">2025-12-26T06:04:12Z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6F2A95971825F5075C254E690911F035_43</vt:lpwstr>
  </property>
  <property fmtid="{D5CDD505-2E9C-101B-9397-08002B2CF9AE}" pid="3" name="KSOProductBuildVer">
    <vt:lpwstr>2052-12.1.24031.24031</vt:lpwstr>
  </property>
</Properties>
</file>